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9.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0.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11.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12.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13.xml" ContentType="application/vnd.openxmlformats-officedocument.theme+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4.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theme/theme15.xml" ContentType="application/vnd.openxmlformats-officedocument.theme+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16.xml" ContentType="application/vnd.openxmlformats-officedocument.theme+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theme/theme17.xml" ContentType="application/vnd.openxmlformats-officedocument.theme+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theme/theme18.xml" ContentType="application/vnd.openxmlformats-officedocument.theme+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theme/theme19.xml" ContentType="application/vnd.openxmlformats-officedocument.theme+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20.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theme/theme21.xml" ContentType="application/vnd.openxmlformats-officedocument.theme+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theme/theme22.xml" ContentType="application/vnd.openxmlformats-officedocument.theme+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theme/theme23.xml" ContentType="application/vnd.openxmlformats-officedocument.theme+xml"/>
  <Override PartName="/ppt/theme/theme2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805" r:id="rId2"/>
    <p:sldMasterId id="2147483817" r:id="rId3"/>
    <p:sldMasterId id="2147483830" r:id="rId4"/>
    <p:sldMasterId id="2147483842" r:id="rId5"/>
    <p:sldMasterId id="2147483854" r:id="rId6"/>
    <p:sldMasterId id="2147483948" r:id="rId7"/>
    <p:sldMasterId id="2147483972" r:id="rId8"/>
    <p:sldMasterId id="2147483984" r:id="rId9"/>
    <p:sldMasterId id="2147484001" r:id="rId10"/>
    <p:sldMasterId id="2147484018" r:id="rId11"/>
    <p:sldMasterId id="2147484035" r:id="rId12"/>
    <p:sldMasterId id="2147484052" r:id="rId13"/>
    <p:sldMasterId id="2147484081" r:id="rId14"/>
    <p:sldMasterId id="2147484093" r:id="rId15"/>
    <p:sldMasterId id="2147484105" r:id="rId16"/>
    <p:sldMasterId id="2147484117" r:id="rId17"/>
    <p:sldMasterId id="2147484129" r:id="rId18"/>
    <p:sldMasterId id="2147484141" r:id="rId19"/>
    <p:sldMasterId id="2147484170" r:id="rId20"/>
    <p:sldMasterId id="2147484182" r:id="rId21"/>
    <p:sldMasterId id="2147484194" r:id="rId22"/>
    <p:sldMasterId id="2147484230" r:id="rId23"/>
  </p:sldMasterIdLst>
  <p:notesMasterIdLst>
    <p:notesMasterId r:id="rId155"/>
  </p:notesMasterIdLst>
  <p:sldIdLst>
    <p:sldId id="256" r:id="rId24"/>
    <p:sldId id="348" r:id="rId25"/>
    <p:sldId id="350" r:id="rId26"/>
    <p:sldId id="536" r:id="rId27"/>
    <p:sldId id="355" r:id="rId28"/>
    <p:sldId id="385" r:id="rId29"/>
    <p:sldId id="386" r:id="rId30"/>
    <p:sldId id="281" r:id="rId31"/>
    <p:sldId id="282" r:id="rId32"/>
    <p:sldId id="283" r:id="rId33"/>
    <p:sldId id="284" r:id="rId34"/>
    <p:sldId id="434" r:id="rId35"/>
    <p:sldId id="286" r:id="rId36"/>
    <p:sldId id="523" r:id="rId37"/>
    <p:sldId id="539" r:id="rId38"/>
    <p:sldId id="572" r:id="rId39"/>
    <p:sldId id="573" r:id="rId40"/>
    <p:sldId id="574" r:id="rId41"/>
    <p:sldId id="625" r:id="rId42"/>
    <p:sldId id="575" r:id="rId43"/>
    <p:sldId id="557" r:id="rId44"/>
    <p:sldId id="558" r:id="rId45"/>
    <p:sldId id="559" r:id="rId46"/>
    <p:sldId id="556" r:id="rId47"/>
    <p:sldId id="560" r:id="rId48"/>
    <p:sldId id="396" r:id="rId49"/>
    <p:sldId id="290" r:id="rId50"/>
    <p:sldId id="562" r:id="rId51"/>
    <p:sldId id="561" r:id="rId52"/>
    <p:sldId id="289" r:id="rId53"/>
    <p:sldId id="389" r:id="rId54"/>
    <p:sldId id="292" r:id="rId55"/>
    <p:sldId id="569" r:id="rId56"/>
    <p:sldId id="291" r:id="rId57"/>
    <p:sldId id="399" r:id="rId58"/>
    <p:sldId id="294" r:id="rId59"/>
    <p:sldId id="293" r:id="rId60"/>
    <p:sldId id="400" r:id="rId61"/>
    <p:sldId id="296" r:id="rId62"/>
    <p:sldId id="568" r:id="rId63"/>
    <p:sldId id="295" r:id="rId64"/>
    <p:sldId id="401" r:id="rId65"/>
    <p:sldId id="298" r:id="rId66"/>
    <p:sldId id="297" r:id="rId67"/>
    <p:sldId id="549" r:id="rId68"/>
    <p:sldId id="550" r:id="rId69"/>
    <p:sldId id="551" r:id="rId70"/>
    <p:sldId id="552" r:id="rId71"/>
    <p:sldId id="553" r:id="rId72"/>
    <p:sldId id="554" r:id="rId73"/>
    <p:sldId id="555" r:id="rId74"/>
    <p:sldId id="402" r:id="rId75"/>
    <p:sldId id="300" r:id="rId76"/>
    <p:sldId id="563" r:id="rId77"/>
    <p:sldId id="299" r:id="rId78"/>
    <p:sldId id="565" r:id="rId79"/>
    <p:sldId id="566" r:id="rId80"/>
    <p:sldId id="567" r:id="rId81"/>
    <p:sldId id="541" r:id="rId82"/>
    <p:sldId id="542" r:id="rId83"/>
    <p:sldId id="543" r:id="rId84"/>
    <p:sldId id="346" r:id="rId85"/>
    <p:sldId id="277" r:id="rId86"/>
    <p:sldId id="405" r:id="rId87"/>
    <p:sldId id="406" r:id="rId88"/>
    <p:sldId id="407" r:id="rId89"/>
    <p:sldId id="408" r:id="rId90"/>
    <p:sldId id="409" r:id="rId91"/>
    <p:sldId id="410" r:id="rId92"/>
    <p:sldId id="411" r:id="rId93"/>
    <p:sldId id="412" r:id="rId94"/>
    <p:sldId id="529" r:id="rId95"/>
    <p:sldId id="530" r:id="rId96"/>
    <p:sldId id="626" r:id="rId97"/>
    <p:sldId id="477" r:id="rId98"/>
    <p:sldId id="538" r:id="rId99"/>
    <p:sldId id="535" r:id="rId100"/>
    <p:sldId id="478" r:id="rId101"/>
    <p:sldId id="511" r:id="rId102"/>
    <p:sldId id="564" r:id="rId103"/>
    <p:sldId id="513" r:id="rId104"/>
    <p:sldId id="512" r:id="rId105"/>
    <p:sldId id="531" r:id="rId106"/>
    <p:sldId id="627" r:id="rId107"/>
    <p:sldId id="628" r:id="rId108"/>
    <p:sldId id="629" r:id="rId109"/>
    <p:sldId id="630" r:id="rId110"/>
    <p:sldId id="631" r:id="rId111"/>
    <p:sldId id="632" r:id="rId112"/>
    <p:sldId id="633" r:id="rId113"/>
    <p:sldId id="634" r:id="rId114"/>
    <p:sldId id="635" r:id="rId115"/>
    <p:sldId id="636" r:id="rId116"/>
    <p:sldId id="548" r:id="rId117"/>
    <p:sldId id="514" r:id="rId118"/>
    <p:sldId id="479" r:id="rId119"/>
    <p:sldId id="480" r:id="rId120"/>
    <p:sldId id="481" r:id="rId121"/>
    <p:sldId id="482" r:id="rId122"/>
    <p:sldId id="483" r:id="rId123"/>
    <p:sldId id="484" r:id="rId124"/>
    <p:sldId id="485" r:id="rId125"/>
    <p:sldId id="486" r:id="rId126"/>
    <p:sldId id="487" r:id="rId127"/>
    <p:sldId id="488" r:id="rId128"/>
    <p:sldId id="489" r:id="rId129"/>
    <p:sldId id="490" r:id="rId130"/>
    <p:sldId id="491" r:id="rId131"/>
    <p:sldId id="492" r:id="rId132"/>
    <p:sldId id="493" r:id="rId133"/>
    <p:sldId id="494" r:id="rId134"/>
    <p:sldId id="516" r:id="rId135"/>
    <p:sldId id="517" r:id="rId136"/>
    <p:sldId id="518" r:id="rId137"/>
    <p:sldId id="519" r:id="rId138"/>
    <p:sldId id="520" r:id="rId139"/>
    <p:sldId id="522" r:id="rId140"/>
    <p:sldId id="521" r:id="rId141"/>
    <p:sldId id="622" r:id="rId142"/>
    <p:sldId id="618" r:id="rId143"/>
    <p:sldId id="544" r:id="rId144"/>
    <p:sldId id="545" r:id="rId145"/>
    <p:sldId id="497" r:id="rId146"/>
    <p:sldId id="498" r:id="rId147"/>
    <p:sldId id="499" r:id="rId148"/>
    <p:sldId id="503" r:id="rId149"/>
    <p:sldId id="509" r:id="rId150"/>
    <p:sldId id="504" r:id="rId151"/>
    <p:sldId id="505" r:id="rId152"/>
    <p:sldId id="506" r:id="rId153"/>
    <p:sldId id="508" r:id="rId154"/>
  </p:sldIdLst>
  <p:sldSz cx="9144000" cy="6858000" type="screen4x3"/>
  <p:notesSz cx="6858000" cy="9144000"/>
  <p:defaultText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59" d="100"/>
          <a:sy n="59" d="100"/>
        </p:scale>
        <p:origin x="420" y="6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94.xml"/><Relationship Id="rId21" Type="http://schemas.openxmlformats.org/officeDocument/2006/relationships/slideMaster" Target="slideMasters/slideMaster21.xml"/><Relationship Id="rId42" Type="http://schemas.openxmlformats.org/officeDocument/2006/relationships/slide" Target="slides/slide19.xml"/><Relationship Id="rId63" Type="http://schemas.openxmlformats.org/officeDocument/2006/relationships/slide" Target="slides/slide40.xml"/><Relationship Id="rId84" Type="http://schemas.openxmlformats.org/officeDocument/2006/relationships/slide" Target="slides/slide61.xml"/><Relationship Id="rId138" Type="http://schemas.openxmlformats.org/officeDocument/2006/relationships/slide" Target="slides/slide115.xml"/><Relationship Id="rId159" Type="http://schemas.openxmlformats.org/officeDocument/2006/relationships/tableStyles" Target="tableStyles.xml"/><Relationship Id="rId107" Type="http://schemas.openxmlformats.org/officeDocument/2006/relationships/slide" Target="slides/slide84.xml"/><Relationship Id="rId11" Type="http://schemas.openxmlformats.org/officeDocument/2006/relationships/slideMaster" Target="slideMasters/slideMaster11.xml"/><Relationship Id="rId32" Type="http://schemas.openxmlformats.org/officeDocument/2006/relationships/slide" Target="slides/slide9.xml"/><Relationship Id="rId53" Type="http://schemas.openxmlformats.org/officeDocument/2006/relationships/slide" Target="slides/slide30.xml"/><Relationship Id="rId74" Type="http://schemas.openxmlformats.org/officeDocument/2006/relationships/slide" Target="slides/slide51.xml"/><Relationship Id="rId128" Type="http://schemas.openxmlformats.org/officeDocument/2006/relationships/slide" Target="slides/slide105.xml"/><Relationship Id="rId149" Type="http://schemas.openxmlformats.org/officeDocument/2006/relationships/slide" Target="slides/slide126.xml"/><Relationship Id="rId5" Type="http://schemas.openxmlformats.org/officeDocument/2006/relationships/slideMaster" Target="slideMasters/slideMaster5.xml"/><Relationship Id="rId95" Type="http://schemas.openxmlformats.org/officeDocument/2006/relationships/slide" Target="slides/slide72.xml"/><Relationship Id="rId22" Type="http://schemas.openxmlformats.org/officeDocument/2006/relationships/slideMaster" Target="slideMasters/slideMaster22.xml"/><Relationship Id="rId43" Type="http://schemas.openxmlformats.org/officeDocument/2006/relationships/slide" Target="slides/slide20.xml"/><Relationship Id="rId64" Type="http://schemas.openxmlformats.org/officeDocument/2006/relationships/slide" Target="slides/slide41.xml"/><Relationship Id="rId118" Type="http://schemas.openxmlformats.org/officeDocument/2006/relationships/slide" Target="slides/slide95.xml"/><Relationship Id="rId139" Type="http://schemas.openxmlformats.org/officeDocument/2006/relationships/slide" Target="slides/slide116.xml"/><Relationship Id="rId80" Type="http://schemas.openxmlformats.org/officeDocument/2006/relationships/slide" Target="slides/slide57.xml"/><Relationship Id="rId85" Type="http://schemas.openxmlformats.org/officeDocument/2006/relationships/slide" Target="slides/slide62.xml"/><Relationship Id="rId150" Type="http://schemas.openxmlformats.org/officeDocument/2006/relationships/slide" Target="slides/slide127.xml"/><Relationship Id="rId155" Type="http://schemas.openxmlformats.org/officeDocument/2006/relationships/notesMaster" Target="notesMasters/notesMaster1.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10.xml"/><Relationship Id="rId38" Type="http://schemas.openxmlformats.org/officeDocument/2006/relationships/slide" Target="slides/slide15.xml"/><Relationship Id="rId59" Type="http://schemas.openxmlformats.org/officeDocument/2006/relationships/slide" Target="slides/slide36.xml"/><Relationship Id="rId103" Type="http://schemas.openxmlformats.org/officeDocument/2006/relationships/slide" Target="slides/slide80.xml"/><Relationship Id="rId108" Type="http://schemas.openxmlformats.org/officeDocument/2006/relationships/slide" Target="slides/slide85.xml"/><Relationship Id="rId124" Type="http://schemas.openxmlformats.org/officeDocument/2006/relationships/slide" Target="slides/slide101.xml"/><Relationship Id="rId129" Type="http://schemas.openxmlformats.org/officeDocument/2006/relationships/slide" Target="slides/slide106.xml"/><Relationship Id="rId54" Type="http://schemas.openxmlformats.org/officeDocument/2006/relationships/slide" Target="slides/slide31.xml"/><Relationship Id="rId70" Type="http://schemas.openxmlformats.org/officeDocument/2006/relationships/slide" Target="slides/slide47.xml"/><Relationship Id="rId75" Type="http://schemas.openxmlformats.org/officeDocument/2006/relationships/slide" Target="slides/slide52.xml"/><Relationship Id="rId91" Type="http://schemas.openxmlformats.org/officeDocument/2006/relationships/slide" Target="slides/slide68.xml"/><Relationship Id="rId96" Type="http://schemas.openxmlformats.org/officeDocument/2006/relationships/slide" Target="slides/slide73.xml"/><Relationship Id="rId140" Type="http://schemas.openxmlformats.org/officeDocument/2006/relationships/slide" Target="slides/slide117.xml"/><Relationship Id="rId145" Type="http://schemas.openxmlformats.org/officeDocument/2006/relationships/slide" Target="slides/slide122.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 Target="slides/slide5.xml"/><Relationship Id="rId49" Type="http://schemas.openxmlformats.org/officeDocument/2006/relationships/slide" Target="slides/slide26.xml"/><Relationship Id="rId114" Type="http://schemas.openxmlformats.org/officeDocument/2006/relationships/slide" Target="slides/slide91.xml"/><Relationship Id="rId119" Type="http://schemas.openxmlformats.org/officeDocument/2006/relationships/slide" Target="slides/slide96.xml"/><Relationship Id="rId44" Type="http://schemas.openxmlformats.org/officeDocument/2006/relationships/slide" Target="slides/slide21.xml"/><Relationship Id="rId60" Type="http://schemas.openxmlformats.org/officeDocument/2006/relationships/slide" Target="slides/slide37.xml"/><Relationship Id="rId65" Type="http://schemas.openxmlformats.org/officeDocument/2006/relationships/slide" Target="slides/slide42.xml"/><Relationship Id="rId81" Type="http://schemas.openxmlformats.org/officeDocument/2006/relationships/slide" Target="slides/slide58.xml"/><Relationship Id="rId86" Type="http://schemas.openxmlformats.org/officeDocument/2006/relationships/slide" Target="slides/slide63.xml"/><Relationship Id="rId130" Type="http://schemas.openxmlformats.org/officeDocument/2006/relationships/slide" Target="slides/slide107.xml"/><Relationship Id="rId135" Type="http://schemas.openxmlformats.org/officeDocument/2006/relationships/slide" Target="slides/slide112.xml"/><Relationship Id="rId151" Type="http://schemas.openxmlformats.org/officeDocument/2006/relationships/slide" Target="slides/slide128.xml"/><Relationship Id="rId156" Type="http://schemas.openxmlformats.org/officeDocument/2006/relationships/presProps" Target="presProps.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6.xml"/><Relationship Id="rId109" Type="http://schemas.openxmlformats.org/officeDocument/2006/relationships/slide" Target="slides/slide86.xml"/><Relationship Id="rId34" Type="http://schemas.openxmlformats.org/officeDocument/2006/relationships/slide" Target="slides/slide11.xml"/><Relationship Id="rId50" Type="http://schemas.openxmlformats.org/officeDocument/2006/relationships/slide" Target="slides/slide27.xml"/><Relationship Id="rId55" Type="http://schemas.openxmlformats.org/officeDocument/2006/relationships/slide" Target="slides/slide32.xml"/><Relationship Id="rId76" Type="http://schemas.openxmlformats.org/officeDocument/2006/relationships/slide" Target="slides/slide53.xml"/><Relationship Id="rId97" Type="http://schemas.openxmlformats.org/officeDocument/2006/relationships/slide" Target="slides/slide74.xml"/><Relationship Id="rId104" Type="http://schemas.openxmlformats.org/officeDocument/2006/relationships/slide" Target="slides/slide81.xml"/><Relationship Id="rId120" Type="http://schemas.openxmlformats.org/officeDocument/2006/relationships/slide" Target="slides/slide97.xml"/><Relationship Id="rId125" Type="http://schemas.openxmlformats.org/officeDocument/2006/relationships/slide" Target="slides/slide102.xml"/><Relationship Id="rId141" Type="http://schemas.openxmlformats.org/officeDocument/2006/relationships/slide" Target="slides/slide118.xml"/><Relationship Id="rId146" Type="http://schemas.openxmlformats.org/officeDocument/2006/relationships/slide" Target="slides/slide123.xml"/><Relationship Id="rId7" Type="http://schemas.openxmlformats.org/officeDocument/2006/relationships/slideMaster" Target="slideMasters/slideMaster7.xml"/><Relationship Id="rId71" Type="http://schemas.openxmlformats.org/officeDocument/2006/relationships/slide" Target="slides/slide48.xml"/><Relationship Id="rId92"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6.xml"/><Relationship Id="rId24" Type="http://schemas.openxmlformats.org/officeDocument/2006/relationships/slide" Target="slides/slide1.xml"/><Relationship Id="rId40" Type="http://schemas.openxmlformats.org/officeDocument/2006/relationships/slide" Target="slides/slide17.xml"/><Relationship Id="rId45" Type="http://schemas.openxmlformats.org/officeDocument/2006/relationships/slide" Target="slides/slide22.xml"/><Relationship Id="rId66" Type="http://schemas.openxmlformats.org/officeDocument/2006/relationships/slide" Target="slides/slide43.xml"/><Relationship Id="rId87" Type="http://schemas.openxmlformats.org/officeDocument/2006/relationships/slide" Target="slides/slide64.xml"/><Relationship Id="rId110" Type="http://schemas.openxmlformats.org/officeDocument/2006/relationships/slide" Target="slides/slide87.xml"/><Relationship Id="rId115" Type="http://schemas.openxmlformats.org/officeDocument/2006/relationships/slide" Target="slides/slide92.xml"/><Relationship Id="rId131" Type="http://schemas.openxmlformats.org/officeDocument/2006/relationships/slide" Target="slides/slide108.xml"/><Relationship Id="rId136" Type="http://schemas.openxmlformats.org/officeDocument/2006/relationships/slide" Target="slides/slide113.xml"/><Relationship Id="rId157" Type="http://schemas.openxmlformats.org/officeDocument/2006/relationships/viewProps" Target="viewProps.xml"/><Relationship Id="rId61" Type="http://schemas.openxmlformats.org/officeDocument/2006/relationships/slide" Target="slides/slide38.xml"/><Relationship Id="rId82" Type="http://schemas.openxmlformats.org/officeDocument/2006/relationships/slide" Target="slides/slide59.xml"/><Relationship Id="rId152" Type="http://schemas.openxmlformats.org/officeDocument/2006/relationships/slide" Target="slides/slide129.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7.xml"/><Relationship Id="rId35" Type="http://schemas.openxmlformats.org/officeDocument/2006/relationships/slide" Target="slides/slide12.xml"/><Relationship Id="rId56" Type="http://schemas.openxmlformats.org/officeDocument/2006/relationships/slide" Target="slides/slide33.xml"/><Relationship Id="rId77" Type="http://schemas.openxmlformats.org/officeDocument/2006/relationships/slide" Target="slides/slide54.xml"/><Relationship Id="rId100" Type="http://schemas.openxmlformats.org/officeDocument/2006/relationships/slide" Target="slides/slide77.xml"/><Relationship Id="rId105" Type="http://schemas.openxmlformats.org/officeDocument/2006/relationships/slide" Target="slides/slide82.xml"/><Relationship Id="rId126" Type="http://schemas.openxmlformats.org/officeDocument/2006/relationships/slide" Target="slides/slide103.xml"/><Relationship Id="rId147" Type="http://schemas.openxmlformats.org/officeDocument/2006/relationships/slide" Target="slides/slide124.xml"/><Relationship Id="rId8" Type="http://schemas.openxmlformats.org/officeDocument/2006/relationships/slideMaster" Target="slideMasters/slideMaster8.xml"/><Relationship Id="rId51" Type="http://schemas.openxmlformats.org/officeDocument/2006/relationships/slide" Target="slides/slide28.xml"/><Relationship Id="rId72" Type="http://schemas.openxmlformats.org/officeDocument/2006/relationships/slide" Target="slides/slide49.xml"/><Relationship Id="rId93" Type="http://schemas.openxmlformats.org/officeDocument/2006/relationships/slide" Target="slides/slide70.xml"/><Relationship Id="rId98" Type="http://schemas.openxmlformats.org/officeDocument/2006/relationships/slide" Target="slides/slide75.xml"/><Relationship Id="rId121" Type="http://schemas.openxmlformats.org/officeDocument/2006/relationships/slide" Target="slides/slide98.xml"/><Relationship Id="rId142" Type="http://schemas.openxmlformats.org/officeDocument/2006/relationships/slide" Target="slides/slide119.xml"/><Relationship Id="rId3" Type="http://schemas.openxmlformats.org/officeDocument/2006/relationships/slideMaster" Target="slideMasters/slideMaster3.xml"/><Relationship Id="rId25" Type="http://schemas.openxmlformats.org/officeDocument/2006/relationships/slide" Target="slides/slide2.xml"/><Relationship Id="rId46" Type="http://schemas.openxmlformats.org/officeDocument/2006/relationships/slide" Target="slides/slide23.xml"/><Relationship Id="rId67" Type="http://schemas.openxmlformats.org/officeDocument/2006/relationships/slide" Target="slides/slide44.xml"/><Relationship Id="rId116" Type="http://schemas.openxmlformats.org/officeDocument/2006/relationships/slide" Target="slides/slide93.xml"/><Relationship Id="rId137" Type="http://schemas.openxmlformats.org/officeDocument/2006/relationships/slide" Target="slides/slide114.xml"/><Relationship Id="rId158" Type="http://schemas.openxmlformats.org/officeDocument/2006/relationships/theme" Target="theme/theme1.xml"/><Relationship Id="rId20" Type="http://schemas.openxmlformats.org/officeDocument/2006/relationships/slideMaster" Target="slideMasters/slideMaster20.xml"/><Relationship Id="rId41" Type="http://schemas.openxmlformats.org/officeDocument/2006/relationships/slide" Target="slides/slide18.xml"/><Relationship Id="rId62" Type="http://schemas.openxmlformats.org/officeDocument/2006/relationships/slide" Target="slides/slide39.xml"/><Relationship Id="rId83" Type="http://schemas.openxmlformats.org/officeDocument/2006/relationships/slide" Target="slides/slide60.xml"/><Relationship Id="rId88" Type="http://schemas.openxmlformats.org/officeDocument/2006/relationships/slide" Target="slides/slide65.xml"/><Relationship Id="rId111" Type="http://schemas.openxmlformats.org/officeDocument/2006/relationships/slide" Target="slides/slide88.xml"/><Relationship Id="rId132" Type="http://schemas.openxmlformats.org/officeDocument/2006/relationships/slide" Target="slides/slide109.xml"/><Relationship Id="rId153" Type="http://schemas.openxmlformats.org/officeDocument/2006/relationships/slide" Target="slides/slide130.xml"/><Relationship Id="rId15" Type="http://schemas.openxmlformats.org/officeDocument/2006/relationships/slideMaster" Target="slideMasters/slideMaster15.xml"/><Relationship Id="rId36" Type="http://schemas.openxmlformats.org/officeDocument/2006/relationships/slide" Target="slides/slide13.xml"/><Relationship Id="rId57" Type="http://schemas.openxmlformats.org/officeDocument/2006/relationships/slide" Target="slides/slide34.xml"/><Relationship Id="rId106" Type="http://schemas.openxmlformats.org/officeDocument/2006/relationships/slide" Target="slides/slide83.xml"/><Relationship Id="rId127" Type="http://schemas.openxmlformats.org/officeDocument/2006/relationships/slide" Target="slides/slide104.xml"/><Relationship Id="rId10" Type="http://schemas.openxmlformats.org/officeDocument/2006/relationships/slideMaster" Target="slideMasters/slideMaster10.xml"/><Relationship Id="rId31" Type="http://schemas.openxmlformats.org/officeDocument/2006/relationships/slide" Target="slides/slide8.xml"/><Relationship Id="rId52" Type="http://schemas.openxmlformats.org/officeDocument/2006/relationships/slide" Target="slides/slide29.xml"/><Relationship Id="rId73" Type="http://schemas.openxmlformats.org/officeDocument/2006/relationships/slide" Target="slides/slide50.xml"/><Relationship Id="rId78" Type="http://schemas.openxmlformats.org/officeDocument/2006/relationships/slide" Target="slides/slide55.xml"/><Relationship Id="rId94" Type="http://schemas.openxmlformats.org/officeDocument/2006/relationships/slide" Target="slides/slide71.xml"/><Relationship Id="rId99" Type="http://schemas.openxmlformats.org/officeDocument/2006/relationships/slide" Target="slides/slide76.xml"/><Relationship Id="rId101" Type="http://schemas.openxmlformats.org/officeDocument/2006/relationships/slide" Target="slides/slide78.xml"/><Relationship Id="rId122" Type="http://schemas.openxmlformats.org/officeDocument/2006/relationships/slide" Target="slides/slide99.xml"/><Relationship Id="rId143" Type="http://schemas.openxmlformats.org/officeDocument/2006/relationships/slide" Target="slides/slide120.xml"/><Relationship Id="rId148" Type="http://schemas.openxmlformats.org/officeDocument/2006/relationships/slide" Target="slides/slide125.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3.xml"/><Relationship Id="rId47" Type="http://schemas.openxmlformats.org/officeDocument/2006/relationships/slide" Target="slides/slide24.xml"/><Relationship Id="rId68" Type="http://schemas.openxmlformats.org/officeDocument/2006/relationships/slide" Target="slides/slide45.xml"/><Relationship Id="rId89" Type="http://schemas.openxmlformats.org/officeDocument/2006/relationships/slide" Target="slides/slide66.xml"/><Relationship Id="rId112" Type="http://schemas.openxmlformats.org/officeDocument/2006/relationships/slide" Target="slides/slide89.xml"/><Relationship Id="rId133" Type="http://schemas.openxmlformats.org/officeDocument/2006/relationships/slide" Target="slides/slide110.xml"/><Relationship Id="rId154" Type="http://schemas.openxmlformats.org/officeDocument/2006/relationships/slide" Target="slides/slide131.xml"/><Relationship Id="rId16" Type="http://schemas.openxmlformats.org/officeDocument/2006/relationships/slideMaster" Target="slideMasters/slideMaster16.xml"/><Relationship Id="rId37" Type="http://schemas.openxmlformats.org/officeDocument/2006/relationships/slide" Target="slides/slide14.xml"/><Relationship Id="rId58" Type="http://schemas.openxmlformats.org/officeDocument/2006/relationships/slide" Target="slides/slide35.xml"/><Relationship Id="rId79" Type="http://schemas.openxmlformats.org/officeDocument/2006/relationships/slide" Target="slides/slide56.xml"/><Relationship Id="rId102" Type="http://schemas.openxmlformats.org/officeDocument/2006/relationships/slide" Target="slides/slide79.xml"/><Relationship Id="rId123" Type="http://schemas.openxmlformats.org/officeDocument/2006/relationships/slide" Target="slides/slide100.xml"/><Relationship Id="rId144" Type="http://schemas.openxmlformats.org/officeDocument/2006/relationships/slide" Target="slides/slide121.xml"/><Relationship Id="rId90" Type="http://schemas.openxmlformats.org/officeDocument/2006/relationships/slide" Target="slides/slide67.xml"/><Relationship Id="rId27" Type="http://schemas.openxmlformats.org/officeDocument/2006/relationships/slide" Target="slides/slide4.xml"/><Relationship Id="rId48" Type="http://schemas.openxmlformats.org/officeDocument/2006/relationships/slide" Target="slides/slide25.xml"/><Relationship Id="rId69" Type="http://schemas.openxmlformats.org/officeDocument/2006/relationships/slide" Target="slides/slide46.xml"/><Relationship Id="rId113" Type="http://schemas.openxmlformats.org/officeDocument/2006/relationships/slide" Target="slides/slide90.xml"/><Relationship Id="rId134" Type="http://schemas.openxmlformats.org/officeDocument/2006/relationships/slide" Target="slides/slide11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E9E451-93F3-48A3-B414-48C9BBE7BE3B}" type="doc">
      <dgm:prSet loTypeId="urn:microsoft.com/office/officeart/2008/layout/AlternatingHexagons" loCatId="list" qsTypeId="urn:microsoft.com/office/officeart/2005/8/quickstyle/simple1" qsCatId="simple" csTypeId="urn:microsoft.com/office/officeart/2005/8/colors/colorful4" csCatId="colorful" phldr="1"/>
      <dgm:spPr/>
      <dgm:t>
        <a:bodyPr/>
        <a:lstStyle/>
        <a:p>
          <a:endParaRPr lang="en-US"/>
        </a:p>
      </dgm:t>
    </dgm:pt>
    <dgm:pt modelId="{68FDC886-92D4-4807-840F-A8E84B60599B}">
      <dgm:prSet phldrT="[Text]" custT="1"/>
      <dgm:spPr/>
      <dgm:t>
        <a:bodyPr/>
        <a:lstStyle/>
        <a:p>
          <a:r>
            <a:rPr lang="fa-IR" sz="2000" b="1" dirty="0" smtClean="0">
              <a:solidFill>
                <a:schemeClr val="tx1"/>
              </a:solidFill>
              <a:cs typeface="B Lotus" panose="00000400000000000000" pitchFamily="2" charset="-78"/>
            </a:rPr>
            <a:t>اختلال اضطراب جدایی</a:t>
          </a:r>
          <a:endParaRPr lang="en-US" sz="2000" b="1" dirty="0">
            <a:solidFill>
              <a:schemeClr val="tx1"/>
            </a:solidFill>
            <a:cs typeface="B Lotus" panose="00000400000000000000" pitchFamily="2" charset="-78"/>
          </a:endParaRPr>
        </a:p>
      </dgm:t>
    </dgm:pt>
    <dgm:pt modelId="{D498DCE9-D188-464D-B601-A1B724B4D9AA}" type="parTrans" cxnId="{107A8B4D-8EC0-4F94-9FB2-2A1B58EBCA7E}">
      <dgm:prSet/>
      <dgm:spPr/>
      <dgm:t>
        <a:bodyPr/>
        <a:lstStyle/>
        <a:p>
          <a:endParaRPr lang="en-US"/>
        </a:p>
      </dgm:t>
    </dgm:pt>
    <dgm:pt modelId="{11F97B82-5D45-46FE-82C3-6185C691B0D8}" type="sibTrans" cxnId="{107A8B4D-8EC0-4F94-9FB2-2A1B58EBCA7E}">
      <dgm:prSet custT="1"/>
      <dgm:spPr/>
      <dgm:t>
        <a:bodyPr/>
        <a:lstStyle/>
        <a:p>
          <a:r>
            <a:rPr lang="fa-IR" sz="2000" b="1" dirty="0" smtClean="0">
              <a:solidFill>
                <a:schemeClr val="tx1"/>
              </a:solidFill>
              <a:cs typeface="B Lotus" panose="00000400000000000000" pitchFamily="2" charset="-78"/>
            </a:rPr>
            <a:t>اختلال اضطراب تعمیم یافته</a:t>
          </a:r>
          <a:endParaRPr lang="en-US" sz="2000" b="1" dirty="0">
            <a:solidFill>
              <a:schemeClr val="tx1"/>
            </a:solidFill>
            <a:cs typeface="B Lotus" panose="00000400000000000000" pitchFamily="2" charset="-78"/>
          </a:endParaRPr>
        </a:p>
      </dgm:t>
    </dgm:pt>
    <dgm:pt modelId="{1D8BFCE9-D726-4712-AB70-3C9A557C6FD8}">
      <dgm:prSet phldrT="[Text]" custT="1"/>
      <dgm:spPr/>
      <dgm:t>
        <a:bodyPr/>
        <a:lstStyle/>
        <a:p>
          <a:r>
            <a:rPr lang="fa-IR" sz="2000" b="1" dirty="0" smtClean="0">
              <a:solidFill>
                <a:schemeClr val="tx1"/>
              </a:solidFill>
              <a:cs typeface="B Lotus" panose="00000400000000000000" pitchFamily="2" charset="-78"/>
            </a:rPr>
            <a:t>شایع ترین اختلال این دوران</a:t>
          </a:r>
          <a:endParaRPr lang="en-US" sz="2000" b="1" dirty="0">
            <a:solidFill>
              <a:schemeClr val="tx1"/>
            </a:solidFill>
            <a:cs typeface="B Lotus" panose="00000400000000000000" pitchFamily="2" charset="-78"/>
          </a:endParaRPr>
        </a:p>
      </dgm:t>
    </dgm:pt>
    <dgm:pt modelId="{181FA0EB-F2D6-4B63-B917-4A91AA8C164C}" type="parTrans" cxnId="{48515E10-F122-493D-9D61-678CEC1F6E0A}">
      <dgm:prSet/>
      <dgm:spPr/>
      <dgm:t>
        <a:bodyPr/>
        <a:lstStyle/>
        <a:p>
          <a:endParaRPr lang="en-US"/>
        </a:p>
      </dgm:t>
    </dgm:pt>
    <dgm:pt modelId="{6B439F49-4F80-4573-AFCC-530705C9E441}" type="sibTrans" cxnId="{48515E10-F122-493D-9D61-678CEC1F6E0A}">
      <dgm:prSet/>
      <dgm:spPr/>
      <dgm:t>
        <a:bodyPr/>
        <a:lstStyle/>
        <a:p>
          <a:endParaRPr lang="en-US"/>
        </a:p>
      </dgm:t>
    </dgm:pt>
    <dgm:pt modelId="{BA663999-A79D-433C-BA14-4FA90AFEE9CA}">
      <dgm:prSet phldrT="[Text]" custT="1"/>
      <dgm:spPr/>
      <dgm:t>
        <a:bodyPr/>
        <a:lstStyle/>
        <a:p>
          <a:r>
            <a:rPr lang="fa-IR" sz="2000" b="1" dirty="0" smtClean="0">
              <a:solidFill>
                <a:schemeClr val="tx1"/>
              </a:solidFill>
              <a:cs typeface="B Lotus" panose="00000400000000000000" pitchFamily="2" charset="-78"/>
            </a:rPr>
            <a:t>اختلال وسواس جبری</a:t>
          </a:r>
          <a:endParaRPr lang="en-US" sz="2000" b="1" dirty="0">
            <a:solidFill>
              <a:schemeClr val="tx1"/>
            </a:solidFill>
            <a:cs typeface="B Lotus" panose="00000400000000000000" pitchFamily="2" charset="-78"/>
          </a:endParaRPr>
        </a:p>
      </dgm:t>
    </dgm:pt>
    <dgm:pt modelId="{E6EB8C33-663B-41E8-A56C-B900C3182AC4}" type="parTrans" cxnId="{A15C44C6-9A67-482E-BCE2-43E7FEAA00E1}">
      <dgm:prSet/>
      <dgm:spPr/>
      <dgm:t>
        <a:bodyPr/>
        <a:lstStyle/>
        <a:p>
          <a:endParaRPr lang="en-US"/>
        </a:p>
      </dgm:t>
    </dgm:pt>
    <dgm:pt modelId="{36E54BAF-6FC7-4C29-A8C7-A1C1859B7D74}" type="sibTrans" cxnId="{A15C44C6-9A67-482E-BCE2-43E7FEAA00E1}">
      <dgm:prSet custT="1"/>
      <dgm:spPr/>
      <dgm:t>
        <a:bodyPr/>
        <a:lstStyle/>
        <a:p>
          <a:r>
            <a:rPr lang="fa-IR" sz="2000" dirty="0" smtClean="0">
              <a:solidFill>
                <a:schemeClr val="tx1"/>
              </a:solidFill>
              <a:cs typeface="B Lotus" panose="00000400000000000000" pitchFamily="2" charset="-78"/>
            </a:rPr>
            <a:t>اختلال اضطراب اجتماعی</a:t>
          </a:r>
          <a:endParaRPr lang="en-US" sz="2000" dirty="0">
            <a:solidFill>
              <a:schemeClr val="tx1"/>
            </a:solidFill>
            <a:cs typeface="B Lotus" panose="00000400000000000000" pitchFamily="2" charset="-78"/>
          </a:endParaRPr>
        </a:p>
      </dgm:t>
    </dgm:pt>
    <dgm:pt modelId="{F5F0B194-5B1F-41A1-B000-96047ED7AB44}">
      <dgm:prSet phldrT="[Text]" custT="1"/>
      <dgm:spPr/>
      <dgm:t>
        <a:bodyPr/>
        <a:lstStyle/>
        <a:p>
          <a:r>
            <a:rPr lang="fa-IR" sz="2000" b="1" dirty="0" smtClean="0">
              <a:solidFill>
                <a:schemeClr val="tx1"/>
              </a:solidFill>
              <a:cs typeface="B Lotus" panose="00000400000000000000" pitchFamily="2" charset="-78"/>
            </a:rPr>
            <a:t>کم اعتبارترین زیرمقیاس</a:t>
          </a:r>
          <a:endParaRPr lang="en-US" sz="2000" b="1" dirty="0">
            <a:solidFill>
              <a:schemeClr val="tx1"/>
            </a:solidFill>
            <a:cs typeface="B Lotus" panose="00000400000000000000" pitchFamily="2" charset="-78"/>
          </a:endParaRPr>
        </a:p>
      </dgm:t>
    </dgm:pt>
    <dgm:pt modelId="{E6C5EBDD-84FD-4234-85E5-DC1E5DB20F10}" type="parTrans" cxnId="{DAD7ED82-3723-462C-9DDA-992759E49F3E}">
      <dgm:prSet/>
      <dgm:spPr/>
      <dgm:t>
        <a:bodyPr/>
        <a:lstStyle/>
        <a:p>
          <a:endParaRPr lang="en-US"/>
        </a:p>
      </dgm:t>
    </dgm:pt>
    <dgm:pt modelId="{D47DC6AC-A8C7-471B-A3D8-05A779E4E907}" type="sibTrans" cxnId="{DAD7ED82-3723-462C-9DDA-992759E49F3E}">
      <dgm:prSet/>
      <dgm:spPr/>
      <dgm:t>
        <a:bodyPr/>
        <a:lstStyle/>
        <a:p>
          <a:endParaRPr lang="en-US"/>
        </a:p>
      </dgm:t>
    </dgm:pt>
    <dgm:pt modelId="{B09A77B4-92B9-48F5-B822-A875898FD810}">
      <dgm:prSet phldrT="[Text]" custT="1"/>
      <dgm:spPr/>
      <dgm:t>
        <a:bodyPr/>
        <a:lstStyle/>
        <a:p>
          <a:r>
            <a:rPr lang="fa-IR" sz="2000" b="1" dirty="0" smtClean="0">
              <a:solidFill>
                <a:schemeClr val="tx1"/>
              </a:solidFill>
              <a:cs typeface="B Lotus" panose="00000400000000000000" pitchFamily="2" charset="-78"/>
            </a:rPr>
            <a:t>استرس پس از سانحه</a:t>
          </a:r>
          <a:endParaRPr lang="en-US" sz="2000" b="1" dirty="0">
            <a:solidFill>
              <a:schemeClr val="tx1"/>
            </a:solidFill>
            <a:cs typeface="B Lotus" panose="00000400000000000000" pitchFamily="2" charset="-78"/>
          </a:endParaRPr>
        </a:p>
      </dgm:t>
    </dgm:pt>
    <dgm:pt modelId="{74188556-DCFC-44F0-9F87-84C81D787B38}" type="parTrans" cxnId="{EB7F8EE7-2A1E-4452-BF42-0C5860424BD5}">
      <dgm:prSet/>
      <dgm:spPr/>
      <dgm:t>
        <a:bodyPr/>
        <a:lstStyle/>
        <a:p>
          <a:endParaRPr lang="en-US"/>
        </a:p>
      </dgm:t>
    </dgm:pt>
    <dgm:pt modelId="{1E6D6772-9C3F-4436-A58D-BA8927F4B602}" type="sibTrans" cxnId="{EB7F8EE7-2A1E-4452-BF42-0C5860424BD5}">
      <dgm:prSet custT="1"/>
      <dgm:spPr/>
      <dgm:t>
        <a:bodyPr/>
        <a:lstStyle/>
        <a:p>
          <a:r>
            <a:rPr lang="fa-IR" sz="2700" dirty="0" smtClean="0"/>
            <a:t> </a:t>
          </a:r>
          <a:r>
            <a:rPr lang="fa-IR" sz="2000" b="1" dirty="0" smtClean="0">
              <a:solidFill>
                <a:schemeClr val="tx1"/>
              </a:solidFill>
              <a:cs typeface="B Lotus" panose="00000400000000000000" pitchFamily="2" charset="-78"/>
            </a:rPr>
            <a:t>ترس از جراحات جسمانی</a:t>
          </a:r>
          <a:endParaRPr lang="en-US" sz="2000" b="1" dirty="0">
            <a:solidFill>
              <a:schemeClr val="tx1"/>
            </a:solidFill>
            <a:cs typeface="B Lotus" panose="00000400000000000000" pitchFamily="2" charset="-78"/>
          </a:endParaRPr>
        </a:p>
      </dgm:t>
    </dgm:pt>
    <dgm:pt modelId="{C9E630B0-C498-4E20-A985-07D1BC07B5FC}">
      <dgm:prSet phldrT="[Text]" custT="1"/>
      <dgm:spPr/>
      <dgm:t>
        <a:bodyPr/>
        <a:lstStyle/>
        <a:p>
          <a:r>
            <a:rPr lang="fa-IR" sz="2000" b="1" dirty="0" smtClean="0">
              <a:solidFill>
                <a:schemeClr val="tx1"/>
              </a:solidFill>
              <a:cs typeface="B Lotus" panose="00000400000000000000" pitchFamily="2" charset="-78"/>
            </a:rPr>
            <a:t>بدون نمره گذاری</a:t>
          </a:r>
          <a:endParaRPr lang="en-US" sz="2000" b="1" dirty="0">
            <a:solidFill>
              <a:schemeClr val="tx1"/>
            </a:solidFill>
            <a:cs typeface="B Lotus" panose="00000400000000000000" pitchFamily="2" charset="-78"/>
          </a:endParaRPr>
        </a:p>
      </dgm:t>
    </dgm:pt>
    <dgm:pt modelId="{D6B5C915-59D2-49BE-94E1-05CE0D54BE9F}" type="parTrans" cxnId="{9CAB632D-FDC0-46F5-B6F4-85DF8DA01B4A}">
      <dgm:prSet/>
      <dgm:spPr/>
      <dgm:t>
        <a:bodyPr/>
        <a:lstStyle/>
        <a:p>
          <a:endParaRPr lang="en-US"/>
        </a:p>
      </dgm:t>
    </dgm:pt>
    <dgm:pt modelId="{B37F5151-3D86-487D-A2BC-A4172995318F}" type="sibTrans" cxnId="{9CAB632D-FDC0-46F5-B6F4-85DF8DA01B4A}">
      <dgm:prSet/>
      <dgm:spPr/>
      <dgm:t>
        <a:bodyPr/>
        <a:lstStyle/>
        <a:p>
          <a:endParaRPr lang="en-US"/>
        </a:p>
      </dgm:t>
    </dgm:pt>
    <dgm:pt modelId="{1BA25F36-49D9-49F8-9588-057C6D70A918}" type="pres">
      <dgm:prSet presAssocID="{3FE9E451-93F3-48A3-B414-48C9BBE7BE3B}" presName="Name0" presStyleCnt="0">
        <dgm:presLayoutVars>
          <dgm:chMax/>
          <dgm:chPref/>
          <dgm:dir/>
          <dgm:animLvl val="lvl"/>
        </dgm:presLayoutVars>
      </dgm:prSet>
      <dgm:spPr/>
      <dgm:t>
        <a:bodyPr/>
        <a:lstStyle/>
        <a:p>
          <a:endParaRPr lang="en-US"/>
        </a:p>
      </dgm:t>
    </dgm:pt>
    <dgm:pt modelId="{DDF732DF-5A9D-496E-9112-4EDF0D333B48}" type="pres">
      <dgm:prSet presAssocID="{68FDC886-92D4-4807-840F-A8E84B60599B}" presName="composite" presStyleCnt="0"/>
      <dgm:spPr/>
    </dgm:pt>
    <dgm:pt modelId="{369D68ED-D7AA-4B0F-85EE-F74D462E95ED}" type="pres">
      <dgm:prSet presAssocID="{68FDC886-92D4-4807-840F-A8E84B60599B}" presName="Parent1" presStyleLbl="node1" presStyleIdx="0" presStyleCnt="6">
        <dgm:presLayoutVars>
          <dgm:chMax val="1"/>
          <dgm:chPref val="1"/>
          <dgm:bulletEnabled val="1"/>
        </dgm:presLayoutVars>
      </dgm:prSet>
      <dgm:spPr/>
      <dgm:t>
        <a:bodyPr/>
        <a:lstStyle/>
        <a:p>
          <a:endParaRPr lang="en-US"/>
        </a:p>
      </dgm:t>
    </dgm:pt>
    <dgm:pt modelId="{ABCC22B7-FA30-4F59-8A00-4166D094F0DF}" type="pres">
      <dgm:prSet presAssocID="{68FDC886-92D4-4807-840F-A8E84B60599B}" presName="Childtext1" presStyleLbl="revTx" presStyleIdx="0" presStyleCnt="3">
        <dgm:presLayoutVars>
          <dgm:chMax val="0"/>
          <dgm:chPref val="0"/>
          <dgm:bulletEnabled val="1"/>
        </dgm:presLayoutVars>
      </dgm:prSet>
      <dgm:spPr/>
      <dgm:t>
        <a:bodyPr/>
        <a:lstStyle/>
        <a:p>
          <a:endParaRPr lang="en-US"/>
        </a:p>
      </dgm:t>
    </dgm:pt>
    <dgm:pt modelId="{4FEF58BB-9A10-4ECD-B4A9-A198476B0905}" type="pres">
      <dgm:prSet presAssocID="{68FDC886-92D4-4807-840F-A8E84B60599B}" presName="BalanceSpacing" presStyleCnt="0"/>
      <dgm:spPr/>
    </dgm:pt>
    <dgm:pt modelId="{E49F1561-0E90-4015-ACDD-04C4C2BE2D7A}" type="pres">
      <dgm:prSet presAssocID="{68FDC886-92D4-4807-840F-A8E84B60599B}" presName="BalanceSpacing1" presStyleCnt="0"/>
      <dgm:spPr/>
    </dgm:pt>
    <dgm:pt modelId="{C3DFBA94-52CB-4222-91EF-9B141D718514}" type="pres">
      <dgm:prSet presAssocID="{11F97B82-5D45-46FE-82C3-6185C691B0D8}" presName="Accent1Text" presStyleLbl="node1" presStyleIdx="1" presStyleCnt="6"/>
      <dgm:spPr/>
      <dgm:t>
        <a:bodyPr/>
        <a:lstStyle/>
        <a:p>
          <a:endParaRPr lang="en-US"/>
        </a:p>
      </dgm:t>
    </dgm:pt>
    <dgm:pt modelId="{7C49CF93-53A8-48E1-AE8F-4C6F70768A0C}" type="pres">
      <dgm:prSet presAssocID="{11F97B82-5D45-46FE-82C3-6185C691B0D8}" presName="spaceBetweenRectangles" presStyleCnt="0"/>
      <dgm:spPr/>
    </dgm:pt>
    <dgm:pt modelId="{1F834EF0-0459-4F93-A615-E6438E117BBB}" type="pres">
      <dgm:prSet presAssocID="{BA663999-A79D-433C-BA14-4FA90AFEE9CA}" presName="composite" presStyleCnt="0"/>
      <dgm:spPr/>
    </dgm:pt>
    <dgm:pt modelId="{577D4ADC-7998-4455-971C-4F675288AD0E}" type="pres">
      <dgm:prSet presAssocID="{BA663999-A79D-433C-BA14-4FA90AFEE9CA}" presName="Parent1" presStyleLbl="node1" presStyleIdx="2" presStyleCnt="6" custLinFactNeighborX="-13264" custLinFactNeighborY="0">
        <dgm:presLayoutVars>
          <dgm:chMax val="1"/>
          <dgm:chPref val="1"/>
          <dgm:bulletEnabled val="1"/>
        </dgm:presLayoutVars>
      </dgm:prSet>
      <dgm:spPr/>
      <dgm:t>
        <a:bodyPr/>
        <a:lstStyle/>
        <a:p>
          <a:endParaRPr lang="en-US"/>
        </a:p>
      </dgm:t>
    </dgm:pt>
    <dgm:pt modelId="{68717F20-6966-420D-8829-5729F19BE72A}" type="pres">
      <dgm:prSet presAssocID="{BA663999-A79D-433C-BA14-4FA90AFEE9CA}" presName="Childtext1" presStyleLbl="revTx" presStyleIdx="1" presStyleCnt="3" custScaleX="134234" custLinFactNeighborX="-32945" custLinFactNeighborY="-6410">
        <dgm:presLayoutVars>
          <dgm:chMax val="0"/>
          <dgm:chPref val="0"/>
          <dgm:bulletEnabled val="1"/>
        </dgm:presLayoutVars>
      </dgm:prSet>
      <dgm:spPr/>
      <dgm:t>
        <a:bodyPr/>
        <a:lstStyle/>
        <a:p>
          <a:endParaRPr lang="en-US"/>
        </a:p>
      </dgm:t>
    </dgm:pt>
    <dgm:pt modelId="{83EAAA24-9505-48B1-B4DE-AB7ECDA1F265}" type="pres">
      <dgm:prSet presAssocID="{BA663999-A79D-433C-BA14-4FA90AFEE9CA}" presName="BalanceSpacing" presStyleCnt="0"/>
      <dgm:spPr/>
    </dgm:pt>
    <dgm:pt modelId="{E960157C-69B1-48C2-BCFE-56EEA8064B7E}" type="pres">
      <dgm:prSet presAssocID="{BA663999-A79D-433C-BA14-4FA90AFEE9CA}" presName="BalanceSpacing1" presStyleCnt="0"/>
      <dgm:spPr/>
    </dgm:pt>
    <dgm:pt modelId="{E4F22C25-1B18-4775-A155-813299233D3D}" type="pres">
      <dgm:prSet presAssocID="{36E54BAF-6FC7-4C29-A8C7-A1C1859B7D74}" presName="Accent1Text" presStyleLbl="node1" presStyleIdx="3" presStyleCnt="6" custLinFactNeighborX="-14369" custLinFactNeighborY="962"/>
      <dgm:spPr/>
      <dgm:t>
        <a:bodyPr/>
        <a:lstStyle/>
        <a:p>
          <a:endParaRPr lang="en-US"/>
        </a:p>
      </dgm:t>
    </dgm:pt>
    <dgm:pt modelId="{33FE5C55-3210-440E-AB1B-C80C23470F3A}" type="pres">
      <dgm:prSet presAssocID="{36E54BAF-6FC7-4C29-A8C7-A1C1859B7D74}" presName="spaceBetweenRectangles" presStyleCnt="0"/>
      <dgm:spPr/>
    </dgm:pt>
    <dgm:pt modelId="{2892EADF-8ED1-4C83-8529-5E7B76592224}" type="pres">
      <dgm:prSet presAssocID="{B09A77B4-92B9-48F5-B822-A875898FD810}" presName="composite" presStyleCnt="0"/>
      <dgm:spPr/>
    </dgm:pt>
    <dgm:pt modelId="{7C5F7313-3092-4244-8E90-164F1463F724}" type="pres">
      <dgm:prSet presAssocID="{B09A77B4-92B9-48F5-B822-A875898FD810}" presName="Parent1" presStyleLbl="node1" presStyleIdx="4" presStyleCnt="6">
        <dgm:presLayoutVars>
          <dgm:chMax val="1"/>
          <dgm:chPref val="1"/>
          <dgm:bulletEnabled val="1"/>
        </dgm:presLayoutVars>
      </dgm:prSet>
      <dgm:spPr/>
      <dgm:t>
        <a:bodyPr/>
        <a:lstStyle/>
        <a:p>
          <a:endParaRPr lang="en-US"/>
        </a:p>
      </dgm:t>
    </dgm:pt>
    <dgm:pt modelId="{B0D12B75-EA0E-4D21-AC7E-52D0EB85CF12}" type="pres">
      <dgm:prSet presAssocID="{B09A77B4-92B9-48F5-B822-A875898FD810}" presName="Childtext1" presStyleLbl="revTx" presStyleIdx="2" presStyleCnt="3">
        <dgm:presLayoutVars>
          <dgm:chMax val="0"/>
          <dgm:chPref val="0"/>
          <dgm:bulletEnabled val="1"/>
        </dgm:presLayoutVars>
      </dgm:prSet>
      <dgm:spPr/>
      <dgm:t>
        <a:bodyPr/>
        <a:lstStyle/>
        <a:p>
          <a:endParaRPr lang="en-US"/>
        </a:p>
      </dgm:t>
    </dgm:pt>
    <dgm:pt modelId="{42A37B85-8DCD-4706-95B0-C36FFF9483DC}" type="pres">
      <dgm:prSet presAssocID="{B09A77B4-92B9-48F5-B822-A875898FD810}" presName="BalanceSpacing" presStyleCnt="0"/>
      <dgm:spPr/>
    </dgm:pt>
    <dgm:pt modelId="{CA38876F-3BFA-4BF0-91D1-D12A40370587}" type="pres">
      <dgm:prSet presAssocID="{B09A77B4-92B9-48F5-B822-A875898FD810}" presName="BalanceSpacing1" presStyleCnt="0"/>
      <dgm:spPr/>
    </dgm:pt>
    <dgm:pt modelId="{9FCBDD27-081A-4C76-9A86-4FCE34D0A271}" type="pres">
      <dgm:prSet presAssocID="{1E6D6772-9C3F-4436-A58D-BA8927F4B602}" presName="Accent1Text" presStyleLbl="node1" presStyleIdx="5" presStyleCnt="6" custLinFactNeighborX="2211" custLinFactNeighborY="0"/>
      <dgm:spPr/>
      <dgm:t>
        <a:bodyPr/>
        <a:lstStyle/>
        <a:p>
          <a:endParaRPr lang="en-US"/>
        </a:p>
      </dgm:t>
    </dgm:pt>
  </dgm:ptLst>
  <dgm:cxnLst>
    <dgm:cxn modelId="{EBC9175B-241C-456F-983C-B37C81FD4D0C}" type="presOf" srcId="{3FE9E451-93F3-48A3-B414-48C9BBE7BE3B}" destId="{1BA25F36-49D9-49F8-9588-057C6D70A918}" srcOrd="0" destOrd="0" presId="urn:microsoft.com/office/officeart/2008/layout/AlternatingHexagons"/>
    <dgm:cxn modelId="{A15C44C6-9A67-482E-BCE2-43E7FEAA00E1}" srcId="{3FE9E451-93F3-48A3-B414-48C9BBE7BE3B}" destId="{BA663999-A79D-433C-BA14-4FA90AFEE9CA}" srcOrd="1" destOrd="0" parTransId="{E6EB8C33-663B-41E8-A56C-B900C3182AC4}" sibTransId="{36E54BAF-6FC7-4C29-A8C7-A1C1859B7D74}"/>
    <dgm:cxn modelId="{48515E10-F122-493D-9D61-678CEC1F6E0A}" srcId="{68FDC886-92D4-4807-840F-A8E84B60599B}" destId="{1D8BFCE9-D726-4712-AB70-3C9A557C6FD8}" srcOrd="0" destOrd="0" parTransId="{181FA0EB-F2D6-4B63-B917-4A91AA8C164C}" sibTransId="{6B439F49-4F80-4573-AFCC-530705C9E441}"/>
    <dgm:cxn modelId="{F5A2DA28-9B22-4468-9D69-E9C31AFB8589}" type="presOf" srcId="{BA663999-A79D-433C-BA14-4FA90AFEE9CA}" destId="{577D4ADC-7998-4455-971C-4F675288AD0E}" srcOrd="0" destOrd="0" presId="urn:microsoft.com/office/officeart/2008/layout/AlternatingHexagons"/>
    <dgm:cxn modelId="{74DBCC55-59B8-4CC5-A502-A87C5C604D04}" type="presOf" srcId="{F5F0B194-5B1F-41A1-B000-96047ED7AB44}" destId="{68717F20-6966-420D-8829-5729F19BE72A}" srcOrd="0" destOrd="0" presId="urn:microsoft.com/office/officeart/2008/layout/AlternatingHexagons"/>
    <dgm:cxn modelId="{B3E9B7BF-ED3B-4962-8C93-577F749AA66B}" type="presOf" srcId="{C9E630B0-C498-4E20-A985-07D1BC07B5FC}" destId="{B0D12B75-EA0E-4D21-AC7E-52D0EB85CF12}" srcOrd="0" destOrd="0" presId="urn:microsoft.com/office/officeart/2008/layout/AlternatingHexagons"/>
    <dgm:cxn modelId="{9CAB632D-FDC0-46F5-B6F4-85DF8DA01B4A}" srcId="{B09A77B4-92B9-48F5-B822-A875898FD810}" destId="{C9E630B0-C498-4E20-A985-07D1BC07B5FC}" srcOrd="0" destOrd="0" parTransId="{D6B5C915-59D2-49BE-94E1-05CE0D54BE9F}" sibTransId="{B37F5151-3D86-487D-A2BC-A4172995318F}"/>
    <dgm:cxn modelId="{22BB5CF3-6869-47FD-BB27-4F76A98AF2B2}" type="presOf" srcId="{68FDC886-92D4-4807-840F-A8E84B60599B}" destId="{369D68ED-D7AA-4B0F-85EE-F74D462E95ED}" srcOrd="0" destOrd="0" presId="urn:microsoft.com/office/officeart/2008/layout/AlternatingHexagons"/>
    <dgm:cxn modelId="{DAD7ED82-3723-462C-9DDA-992759E49F3E}" srcId="{BA663999-A79D-433C-BA14-4FA90AFEE9CA}" destId="{F5F0B194-5B1F-41A1-B000-96047ED7AB44}" srcOrd="0" destOrd="0" parTransId="{E6C5EBDD-84FD-4234-85E5-DC1E5DB20F10}" sibTransId="{D47DC6AC-A8C7-471B-A3D8-05A779E4E907}"/>
    <dgm:cxn modelId="{D21A87C2-8928-4DFE-9412-76A3DF1F5801}" type="presOf" srcId="{36E54BAF-6FC7-4C29-A8C7-A1C1859B7D74}" destId="{E4F22C25-1B18-4775-A155-813299233D3D}" srcOrd="0" destOrd="0" presId="urn:microsoft.com/office/officeart/2008/layout/AlternatingHexagons"/>
    <dgm:cxn modelId="{FC0434F2-A06F-44C4-8B4D-1F4D747EB7B9}" type="presOf" srcId="{1E6D6772-9C3F-4436-A58D-BA8927F4B602}" destId="{9FCBDD27-081A-4C76-9A86-4FCE34D0A271}" srcOrd="0" destOrd="0" presId="urn:microsoft.com/office/officeart/2008/layout/AlternatingHexagons"/>
    <dgm:cxn modelId="{107A8B4D-8EC0-4F94-9FB2-2A1B58EBCA7E}" srcId="{3FE9E451-93F3-48A3-B414-48C9BBE7BE3B}" destId="{68FDC886-92D4-4807-840F-A8E84B60599B}" srcOrd="0" destOrd="0" parTransId="{D498DCE9-D188-464D-B601-A1B724B4D9AA}" sibTransId="{11F97B82-5D45-46FE-82C3-6185C691B0D8}"/>
    <dgm:cxn modelId="{8E2106BD-3079-4858-ACF7-594A46A130CB}" type="presOf" srcId="{1D8BFCE9-D726-4712-AB70-3C9A557C6FD8}" destId="{ABCC22B7-FA30-4F59-8A00-4166D094F0DF}" srcOrd="0" destOrd="0" presId="urn:microsoft.com/office/officeart/2008/layout/AlternatingHexagons"/>
    <dgm:cxn modelId="{0C9A7F46-6058-4C1B-8B3D-D3735977932C}" type="presOf" srcId="{11F97B82-5D45-46FE-82C3-6185C691B0D8}" destId="{C3DFBA94-52CB-4222-91EF-9B141D718514}" srcOrd="0" destOrd="0" presId="urn:microsoft.com/office/officeart/2008/layout/AlternatingHexagons"/>
    <dgm:cxn modelId="{258BE0B5-6B6E-4C2B-A9A6-A8A779F60894}" type="presOf" srcId="{B09A77B4-92B9-48F5-B822-A875898FD810}" destId="{7C5F7313-3092-4244-8E90-164F1463F724}" srcOrd="0" destOrd="0" presId="urn:microsoft.com/office/officeart/2008/layout/AlternatingHexagons"/>
    <dgm:cxn modelId="{EB7F8EE7-2A1E-4452-BF42-0C5860424BD5}" srcId="{3FE9E451-93F3-48A3-B414-48C9BBE7BE3B}" destId="{B09A77B4-92B9-48F5-B822-A875898FD810}" srcOrd="2" destOrd="0" parTransId="{74188556-DCFC-44F0-9F87-84C81D787B38}" sibTransId="{1E6D6772-9C3F-4436-A58D-BA8927F4B602}"/>
    <dgm:cxn modelId="{A1B04F63-F4C4-4069-943B-55D5BEE16957}" type="presParOf" srcId="{1BA25F36-49D9-49F8-9588-057C6D70A918}" destId="{DDF732DF-5A9D-496E-9112-4EDF0D333B48}" srcOrd="0" destOrd="0" presId="urn:microsoft.com/office/officeart/2008/layout/AlternatingHexagons"/>
    <dgm:cxn modelId="{415A650C-6F5B-44E3-9CAB-C05008CDC700}" type="presParOf" srcId="{DDF732DF-5A9D-496E-9112-4EDF0D333B48}" destId="{369D68ED-D7AA-4B0F-85EE-F74D462E95ED}" srcOrd="0" destOrd="0" presId="urn:microsoft.com/office/officeart/2008/layout/AlternatingHexagons"/>
    <dgm:cxn modelId="{5CAECDAE-302E-455D-AF7D-1FCEC652EFB6}" type="presParOf" srcId="{DDF732DF-5A9D-496E-9112-4EDF0D333B48}" destId="{ABCC22B7-FA30-4F59-8A00-4166D094F0DF}" srcOrd="1" destOrd="0" presId="urn:microsoft.com/office/officeart/2008/layout/AlternatingHexagons"/>
    <dgm:cxn modelId="{2168FD89-B58B-465E-BF15-A678B0750759}" type="presParOf" srcId="{DDF732DF-5A9D-496E-9112-4EDF0D333B48}" destId="{4FEF58BB-9A10-4ECD-B4A9-A198476B0905}" srcOrd="2" destOrd="0" presId="urn:microsoft.com/office/officeart/2008/layout/AlternatingHexagons"/>
    <dgm:cxn modelId="{51BF80A7-4674-4F2E-8FF3-7BA4315BB8F7}" type="presParOf" srcId="{DDF732DF-5A9D-496E-9112-4EDF0D333B48}" destId="{E49F1561-0E90-4015-ACDD-04C4C2BE2D7A}" srcOrd="3" destOrd="0" presId="urn:microsoft.com/office/officeart/2008/layout/AlternatingHexagons"/>
    <dgm:cxn modelId="{8D0FA111-2C68-47D6-A04A-E9C636C23B4C}" type="presParOf" srcId="{DDF732DF-5A9D-496E-9112-4EDF0D333B48}" destId="{C3DFBA94-52CB-4222-91EF-9B141D718514}" srcOrd="4" destOrd="0" presId="urn:microsoft.com/office/officeart/2008/layout/AlternatingHexagons"/>
    <dgm:cxn modelId="{ADD5F3FF-D847-4FB9-B231-EDEC80917150}" type="presParOf" srcId="{1BA25F36-49D9-49F8-9588-057C6D70A918}" destId="{7C49CF93-53A8-48E1-AE8F-4C6F70768A0C}" srcOrd="1" destOrd="0" presId="urn:microsoft.com/office/officeart/2008/layout/AlternatingHexagons"/>
    <dgm:cxn modelId="{578E3934-5CC1-4CB1-9BF9-F254C6DC87C7}" type="presParOf" srcId="{1BA25F36-49D9-49F8-9588-057C6D70A918}" destId="{1F834EF0-0459-4F93-A615-E6438E117BBB}" srcOrd="2" destOrd="0" presId="urn:microsoft.com/office/officeart/2008/layout/AlternatingHexagons"/>
    <dgm:cxn modelId="{5A5F45C4-C6AC-4FCD-94DE-677E48139B2B}" type="presParOf" srcId="{1F834EF0-0459-4F93-A615-E6438E117BBB}" destId="{577D4ADC-7998-4455-971C-4F675288AD0E}" srcOrd="0" destOrd="0" presId="urn:microsoft.com/office/officeart/2008/layout/AlternatingHexagons"/>
    <dgm:cxn modelId="{CAC80EE4-97F5-46FF-AED4-2426D79C443F}" type="presParOf" srcId="{1F834EF0-0459-4F93-A615-E6438E117BBB}" destId="{68717F20-6966-420D-8829-5729F19BE72A}" srcOrd="1" destOrd="0" presId="urn:microsoft.com/office/officeart/2008/layout/AlternatingHexagons"/>
    <dgm:cxn modelId="{E25EA52C-3C16-45DB-BF4F-E97DBBFBC14D}" type="presParOf" srcId="{1F834EF0-0459-4F93-A615-E6438E117BBB}" destId="{83EAAA24-9505-48B1-B4DE-AB7ECDA1F265}" srcOrd="2" destOrd="0" presId="urn:microsoft.com/office/officeart/2008/layout/AlternatingHexagons"/>
    <dgm:cxn modelId="{8ACE708E-ACD9-415F-9FD7-6644328D2FF7}" type="presParOf" srcId="{1F834EF0-0459-4F93-A615-E6438E117BBB}" destId="{E960157C-69B1-48C2-BCFE-56EEA8064B7E}" srcOrd="3" destOrd="0" presId="urn:microsoft.com/office/officeart/2008/layout/AlternatingHexagons"/>
    <dgm:cxn modelId="{AF4A4345-B452-4C20-BFA6-3E528EED1F0E}" type="presParOf" srcId="{1F834EF0-0459-4F93-A615-E6438E117BBB}" destId="{E4F22C25-1B18-4775-A155-813299233D3D}" srcOrd="4" destOrd="0" presId="urn:microsoft.com/office/officeart/2008/layout/AlternatingHexagons"/>
    <dgm:cxn modelId="{0E5AD6F2-24C0-42E7-8D08-A24ACDA5D11B}" type="presParOf" srcId="{1BA25F36-49D9-49F8-9588-057C6D70A918}" destId="{33FE5C55-3210-440E-AB1B-C80C23470F3A}" srcOrd="3" destOrd="0" presId="urn:microsoft.com/office/officeart/2008/layout/AlternatingHexagons"/>
    <dgm:cxn modelId="{A05085A8-AD64-4866-BA30-62547095F845}" type="presParOf" srcId="{1BA25F36-49D9-49F8-9588-057C6D70A918}" destId="{2892EADF-8ED1-4C83-8529-5E7B76592224}" srcOrd="4" destOrd="0" presId="urn:microsoft.com/office/officeart/2008/layout/AlternatingHexagons"/>
    <dgm:cxn modelId="{60A910A4-BCEB-4DDC-8CCE-FD9676425255}" type="presParOf" srcId="{2892EADF-8ED1-4C83-8529-5E7B76592224}" destId="{7C5F7313-3092-4244-8E90-164F1463F724}" srcOrd="0" destOrd="0" presId="urn:microsoft.com/office/officeart/2008/layout/AlternatingHexagons"/>
    <dgm:cxn modelId="{77DAA798-1948-457C-9F71-15DE76C09333}" type="presParOf" srcId="{2892EADF-8ED1-4C83-8529-5E7B76592224}" destId="{B0D12B75-EA0E-4D21-AC7E-52D0EB85CF12}" srcOrd="1" destOrd="0" presId="urn:microsoft.com/office/officeart/2008/layout/AlternatingHexagons"/>
    <dgm:cxn modelId="{DFE01DA6-E671-4FAD-9A3B-068E510A9151}" type="presParOf" srcId="{2892EADF-8ED1-4C83-8529-5E7B76592224}" destId="{42A37B85-8DCD-4706-95B0-C36FFF9483DC}" srcOrd="2" destOrd="0" presId="urn:microsoft.com/office/officeart/2008/layout/AlternatingHexagons"/>
    <dgm:cxn modelId="{6859C66E-A23C-46F1-9C71-DD405E0B9C38}" type="presParOf" srcId="{2892EADF-8ED1-4C83-8529-5E7B76592224}" destId="{CA38876F-3BFA-4BF0-91D1-D12A40370587}" srcOrd="3" destOrd="0" presId="urn:microsoft.com/office/officeart/2008/layout/AlternatingHexagons"/>
    <dgm:cxn modelId="{A6253E48-762E-4FE5-AD1E-FF55EA82C7D0}" type="presParOf" srcId="{2892EADF-8ED1-4C83-8529-5E7B76592224}" destId="{9FCBDD27-081A-4C76-9A86-4FCE34D0A271}"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9D68ED-D7AA-4B0F-85EE-F74D462E95ED}">
      <dsp:nvSpPr>
        <dsp:cNvPr id="0" name=""/>
        <dsp:cNvSpPr/>
      </dsp:nvSpPr>
      <dsp:spPr>
        <a:xfrm rot="5400000">
          <a:off x="3496466" y="107503"/>
          <a:ext cx="1610971" cy="1401545"/>
        </a:xfrm>
        <a:prstGeom prst="hexagon">
          <a:avLst>
            <a:gd name="adj" fmla="val 2500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اختلال اضطراب جدایی</a:t>
          </a:r>
          <a:endParaRPr lang="en-US" sz="2000" b="1" kern="1200" dirty="0">
            <a:solidFill>
              <a:schemeClr val="tx1"/>
            </a:solidFill>
            <a:cs typeface="B Lotus" panose="00000400000000000000" pitchFamily="2" charset="-78"/>
          </a:endParaRPr>
        </a:p>
      </dsp:txBody>
      <dsp:txXfrm rot="-5400000">
        <a:off x="3819586" y="253833"/>
        <a:ext cx="964731" cy="1108885"/>
      </dsp:txXfrm>
    </dsp:sp>
    <dsp:sp modelId="{ABCC22B7-FA30-4F59-8A00-4166D094F0DF}">
      <dsp:nvSpPr>
        <dsp:cNvPr id="0" name=""/>
        <dsp:cNvSpPr/>
      </dsp:nvSpPr>
      <dsp:spPr>
        <a:xfrm>
          <a:off x="5045254" y="324985"/>
          <a:ext cx="1797844" cy="966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شایع ترین اختلال این دوران</a:t>
          </a:r>
          <a:endParaRPr lang="en-US" sz="2000" b="1" kern="1200" dirty="0">
            <a:solidFill>
              <a:schemeClr val="tx1"/>
            </a:solidFill>
            <a:cs typeface="B Lotus" panose="00000400000000000000" pitchFamily="2" charset="-78"/>
          </a:endParaRPr>
        </a:p>
      </dsp:txBody>
      <dsp:txXfrm>
        <a:off x="5045254" y="324985"/>
        <a:ext cx="1797844" cy="966582"/>
      </dsp:txXfrm>
    </dsp:sp>
    <dsp:sp modelId="{C3DFBA94-52CB-4222-91EF-9B141D718514}">
      <dsp:nvSpPr>
        <dsp:cNvPr id="0" name=""/>
        <dsp:cNvSpPr/>
      </dsp:nvSpPr>
      <dsp:spPr>
        <a:xfrm rot="5400000">
          <a:off x="1982797" y="107503"/>
          <a:ext cx="1610971" cy="1401545"/>
        </a:xfrm>
        <a:prstGeom prst="hexagon">
          <a:avLst>
            <a:gd name="adj" fmla="val 25000"/>
            <a:gd name="vf" fmla="val 115470"/>
          </a:avLst>
        </a:prstGeom>
        <a:solidFill>
          <a:schemeClr val="accent4">
            <a:hueOff val="2079139"/>
            <a:satOff val="-9594"/>
            <a:lumOff val="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اختلال اضطراب تعمیم یافته</a:t>
          </a:r>
          <a:endParaRPr lang="en-US" sz="2000" b="1" kern="1200" dirty="0">
            <a:solidFill>
              <a:schemeClr val="tx1"/>
            </a:solidFill>
            <a:cs typeface="B Lotus" panose="00000400000000000000" pitchFamily="2" charset="-78"/>
          </a:endParaRPr>
        </a:p>
      </dsp:txBody>
      <dsp:txXfrm rot="-5400000">
        <a:off x="2305917" y="253833"/>
        <a:ext cx="964731" cy="1108885"/>
      </dsp:txXfrm>
    </dsp:sp>
    <dsp:sp modelId="{577D4ADC-7998-4455-971C-4F675288AD0E}">
      <dsp:nvSpPr>
        <dsp:cNvPr id="0" name=""/>
        <dsp:cNvSpPr/>
      </dsp:nvSpPr>
      <dsp:spPr>
        <a:xfrm rot="5400000">
          <a:off x="2699736" y="1474896"/>
          <a:ext cx="1610971" cy="1401545"/>
        </a:xfrm>
        <a:prstGeom prst="hexagon">
          <a:avLst>
            <a:gd name="adj" fmla="val 25000"/>
            <a:gd name="vf" fmla="val 115470"/>
          </a:avLst>
        </a:prstGeom>
        <a:solidFill>
          <a:schemeClr val="accent4">
            <a:hueOff val="4158277"/>
            <a:satOff val="-19187"/>
            <a:lumOff val="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اختلال وسواس جبری</a:t>
          </a:r>
          <a:endParaRPr lang="en-US" sz="2000" b="1" kern="1200" dirty="0">
            <a:solidFill>
              <a:schemeClr val="tx1"/>
            </a:solidFill>
            <a:cs typeface="B Lotus" panose="00000400000000000000" pitchFamily="2" charset="-78"/>
          </a:endParaRPr>
        </a:p>
      </dsp:txBody>
      <dsp:txXfrm rot="-5400000">
        <a:off x="3022856" y="1621226"/>
        <a:ext cx="964731" cy="1108885"/>
      </dsp:txXfrm>
    </dsp:sp>
    <dsp:sp modelId="{68717F20-6966-420D-8829-5729F19BE72A}">
      <dsp:nvSpPr>
        <dsp:cNvPr id="0" name=""/>
        <dsp:cNvSpPr/>
      </dsp:nvSpPr>
      <dsp:spPr>
        <a:xfrm>
          <a:off x="321503" y="1630419"/>
          <a:ext cx="2335469" cy="966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r"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کم اعتبارترین زیرمقیاس</a:t>
          </a:r>
          <a:endParaRPr lang="en-US" sz="2000" b="1" kern="1200" dirty="0">
            <a:solidFill>
              <a:schemeClr val="tx1"/>
            </a:solidFill>
            <a:cs typeface="B Lotus" panose="00000400000000000000" pitchFamily="2" charset="-78"/>
          </a:endParaRPr>
        </a:p>
      </dsp:txBody>
      <dsp:txXfrm>
        <a:off x="321503" y="1630419"/>
        <a:ext cx="2335469" cy="966582"/>
      </dsp:txXfrm>
    </dsp:sp>
    <dsp:sp modelId="{E4F22C25-1B18-4775-A155-813299233D3D}">
      <dsp:nvSpPr>
        <dsp:cNvPr id="0" name=""/>
        <dsp:cNvSpPr/>
      </dsp:nvSpPr>
      <dsp:spPr>
        <a:xfrm rot="5400000">
          <a:off x="4197918" y="1490393"/>
          <a:ext cx="1610971" cy="1401545"/>
        </a:xfrm>
        <a:prstGeom prst="hexagon">
          <a:avLst>
            <a:gd name="adj" fmla="val 25000"/>
            <a:gd name="vf" fmla="val 115470"/>
          </a:avLst>
        </a:prstGeom>
        <a:solidFill>
          <a:schemeClr val="accent4">
            <a:hueOff val="6237415"/>
            <a:satOff val="-28781"/>
            <a:lumOff val="1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r>
            <a:rPr lang="fa-IR" sz="2000" kern="1200" dirty="0" smtClean="0">
              <a:solidFill>
                <a:schemeClr val="tx1"/>
              </a:solidFill>
              <a:cs typeface="B Lotus" panose="00000400000000000000" pitchFamily="2" charset="-78"/>
            </a:rPr>
            <a:t>اختلال اضطراب اجتماعی</a:t>
          </a:r>
          <a:endParaRPr lang="en-US" sz="2000" kern="1200" dirty="0">
            <a:solidFill>
              <a:schemeClr val="tx1"/>
            </a:solidFill>
            <a:cs typeface="B Lotus" panose="00000400000000000000" pitchFamily="2" charset="-78"/>
          </a:endParaRPr>
        </a:p>
      </dsp:txBody>
      <dsp:txXfrm rot="-5400000">
        <a:off x="4521038" y="1636723"/>
        <a:ext cx="964731" cy="1108885"/>
      </dsp:txXfrm>
    </dsp:sp>
    <dsp:sp modelId="{7C5F7313-3092-4244-8E90-164F1463F724}">
      <dsp:nvSpPr>
        <dsp:cNvPr id="0" name=""/>
        <dsp:cNvSpPr/>
      </dsp:nvSpPr>
      <dsp:spPr>
        <a:xfrm rot="5400000">
          <a:off x="3496466" y="2842288"/>
          <a:ext cx="1610971" cy="1401545"/>
        </a:xfrm>
        <a:prstGeom prst="hexagon">
          <a:avLst>
            <a:gd name="adj" fmla="val 25000"/>
            <a:gd name="vf" fmla="val 115470"/>
          </a:avLst>
        </a:prstGeom>
        <a:solidFill>
          <a:schemeClr val="accent4">
            <a:hueOff val="8316554"/>
            <a:satOff val="-38374"/>
            <a:lumOff val="1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استرس پس از سانحه</a:t>
          </a:r>
          <a:endParaRPr lang="en-US" sz="2000" b="1" kern="1200" dirty="0">
            <a:solidFill>
              <a:schemeClr val="tx1"/>
            </a:solidFill>
            <a:cs typeface="B Lotus" panose="00000400000000000000" pitchFamily="2" charset="-78"/>
          </a:endParaRPr>
        </a:p>
      </dsp:txBody>
      <dsp:txXfrm rot="-5400000">
        <a:off x="3819586" y="2988618"/>
        <a:ext cx="964731" cy="1108885"/>
      </dsp:txXfrm>
    </dsp:sp>
    <dsp:sp modelId="{B0D12B75-EA0E-4D21-AC7E-52D0EB85CF12}">
      <dsp:nvSpPr>
        <dsp:cNvPr id="0" name=""/>
        <dsp:cNvSpPr/>
      </dsp:nvSpPr>
      <dsp:spPr>
        <a:xfrm>
          <a:off x="5045254" y="3059770"/>
          <a:ext cx="1797844" cy="966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fa-IR" sz="2000" b="1" kern="1200" dirty="0" smtClean="0">
              <a:solidFill>
                <a:schemeClr val="tx1"/>
              </a:solidFill>
              <a:cs typeface="B Lotus" panose="00000400000000000000" pitchFamily="2" charset="-78"/>
            </a:rPr>
            <a:t>بدون نمره گذاری</a:t>
          </a:r>
          <a:endParaRPr lang="en-US" sz="2000" b="1" kern="1200" dirty="0">
            <a:solidFill>
              <a:schemeClr val="tx1"/>
            </a:solidFill>
            <a:cs typeface="B Lotus" panose="00000400000000000000" pitchFamily="2" charset="-78"/>
          </a:endParaRPr>
        </a:p>
      </dsp:txBody>
      <dsp:txXfrm>
        <a:off x="5045254" y="3059770"/>
        <a:ext cx="1797844" cy="966582"/>
      </dsp:txXfrm>
    </dsp:sp>
    <dsp:sp modelId="{9FCBDD27-081A-4C76-9A86-4FCE34D0A271}">
      <dsp:nvSpPr>
        <dsp:cNvPr id="0" name=""/>
        <dsp:cNvSpPr/>
      </dsp:nvSpPr>
      <dsp:spPr>
        <a:xfrm rot="5400000">
          <a:off x="2013785" y="2842288"/>
          <a:ext cx="1610971" cy="1401545"/>
        </a:xfrm>
        <a:prstGeom prst="hexagon">
          <a:avLst>
            <a:gd name="adj" fmla="val 25000"/>
            <a:gd name="vf" fmla="val 115470"/>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1200150">
            <a:lnSpc>
              <a:spcPct val="90000"/>
            </a:lnSpc>
            <a:spcBef>
              <a:spcPct val="0"/>
            </a:spcBef>
            <a:spcAft>
              <a:spcPct val="35000"/>
            </a:spcAft>
          </a:pPr>
          <a:r>
            <a:rPr lang="fa-IR" sz="2700" kern="1200" dirty="0" smtClean="0"/>
            <a:t> </a:t>
          </a:r>
          <a:r>
            <a:rPr lang="fa-IR" sz="2000" b="1" kern="1200" dirty="0" smtClean="0">
              <a:solidFill>
                <a:schemeClr val="tx1"/>
              </a:solidFill>
              <a:cs typeface="B Lotus" panose="00000400000000000000" pitchFamily="2" charset="-78"/>
            </a:rPr>
            <a:t>ترس از جراحات جسمانی</a:t>
          </a:r>
          <a:endParaRPr lang="en-US" sz="2000" b="1" kern="1200" dirty="0">
            <a:solidFill>
              <a:schemeClr val="tx1"/>
            </a:solidFill>
            <a:cs typeface="B Lotus" panose="00000400000000000000" pitchFamily="2" charset="-78"/>
          </a:endParaRPr>
        </a:p>
      </dsp:txBody>
      <dsp:txXfrm rot="-5400000">
        <a:off x="2336905" y="2988618"/>
        <a:ext cx="964731" cy="1108885"/>
      </dsp:txXfrm>
    </dsp:sp>
  </dsp:spTree>
</dsp:drawing>
</file>

<file path=ppt/diagrams/layout1.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EC60ACF5-D26E-456A-89DE-728BB6F3D611}" type="datetimeFigureOut">
              <a:rPr lang="fa-IR" smtClean="0"/>
              <a:t>26/10/1439</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14E01CD6-AB57-4583-9B14-8A8C2B019E03}" type="slidenum">
              <a:rPr lang="fa-IR" smtClean="0"/>
              <a:t>‹#›</a:t>
            </a:fld>
            <a:endParaRPr lang="fa-IR"/>
          </a:p>
        </p:txBody>
      </p:sp>
    </p:spTree>
    <p:extLst>
      <p:ext uri="{BB962C8B-B14F-4D97-AF65-F5344CB8AC3E}">
        <p14:creationId xmlns:p14="http://schemas.microsoft.com/office/powerpoint/2010/main" val="93479389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r>
              <a:rPr lang="ar-SA" altLang="en-US" smtClean="0">
                <a:solidFill>
                  <a:prstClr val="black"/>
                </a:solidFill>
              </a:rPr>
              <a:t>محمد ترکمان</a:t>
            </a:r>
            <a:endParaRPr lang="en-US" altLang="en-US" smtClean="0">
              <a:solidFill>
                <a:prstClr val="black"/>
              </a:solidFill>
            </a:endParaRPr>
          </a:p>
        </p:txBody>
      </p:sp>
      <p:sp>
        <p:nvSpPr>
          <p:cNvPr id="4608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A6784E0-FE2D-4A4A-BC19-E49ADB60543C}" type="slidenum">
              <a:rPr lang="ar-SA" altLang="en-US" smtClean="0">
                <a:solidFill>
                  <a:prstClr val="black"/>
                </a:solidFill>
              </a:rPr>
              <a:pPr>
                <a:spcBef>
                  <a:spcPct val="0"/>
                </a:spcBef>
              </a:pPr>
              <a:t>3</a:t>
            </a:fld>
            <a:endParaRPr lang="en-US" altLang="en-US" smtClean="0">
              <a:solidFill>
                <a:prstClr val="black"/>
              </a:solidFill>
            </a:endParaRPr>
          </a:p>
        </p:txBody>
      </p:sp>
      <p:sp>
        <p:nvSpPr>
          <p:cNvPr id="46084" name="Rectangle 2"/>
          <p:cNvSpPr>
            <a:spLocks noGrp="1" noRot="1" noChangeAspect="1" noChangeArrowheads="1" noTextEdit="1"/>
          </p:cNvSpPr>
          <p:nvPr>
            <p:ph type="sldImg"/>
          </p:nvPr>
        </p:nvSpPr>
        <p:spPr>
          <a:xfrm>
            <a:off x="1143000" y="685800"/>
            <a:ext cx="4572000" cy="3429000"/>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516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75"/>
            <a:ext cx="7772400" cy="1470025"/>
          </a:xfrm>
        </p:spPr>
        <p:txBody>
          <a:bodyPr/>
          <a:lstStyle/>
          <a:p>
            <a:r>
              <a:rPr lang="en-US" smtClean="0"/>
              <a:t>Click to edit Master title style</a:t>
            </a:r>
            <a:endParaRPr lang="fa-I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a-IR"/>
          </a:p>
        </p:txBody>
      </p:sp>
      <p:sp>
        <p:nvSpPr>
          <p:cNvPr id="4" name="Date Placeholder 3"/>
          <p:cNvSpPr>
            <a:spLocks noGrp="1"/>
          </p:cNvSpPr>
          <p:nvPr>
            <p:ph type="dt" sz="half" idx="10"/>
          </p:nvPr>
        </p:nvSpPr>
        <p:spPr/>
        <p:txBody>
          <a:bodyPr/>
          <a:lstStyle/>
          <a:p>
            <a:pPr>
              <a:defRPr/>
            </a:pPr>
            <a:fld id="{8C349A60-E844-4CA1-879E-4C409E675189}" type="datetime1">
              <a:rPr lang="en-US">
                <a:solidFill>
                  <a:prstClr val="black">
                    <a:tint val="75000"/>
                  </a:prstClr>
                </a:solidFill>
              </a:rPr>
              <a:pPr>
                <a:def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22603E-B5BE-449A-8B43-D821EAB251DC}"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88704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pPr>
              <a:defRPr/>
            </a:pPr>
            <a:fld id="{82B0628A-25D2-4693-B962-08F2D17BF50A}" type="datetime1">
              <a:rPr lang="en-US">
                <a:solidFill>
                  <a:prstClr val="black">
                    <a:tint val="75000"/>
                  </a:prstClr>
                </a:solidFill>
              </a:rPr>
              <a:pPr>
                <a:def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0C5BE97-5144-4599-8F82-436BE5D7337D}"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0880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50"/>
            <a:ext cx="7772400" cy="1362075"/>
          </a:xfrm>
        </p:spPr>
        <p:txBody>
          <a:bodyPr anchor="t"/>
          <a:lstStyle>
            <a:lvl1pPr algn="r">
              <a:defRPr sz="4000" b="1" cap="all"/>
            </a:lvl1pPr>
          </a:lstStyle>
          <a:p>
            <a:r>
              <a:rPr lang="en-US" smtClean="0"/>
              <a:t>Click to edit Master title style</a:t>
            </a:r>
            <a:endParaRPr lang="fa-I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34CAB390-55A8-4481-A2CB-C3BD74648979}" type="datetime1">
              <a:rPr lang="en-US">
                <a:solidFill>
                  <a:prstClr val="black">
                    <a:tint val="75000"/>
                  </a:prstClr>
                </a:solidFill>
              </a:rPr>
              <a:pPr>
                <a:def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627AB1A-04F4-45A9-A771-528864E5A890}"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75635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Date Placeholder 4"/>
          <p:cNvSpPr>
            <a:spLocks noGrp="1"/>
          </p:cNvSpPr>
          <p:nvPr>
            <p:ph type="dt" sz="half" idx="10"/>
          </p:nvPr>
        </p:nvSpPr>
        <p:spPr/>
        <p:txBody>
          <a:bodyPr/>
          <a:lstStyle/>
          <a:p>
            <a:pPr>
              <a:defRPr/>
            </a:pPr>
            <a:fld id="{F852708D-2737-4992-9FAB-5B50BAB5EA3D}" type="datetime1">
              <a:rPr lang="en-US">
                <a:solidFill>
                  <a:prstClr val="black">
                    <a:tint val="75000"/>
                  </a:prstClr>
                </a:solidFill>
              </a:rPr>
              <a:pPr>
                <a:def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5029855-CD9D-490E-AFAF-1437B5A1BAAB}"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27439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a-I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Text Placeholder 4"/>
          <p:cNvSpPr>
            <a:spLocks noGrp="1"/>
          </p:cNvSpPr>
          <p:nvPr>
            <p:ph type="body" sz="quarter" idx="3"/>
          </p:nvPr>
        </p:nvSpPr>
        <p:spPr>
          <a:xfrm>
            <a:off x="4645050"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5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7" name="Date Placeholder 6"/>
          <p:cNvSpPr>
            <a:spLocks noGrp="1"/>
          </p:cNvSpPr>
          <p:nvPr>
            <p:ph type="dt" sz="half" idx="10"/>
          </p:nvPr>
        </p:nvSpPr>
        <p:spPr/>
        <p:txBody>
          <a:bodyPr/>
          <a:lstStyle/>
          <a:p>
            <a:pPr>
              <a:defRPr/>
            </a:pPr>
            <a:fld id="{9EFE781B-E1DB-4792-A775-BE61662AE15C}" type="datetime1">
              <a:rPr lang="en-US">
                <a:solidFill>
                  <a:prstClr val="black">
                    <a:tint val="75000"/>
                  </a:prstClr>
                </a:solidFill>
              </a:rPr>
              <a:pPr>
                <a:def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31D7C1A-2A69-470A-9BB4-F02464CE3E6D}"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81199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Date Placeholder 2"/>
          <p:cNvSpPr>
            <a:spLocks noGrp="1"/>
          </p:cNvSpPr>
          <p:nvPr>
            <p:ph type="dt" sz="half" idx="10"/>
          </p:nvPr>
        </p:nvSpPr>
        <p:spPr/>
        <p:txBody>
          <a:bodyPr/>
          <a:lstStyle/>
          <a:p>
            <a:pPr>
              <a:defRPr/>
            </a:pPr>
            <a:fld id="{DDA4F4AE-71FB-4572-9779-C115AE044FA2}" type="datetime1">
              <a:rPr lang="en-US">
                <a:solidFill>
                  <a:prstClr val="black">
                    <a:tint val="75000"/>
                  </a:prstClr>
                </a:solidFill>
              </a:rPr>
              <a:pPr>
                <a:def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597E21-3C85-48C8-9F86-88CF5D353243}"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3823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845719B-1F48-42EC-BD38-84C22F49D299}" type="datetime1">
              <a:rPr lang="en-US">
                <a:solidFill>
                  <a:prstClr val="black">
                    <a:tint val="75000"/>
                  </a:prstClr>
                </a:solidFill>
              </a:rPr>
              <a:pPr>
                <a:def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9BDE090-26F5-4534-B3DB-DF354150B6D9}"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337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r">
              <a:defRPr sz="2000" b="1"/>
            </a:lvl1pPr>
          </a:lstStyle>
          <a:p>
            <a:r>
              <a:rPr lang="en-US" smtClean="0"/>
              <a:t>Click to edit Master title style</a:t>
            </a:r>
            <a:endParaRPr lang="fa-IR"/>
          </a:p>
        </p:txBody>
      </p:sp>
      <p:sp>
        <p:nvSpPr>
          <p:cNvPr id="3" name="Content Placeholder 2"/>
          <p:cNvSpPr>
            <a:spLocks noGrp="1"/>
          </p:cNvSpPr>
          <p:nvPr>
            <p:ph idx="1"/>
          </p:nvPr>
        </p:nvSpPr>
        <p:spPr>
          <a:xfrm>
            <a:off x="3575050" y="27310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2892E859-7AD1-4521-ADCD-3B004E469C79}" type="datetime1">
              <a:rPr lang="en-US">
                <a:solidFill>
                  <a:prstClr val="black">
                    <a:tint val="75000"/>
                  </a:prstClr>
                </a:solidFill>
              </a:rPr>
              <a:pPr>
                <a:def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8EA87421-ED87-4D80-8DE4-1F10919756BD}"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0119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fa-I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19C0F826-48C1-43E5-906A-76AB93FA74F9}" type="datetime1">
              <a:rPr lang="en-US">
                <a:solidFill>
                  <a:prstClr val="black">
                    <a:tint val="75000"/>
                  </a:prstClr>
                </a:solidFill>
              </a:rPr>
              <a:pPr>
                <a:def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997258B-492C-482D-92E0-6DAC5902478A}"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4424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pPr>
              <a:defRPr/>
            </a:pPr>
            <a:fld id="{90E1A000-52BF-49F5-812E-90A3C7DFD01C}" type="datetime1">
              <a:rPr lang="en-US">
                <a:solidFill>
                  <a:prstClr val="black">
                    <a:tint val="75000"/>
                  </a:prstClr>
                </a:solidFill>
              </a:rPr>
              <a:pPr>
                <a:def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3647692C-DB2C-4E3D-ADF2-24DE08D91FE5}"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58890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88"/>
            <a:ext cx="2057400" cy="5851525"/>
          </a:xfrm>
        </p:spPr>
        <p:txBody>
          <a:bodyPr vert="eaVert"/>
          <a:lstStyle/>
          <a:p>
            <a:r>
              <a:rPr lang="en-US" smtClean="0"/>
              <a:t>Click to edit Master title style</a:t>
            </a:r>
            <a:endParaRPr lang="fa-IR"/>
          </a:p>
        </p:txBody>
      </p:sp>
      <p:sp>
        <p:nvSpPr>
          <p:cNvPr id="3" name="Vertical Text Placeholder 2"/>
          <p:cNvSpPr>
            <a:spLocks noGrp="1"/>
          </p:cNvSpPr>
          <p:nvPr>
            <p:ph type="body" orient="vert" idx="1"/>
          </p:nvPr>
        </p:nvSpPr>
        <p:spPr>
          <a:xfrm>
            <a:off x="457200" y="27468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pPr>
              <a:defRPr/>
            </a:pPr>
            <a:fld id="{4B39861A-4D94-4568-A1AD-4323C8AF9A22}" type="datetime1">
              <a:rPr lang="en-US">
                <a:solidFill>
                  <a:prstClr val="black">
                    <a:tint val="75000"/>
                  </a:prstClr>
                </a:solidFill>
              </a:rPr>
              <a:pPr>
                <a:def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ABB7BAB-CDB3-423D-A79B-DA5FC1C14FCA}" type="slidenum">
              <a:rPr lang="ar-SA">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86084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5154073"/>
      </p:ext>
    </p:extLst>
  </p:cSld>
  <p:clrMapOvr>
    <a:masterClrMapping/>
  </p:clrMapOvr>
  <p:transition>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33731296"/>
      </p:ext>
    </p:extLst>
  </p:cSld>
  <p:clrMapOvr>
    <a:masterClrMapping/>
  </p:clrMapOvr>
  <p:transition>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9225688"/>
      </p:ext>
    </p:extLst>
  </p:cSld>
  <p:clrMapOvr>
    <a:masterClrMapping/>
  </p:clrMapOvr>
  <p:transition>
    <p:dissolv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35233610"/>
      </p:ext>
    </p:extLst>
  </p:cSld>
  <p:clrMapOvr>
    <a:masterClrMapping/>
  </p:clrMapOvr>
  <p:transition>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2017347"/>
      </p:ext>
    </p:extLst>
  </p:cSld>
  <p:clrMapOvr>
    <a:masterClrMapping/>
  </p:clrMapOvr>
  <p:transition>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97859664"/>
      </p:ext>
    </p:extLst>
  </p:cSld>
  <p:clrMapOvr>
    <a:masterClrMapping/>
  </p:clrMapOvr>
  <p:transition>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39363322"/>
      </p:ext>
    </p:extLst>
  </p:cSld>
  <p:clrMapOvr>
    <a:masterClrMapping/>
  </p:clrMapOvr>
  <p:transition>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7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0632925"/>
      </p:ext>
    </p:extLst>
  </p:cSld>
  <p:clrMapOvr>
    <a:masterClrMapping/>
  </p:clrMapOvr>
  <p:transition>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08147410"/>
      </p:ext>
    </p:extLst>
  </p:cSld>
  <p:clrMapOvr>
    <a:masterClrMapping/>
  </p:clrMapOvr>
  <p:transition>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1633204"/>
      </p:ext>
    </p:extLst>
  </p:cSld>
  <p:clrMapOvr>
    <a:masterClrMapping/>
  </p:clrMapOvr>
  <p:transition>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5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5702662"/>
      </p:ext>
    </p:extLst>
  </p:cSld>
  <p:clrMapOvr>
    <a:masterClrMapping/>
  </p:clrMapOvr>
  <p:transition>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419F15E-0D16-45D7-9AE6-1755A586B591}"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721576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4FB508A-9D41-4AAE-AFF5-EA11DA613F16}"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5126739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5F21B78-470D-47E0-8EF0-AE9CD2C20962}"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5436329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9113A0C-AD07-4AF1-98BD-497F6CAF9B6D}"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6757412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71E88E1B-D61C-4621-817B-5BFBBC17C945}"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7477654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E012BBF-C84F-4281-803D-1638F582A5D7}"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39067344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5C57E17E-B5DB-4DFD-9331-05E90D49D235}"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7398059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7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C57F7DF-8EB8-466C-A592-E4DCD83F1764}"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836736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D69E1E83-756B-4FC7-A64C-7DE17B38E1B3}"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618404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9D674D4-2566-474A-B514-0761BE9C3A6D}"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544316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5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B6F0B7CD-5D16-45A0-B895-930864FFF75C}"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3423399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6"/>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r>
              <a:rPr lang="ar-YE">
                <a:solidFill>
                  <a:srgbClr val="000000"/>
                </a:solidFill>
              </a:rPr>
              <a:t>محمد ترکمان</a:t>
            </a: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2EDC1CD2-251F-422E-9C2A-678E30AFEF97}" type="slidenum">
              <a:rPr lang="ar-SA"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760271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5999C54-6A03-4E1F-BCAC-4C9C31A66B21}"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02ECD18F-6B69-4987-AF6E-2F0B2DB25902}" type="slidenum">
              <a:rPr lang="fa-IR"/>
              <a:pPr>
                <a:defRPr/>
              </a:pPr>
              <a:t>‹#›</a:t>
            </a:fld>
            <a:endParaRPr lang="fa-IR"/>
          </a:p>
        </p:txBody>
      </p:sp>
    </p:spTree>
    <p:extLst>
      <p:ext uri="{BB962C8B-B14F-4D97-AF65-F5344CB8AC3E}">
        <p14:creationId xmlns:p14="http://schemas.microsoft.com/office/powerpoint/2010/main" val="3855265363"/>
      </p:ext>
    </p:extLst>
  </p:cSld>
  <p:clrMapOvr>
    <a:masterClrMapping/>
  </p:clrMapOvr>
  <p:transition spd="slow">
    <p:randomBar dir="vert"/>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F21AAFDB-0891-4C80-A0F9-E03EB09424ED}"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2CCB2973-C8E5-4343-A490-D6BF3898E0D0}" type="slidenum">
              <a:rPr lang="fa-IR"/>
              <a:pPr>
                <a:defRPr/>
              </a:pPr>
              <a:t>‹#›</a:t>
            </a:fld>
            <a:endParaRPr lang="fa-IR"/>
          </a:p>
        </p:txBody>
      </p:sp>
    </p:spTree>
    <p:extLst>
      <p:ext uri="{BB962C8B-B14F-4D97-AF65-F5344CB8AC3E}">
        <p14:creationId xmlns:p14="http://schemas.microsoft.com/office/powerpoint/2010/main" val="3171831386"/>
      </p:ext>
    </p:extLst>
  </p:cSld>
  <p:clrMapOvr>
    <a:masterClrMapping/>
  </p:clrMapOvr>
  <p:transition spd="slow">
    <p:randomBar dir="vert"/>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616FE924-7AB6-4507-84C4-9943ED62B2A2}"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D6D8DB5-6B67-48BF-80E3-FD832B83A73C}" type="slidenum">
              <a:rPr lang="fa-IR"/>
              <a:pPr>
                <a:defRPr/>
              </a:pPr>
              <a:t>‹#›</a:t>
            </a:fld>
            <a:endParaRPr lang="fa-IR"/>
          </a:p>
        </p:txBody>
      </p:sp>
    </p:spTree>
    <p:extLst>
      <p:ext uri="{BB962C8B-B14F-4D97-AF65-F5344CB8AC3E}">
        <p14:creationId xmlns:p14="http://schemas.microsoft.com/office/powerpoint/2010/main" val="3828591028"/>
      </p:ext>
    </p:extLst>
  </p:cSld>
  <p:clrMapOvr>
    <a:masterClrMapping/>
  </p:clrMapOvr>
  <p:transition spd="slow">
    <p:randomBar dir="vert"/>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FBAF1923-9EE9-4EEE-A4BE-D3A6DC9FFE10}"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AA8AFA6F-59F0-4B3A-B314-F1AF6388ACEA}" type="slidenum">
              <a:rPr lang="fa-IR"/>
              <a:pPr>
                <a:defRPr/>
              </a:pPr>
              <a:t>‹#›</a:t>
            </a:fld>
            <a:endParaRPr lang="fa-IR"/>
          </a:p>
        </p:txBody>
      </p:sp>
    </p:spTree>
    <p:extLst>
      <p:ext uri="{BB962C8B-B14F-4D97-AF65-F5344CB8AC3E}">
        <p14:creationId xmlns:p14="http://schemas.microsoft.com/office/powerpoint/2010/main" val="3128213000"/>
      </p:ext>
    </p:extLst>
  </p:cSld>
  <p:clrMapOvr>
    <a:masterClrMapping/>
  </p:clrMapOvr>
  <p:transition spd="slow">
    <p:randomBar dir="vert"/>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8198D512-2844-41FD-88D4-6A867DDD9869}" type="datetime8">
              <a:rPr lang="fa-IR"/>
              <a:pPr>
                <a:defRPr/>
              </a:pPr>
              <a:t>09 ژوئيه 18</a:t>
            </a:fld>
            <a:endParaRPr lang="fa-IR"/>
          </a:p>
        </p:txBody>
      </p:sp>
      <p:sp>
        <p:nvSpPr>
          <p:cNvPr id="8" name="Footer Placeholder 7"/>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9" name="Slide Number Placeholder 8"/>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003DA70B-CDC8-4ECF-9FE2-9B3EF0827432}" type="slidenum">
              <a:rPr lang="fa-IR"/>
              <a:pPr>
                <a:defRPr/>
              </a:pPr>
              <a:t>‹#›</a:t>
            </a:fld>
            <a:endParaRPr lang="fa-IR"/>
          </a:p>
        </p:txBody>
      </p:sp>
    </p:spTree>
    <p:extLst>
      <p:ext uri="{BB962C8B-B14F-4D97-AF65-F5344CB8AC3E}">
        <p14:creationId xmlns:p14="http://schemas.microsoft.com/office/powerpoint/2010/main" val="3842997589"/>
      </p:ext>
    </p:extLst>
  </p:cSld>
  <p:clrMapOvr>
    <a:masterClrMapping/>
  </p:clrMapOvr>
  <p:transition spd="slow">
    <p:randomBar dir="vert"/>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7A45557-F99E-45B9-8F71-3D66052D9B53}" type="datetime8">
              <a:rPr lang="fa-IR"/>
              <a:pPr>
                <a:defRPr/>
              </a:pPr>
              <a:t>09 ژوئيه 18</a:t>
            </a:fld>
            <a:endParaRPr lang="fa-IR"/>
          </a:p>
        </p:txBody>
      </p:sp>
      <p:sp>
        <p:nvSpPr>
          <p:cNvPr id="4" name="Footer Placeholder 3"/>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5" name="Slide Number Placeholder 4"/>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B00A331A-FA13-4A5B-80A4-1AC44B998EFA}" type="slidenum">
              <a:rPr lang="fa-IR"/>
              <a:pPr>
                <a:defRPr/>
              </a:pPr>
              <a:t>‹#›</a:t>
            </a:fld>
            <a:endParaRPr lang="fa-IR"/>
          </a:p>
        </p:txBody>
      </p:sp>
    </p:spTree>
    <p:extLst>
      <p:ext uri="{BB962C8B-B14F-4D97-AF65-F5344CB8AC3E}">
        <p14:creationId xmlns:p14="http://schemas.microsoft.com/office/powerpoint/2010/main" val="2271298739"/>
      </p:ext>
    </p:extLst>
  </p:cSld>
  <p:clrMapOvr>
    <a:masterClrMapping/>
  </p:clrMapOvr>
  <p:transition spd="slow">
    <p:randomBar dir="vert"/>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EFEFD3D-431E-4A41-8A8B-30C8DE8B6B15}" type="datetime8">
              <a:rPr lang="fa-IR"/>
              <a:pPr>
                <a:defRPr/>
              </a:pPr>
              <a:t>09 ژوئيه 18</a:t>
            </a:fld>
            <a:endParaRPr lang="fa-IR"/>
          </a:p>
        </p:txBody>
      </p:sp>
      <p:sp>
        <p:nvSpPr>
          <p:cNvPr id="3" name="Footer Placeholder 2"/>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4" name="Slide Number Placeholder 3"/>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7C868ACF-4C33-4351-BA61-2E209561C503}" type="slidenum">
              <a:rPr lang="fa-IR"/>
              <a:pPr>
                <a:defRPr/>
              </a:pPr>
              <a:t>‹#›</a:t>
            </a:fld>
            <a:endParaRPr lang="fa-IR"/>
          </a:p>
        </p:txBody>
      </p:sp>
    </p:spTree>
    <p:extLst>
      <p:ext uri="{BB962C8B-B14F-4D97-AF65-F5344CB8AC3E}">
        <p14:creationId xmlns:p14="http://schemas.microsoft.com/office/powerpoint/2010/main" val="3316122350"/>
      </p:ext>
    </p:extLst>
  </p:cSld>
  <p:clrMapOvr>
    <a:masterClrMapping/>
  </p:clrMapOvr>
  <p:transition spd="slow">
    <p:randomBar dir="vert"/>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7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452CB7F8-B733-4593-870A-7423007A75F7}"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41508A3-5DA1-4940-8045-5A49F7B3142F}" type="slidenum">
              <a:rPr lang="fa-IR"/>
              <a:pPr>
                <a:defRPr/>
              </a:pPr>
              <a:t>‹#›</a:t>
            </a:fld>
            <a:endParaRPr lang="fa-IR"/>
          </a:p>
        </p:txBody>
      </p:sp>
    </p:spTree>
    <p:extLst>
      <p:ext uri="{BB962C8B-B14F-4D97-AF65-F5344CB8AC3E}">
        <p14:creationId xmlns:p14="http://schemas.microsoft.com/office/powerpoint/2010/main" val="451669274"/>
      </p:ext>
    </p:extLst>
  </p:cSld>
  <p:clrMapOvr>
    <a:masterClrMapping/>
  </p:clrMapOvr>
  <p:transition spd="slow">
    <p:randomBar dir="vert"/>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46A5CC91-72BA-424C-8BE9-20600531F090}"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92D24326-9E8A-4534-90D2-162B595BEE81}" type="slidenum">
              <a:rPr lang="fa-IR"/>
              <a:pPr>
                <a:defRPr/>
              </a:pPr>
              <a:t>‹#›</a:t>
            </a:fld>
            <a:endParaRPr lang="fa-IR"/>
          </a:p>
        </p:txBody>
      </p:sp>
    </p:spTree>
    <p:extLst>
      <p:ext uri="{BB962C8B-B14F-4D97-AF65-F5344CB8AC3E}">
        <p14:creationId xmlns:p14="http://schemas.microsoft.com/office/powerpoint/2010/main" val="1560926561"/>
      </p:ext>
    </p:extLst>
  </p:cSld>
  <p:clrMapOvr>
    <a:masterClrMapping/>
  </p:clrMapOvr>
  <p:transition spd="slow">
    <p:randomBar dir="vert"/>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7A9A3F15-8EAB-4CD1-B54B-2BCD9F05F634}"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A6584370-2268-44AE-BA84-B584F0A21119}" type="slidenum">
              <a:rPr lang="fa-IR"/>
              <a:pPr>
                <a:defRPr/>
              </a:pPr>
              <a:t>‹#›</a:t>
            </a:fld>
            <a:endParaRPr lang="fa-IR"/>
          </a:p>
        </p:txBody>
      </p:sp>
    </p:spTree>
    <p:extLst>
      <p:ext uri="{BB962C8B-B14F-4D97-AF65-F5344CB8AC3E}">
        <p14:creationId xmlns:p14="http://schemas.microsoft.com/office/powerpoint/2010/main" val="1225834806"/>
      </p:ext>
    </p:extLst>
  </p:cSld>
  <p:clrMapOvr>
    <a:masterClrMapping/>
  </p:clrMapOvr>
  <p:transition spd="slow">
    <p:randomBar dir="vert"/>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5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62221919-B383-4FD3-AAD9-F26143A61400}"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8640C0E-9E77-478F-9260-011065A09F9F}" type="slidenum">
              <a:rPr lang="fa-IR"/>
              <a:pPr>
                <a:defRPr/>
              </a:pPr>
              <a:t>‹#›</a:t>
            </a:fld>
            <a:endParaRPr lang="fa-IR"/>
          </a:p>
        </p:txBody>
      </p:sp>
    </p:spTree>
    <p:extLst>
      <p:ext uri="{BB962C8B-B14F-4D97-AF65-F5344CB8AC3E}">
        <p14:creationId xmlns:p14="http://schemas.microsoft.com/office/powerpoint/2010/main" val="4066237753"/>
      </p:ext>
    </p:extLst>
  </p:cSld>
  <p:clrMapOvr>
    <a:masterClrMapping/>
  </p:clrMapOvr>
  <p:transition spd="slow">
    <p:randomBar dir="vert"/>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7934D1C-79B3-4B6A-8888-548F39F1B9D0}" type="datetime1">
              <a:rPr lang="en-US" smtClean="0">
                <a:solidFill>
                  <a:prstClr val="black">
                    <a:tint val="75000"/>
                  </a:prstClr>
                </a:solidFill>
              </a:rPr>
              <a:pPr/>
              <a:t>7/9/2018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539392972"/>
      </p:ext>
    </p:extLst>
  </p:cSld>
  <p:clrMapOvr>
    <a:masterClrMapping/>
  </p:clrMapOvr>
  <p:transition spd="slow">
    <p:randomBar dir="vert"/>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AC1AF0-C105-46DE-94C4-C478CCA8A3D5}" type="datetime1">
              <a:rPr lang="en-US" smtClean="0">
                <a:solidFill>
                  <a:prstClr val="black">
                    <a:tint val="75000"/>
                  </a:prstClr>
                </a:solidFill>
              </a:rPr>
              <a:pPr/>
              <a:t>7/9/2018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964433268"/>
      </p:ext>
    </p:extLst>
  </p:cSld>
  <p:clrMapOvr>
    <a:masterClrMapping/>
  </p:clrMapOvr>
  <p:transition spd="slow">
    <p:randomBar dir="vert"/>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66FBF63-07A3-4F73-AE4A-2F45C5D853A5}" type="datetime1">
              <a:rPr lang="en-US" smtClean="0">
                <a:solidFill>
                  <a:prstClr val="black">
                    <a:tint val="75000"/>
                  </a:prstClr>
                </a:solidFill>
              </a:rPr>
              <a:pPr/>
              <a:t>7/9/2018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03088344"/>
      </p:ext>
    </p:extLst>
  </p:cSld>
  <p:clrMapOvr>
    <a:masterClrMapping/>
  </p:clrMapOvr>
  <p:transition spd="slow">
    <p:randomBar dir="vert"/>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AA0D459-2DB1-4955-8D91-AD8C808738FA}" type="datetime1">
              <a:rPr lang="en-US" smtClean="0">
                <a:solidFill>
                  <a:prstClr val="black">
                    <a:tint val="75000"/>
                  </a:prstClr>
                </a:solidFill>
              </a:rPr>
              <a:pPr/>
              <a:t>7/9/2018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182620917"/>
      </p:ext>
    </p:extLst>
  </p:cSld>
  <p:clrMapOvr>
    <a:masterClrMapping/>
  </p:clrMapOvr>
  <p:transition spd="slow">
    <p:randomBar dir="vert"/>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AC5CF9-416A-4532-9425-BCCDE21CF727}" type="datetime1">
              <a:rPr lang="en-US" smtClean="0">
                <a:solidFill>
                  <a:prstClr val="black">
                    <a:tint val="75000"/>
                  </a:prstClr>
                </a:solidFill>
              </a:rPr>
              <a:pPr/>
              <a:t>7/9/2018</a:t>
            </a:fld>
            <a:endParaRPr lang="fa-IR">
              <a:solidFill>
                <a:prstClr val="black">
                  <a:tint val="75000"/>
                </a:prstClr>
              </a:solidFill>
            </a:endParaRPr>
          </a:p>
        </p:txBody>
      </p:sp>
      <p:sp>
        <p:nvSpPr>
          <p:cNvPr id="8" name="Footer Placeholder 7"/>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9" name="Slide Number Placeholder 8"/>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908900213"/>
      </p:ext>
    </p:extLst>
  </p:cSld>
  <p:clrMapOvr>
    <a:masterClrMapping/>
  </p:clrMapOvr>
  <p:transition spd="slow">
    <p:randomBar dir="vert"/>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A10C6A-9638-417D-B6A0-92D559366FFB}" type="datetime1">
              <a:rPr lang="en-US" smtClean="0">
                <a:solidFill>
                  <a:prstClr val="black">
                    <a:tint val="75000"/>
                  </a:prstClr>
                </a:solidFill>
              </a:rPr>
              <a:pPr/>
              <a:t>7/9/2018</a:t>
            </a:fld>
            <a:endParaRPr lang="fa-IR">
              <a:solidFill>
                <a:prstClr val="black">
                  <a:tint val="75000"/>
                </a:prstClr>
              </a:solidFill>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285502016"/>
      </p:ext>
    </p:extLst>
  </p:cSld>
  <p:clrMapOvr>
    <a:masterClrMapping/>
  </p:clrMapOvr>
  <p:transition spd="slow">
    <p:randomBar dir="vert"/>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4579F2-E429-4679-9889-B6026FE8E52B}" type="datetime1">
              <a:rPr lang="en-US" smtClean="0">
                <a:solidFill>
                  <a:prstClr val="black">
                    <a:tint val="75000"/>
                  </a:prstClr>
                </a:solidFill>
              </a:rPr>
              <a:pPr/>
              <a:t>7/9/2018</a:t>
            </a:fld>
            <a:endParaRPr lang="fa-IR">
              <a:solidFill>
                <a:prstClr val="black">
                  <a:tint val="75000"/>
                </a:prstClr>
              </a:solidFill>
            </a:endParaRPr>
          </a:p>
        </p:txBody>
      </p:sp>
      <p:sp>
        <p:nvSpPr>
          <p:cNvPr id="3" name="Footer Placeholder 2"/>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4" name="Slide Number Placeholder 3"/>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420022038"/>
      </p:ext>
    </p:extLst>
  </p:cSld>
  <p:clrMapOvr>
    <a:masterClrMapping/>
  </p:clrMapOvr>
  <p:transition spd="slow">
    <p:randomBar dir="vert"/>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7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D1880E-DAB2-4112-BFF0-087205BFE370}" type="datetime1">
              <a:rPr lang="en-US" smtClean="0">
                <a:solidFill>
                  <a:prstClr val="black">
                    <a:tint val="75000"/>
                  </a:prstClr>
                </a:solidFill>
              </a:rPr>
              <a:pPr/>
              <a:t>7/9/2018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992350015"/>
      </p:ext>
    </p:extLst>
  </p:cSld>
  <p:clrMapOvr>
    <a:masterClrMapping/>
  </p:clrMapOvr>
  <p:transition spd="slow">
    <p:randomBar dir="vert"/>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DF6052E-53E7-4865-B37D-AFE502E12ACE}" type="datetime1">
              <a:rPr lang="en-US" smtClean="0">
                <a:solidFill>
                  <a:prstClr val="black">
                    <a:tint val="75000"/>
                  </a:prstClr>
                </a:solidFill>
              </a:rPr>
              <a:pPr/>
              <a:t>7/9/2018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087413190"/>
      </p:ext>
    </p:extLst>
  </p:cSld>
  <p:clrMapOvr>
    <a:masterClrMapping/>
  </p:clrMapOvr>
  <p:transition spd="slow">
    <p:randomBar dir="vert"/>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8B10ED-6149-400D-AEDC-3FD2ABF4DBC8}" type="datetime1">
              <a:rPr lang="en-US" smtClean="0">
                <a:solidFill>
                  <a:prstClr val="black">
                    <a:tint val="75000"/>
                  </a:prstClr>
                </a:solidFill>
              </a:rPr>
              <a:pPr/>
              <a:t>7/9/2018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7534087"/>
      </p:ext>
    </p:extLst>
  </p:cSld>
  <p:clrMapOvr>
    <a:masterClrMapping/>
  </p:clrMapOvr>
  <p:transition spd="slow">
    <p:randomBar dir="vert"/>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5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047869-A8F9-4CA9-9345-B08F3EA9E51C}" type="datetime1">
              <a:rPr lang="en-US" smtClean="0">
                <a:solidFill>
                  <a:prstClr val="black">
                    <a:tint val="75000"/>
                  </a:prstClr>
                </a:solidFill>
              </a:rPr>
              <a:pPr/>
              <a:t>7/9/2018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644076581"/>
      </p:ext>
    </p:extLst>
  </p:cSld>
  <p:clrMapOvr>
    <a:masterClrMapping/>
  </p:clrMapOvr>
  <p:transition spd="slow">
    <p:randomBar dir="vert"/>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6D5A85-D3DB-432E-A690-10DADCD94A68}"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917171057"/>
      </p:ext>
    </p:extLst>
  </p:cSld>
  <p:clrMapOvr>
    <a:masterClrMapping/>
  </p:clrMapOvr>
  <p:transition spd="slow">
    <p:randomBar dir="vert"/>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2BB981-0A91-4A03-B5DE-9C6FF2522335}"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959868125"/>
      </p:ext>
    </p:extLst>
  </p:cSld>
  <p:clrMapOvr>
    <a:masterClrMapping/>
  </p:clrMapOvr>
  <p:transition spd="slow">
    <p:randomBar dir="vert"/>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2FCB7F-EA6C-41D7-A376-55F2391DAE01}"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703081699"/>
      </p:ext>
    </p:extLst>
  </p:cSld>
  <p:clrMapOvr>
    <a:masterClrMapping/>
  </p:clrMapOvr>
  <p:transition spd="slow">
    <p:randomBar dir="vert"/>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78D99F3-97BE-4C02-8EE6-7921E651C659}" type="datetime8">
              <a:rPr lang="fa-IR" smtClean="0">
                <a:solidFill>
                  <a:prstClr val="black">
                    <a:tint val="75000"/>
                  </a:prstClr>
                </a:solidFill>
              </a:rPr>
              <a:pPr/>
              <a:t>09 ژوئيه 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37281215"/>
      </p:ext>
    </p:extLst>
  </p:cSld>
  <p:clrMapOvr>
    <a:masterClrMapping/>
  </p:clrMapOvr>
  <p:transition spd="slow">
    <p:randomBar dir="vert"/>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50FCBF-4417-43BB-A890-825BE4A230E0}" type="datetime8">
              <a:rPr lang="fa-IR" smtClean="0">
                <a:solidFill>
                  <a:prstClr val="black">
                    <a:tint val="75000"/>
                  </a:prstClr>
                </a:solidFill>
              </a:rPr>
              <a:pPr/>
              <a:t>09 ژوئيه 18</a:t>
            </a:fld>
            <a:endParaRPr lang="fa-IR">
              <a:solidFill>
                <a:prstClr val="black">
                  <a:tint val="75000"/>
                </a:prstClr>
              </a:solidFill>
            </a:endParaRPr>
          </a:p>
        </p:txBody>
      </p:sp>
      <p:sp>
        <p:nvSpPr>
          <p:cNvPr id="8" name="Footer Placeholder 7"/>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9" name="Slide Number Placeholder 8"/>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08250394"/>
      </p:ext>
    </p:extLst>
  </p:cSld>
  <p:clrMapOvr>
    <a:masterClrMapping/>
  </p:clrMapOvr>
  <p:transition spd="slow">
    <p:randomBar dir="vert"/>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B64A8F-CB3A-4D8C-9190-CAB33FAD4A07}" type="datetime8">
              <a:rPr lang="fa-IR" smtClean="0">
                <a:solidFill>
                  <a:prstClr val="black">
                    <a:tint val="75000"/>
                  </a:prstClr>
                </a:solidFill>
              </a:rPr>
              <a:pPr/>
              <a:t>09 ژوئيه 18</a:t>
            </a:fld>
            <a:endParaRPr lang="fa-IR">
              <a:solidFill>
                <a:prstClr val="black">
                  <a:tint val="75000"/>
                </a:prstClr>
              </a:solidFill>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678820060"/>
      </p:ext>
    </p:extLst>
  </p:cSld>
  <p:clrMapOvr>
    <a:masterClrMapping/>
  </p:clrMapOvr>
  <p:transition spd="slow">
    <p:randomBar dir="vert"/>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3AECBE-0D19-4A5F-B076-A0E1E094D29C}" type="datetime8">
              <a:rPr lang="fa-IR" smtClean="0">
                <a:solidFill>
                  <a:prstClr val="black">
                    <a:tint val="75000"/>
                  </a:prstClr>
                </a:solidFill>
              </a:rPr>
              <a:pPr/>
              <a:t>09 ژوئيه 18</a:t>
            </a:fld>
            <a:endParaRPr lang="fa-IR">
              <a:solidFill>
                <a:prstClr val="black">
                  <a:tint val="75000"/>
                </a:prstClr>
              </a:solidFill>
            </a:endParaRPr>
          </a:p>
        </p:txBody>
      </p:sp>
      <p:sp>
        <p:nvSpPr>
          <p:cNvPr id="3" name="Footer Placeholder 2"/>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4" name="Slide Number Placeholder 3"/>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182302759"/>
      </p:ext>
    </p:extLst>
  </p:cSld>
  <p:clrMapOvr>
    <a:masterClrMapping/>
  </p:clrMapOvr>
  <p:transition spd="slow">
    <p:randomBar dir="vert"/>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7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93967C-DD0D-4EFD-886A-44FD2AA3DEE8}" type="datetime8">
              <a:rPr lang="fa-IR" smtClean="0">
                <a:solidFill>
                  <a:prstClr val="black">
                    <a:tint val="75000"/>
                  </a:prstClr>
                </a:solidFill>
              </a:rPr>
              <a:pPr/>
              <a:t>09 ژوئيه 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405211628"/>
      </p:ext>
    </p:extLst>
  </p:cSld>
  <p:clrMapOvr>
    <a:masterClrMapping/>
  </p:clrMapOvr>
  <p:transition spd="slow">
    <p:randomBar dir="vert"/>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BA9A2B-4596-425A-860F-1C7BE742729B}" type="datetime8">
              <a:rPr lang="fa-IR" smtClean="0">
                <a:solidFill>
                  <a:prstClr val="black">
                    <a:tint val="75000"/>
                  </a:prstClr>
                </a:solidFill>
              </a:rPr>
              <a:pPr/>
              <a:t>09 ژوئيه 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406916479"/>
      </p:ext>
    </p:extLst>
  </p:cSld>
  <p:clrMapOvr>
    <a:masterClrMapping/>
  </p:clrMapOvr>
  <p:transition spd="slow">
    <p:randomBar dir="vert"/>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21DD19-CCE8-4AD7-A0C9-82A4F0D24F78}"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538506378"/>
      </p:ext>
    </p:extLst>
  </p:cSld>
  <p:clrMapOvr>
    <a:masterClrMapping/>
  </p:clrMapOvr>
  <p:transition spd="slow">
    <p:randomBar dir="vert"/>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5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E804E-7286-4AD3-B0A3-A485BAF3659A}"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753292965"/>
      </p:ext>
    </p:extLst>
  </p:cSld>
  <p:clrMapOvr>
    <a:masterClrMapping/>
  </p:clrMapOvr>
  <p:transition spd="slow">
    <p:randomBar dir="vert"/>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10" y="32920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ounded Rectangle 9"/>
          <p:cNvSpPr/>
          <p:nvPr/>
        </p:nvSpPr>
        <p:spPr>
          <a:xfrm>
            <a:off x="41860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p>
            <a:fld id="{4D5B3F8B-B9A1-4450-8886-929BB179B691}" type="datetimeFigureOut">
              <a:rPr lang="fa-IR" smtClean="0"/>
              <a:t>26/10/1439</a:t>
            </a:fld>
            <a:endParaRPr lang="fa-IR"/>
          </a:p>
        </p:txBody>
      </p:sp>
      <p:sp>
        <p:nvSpPr>
          <p:cNvPr id="8" name="Footer Placeholder 7"/>
          <p:cNvSpPr>
            <a:spLocks noGrp="1"/>
          </p:cNvSpPr>
          <p:nvPr>
            <p:ph type="ftr" sz="quarter" idx="11"/>
          </p:nvPr>
        </p:nvSpPr>
        <p:spPr/>
        <p:txBody>
          <a:bodyPr/>
          <a:lstStyle/>
          <a:p>
            <a:endParaRPr lang="fa-IR"/>
          </a:p>
        </p:txBody>
      </p:sp>
      <p:sp>
        <p:nvSpPr>
          <p:cNvPr id="11" name="Slide Number Placeholder 10"/>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D5B3F8B-B9A1-4450-8886-929BB179B691}" type="datetimeFigureOut">
              <a:rPr lang="fa-IR" smtClean="0"/>
              <a:t>26/10/1439</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10" y="32920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ed Rectangle 10"/>
          <p:cNvSpPr/>
          <p:nvPr/>
        </p:nvSpPr>
        <p:spPr>
          <a:xfrm>
            <a:off x="418606" y="43418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D5B3F8B-B9A1-4450-8886-929BB179B691}" type="datetimeFigureOut">
              <a:rPr lang="fa-IR" smtClean="0"/>
              <a:t>26/10/1439</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D5B3F8B-B9A1-4450-8886-929BB179B691}" type="datetimeFigureOut">
              <a:rPr lang="fa-IR" smtClean="0"/>
              <a:t>26/10/1439</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D5B3F8B-B9A1-4450-8886-929BB179B691}" type="datetimeFigureOut">
              <a:rPr lang="fa-IR" smtClean="0"/>
              <a:t>26/10/1439</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D5B3F8B-B9A1-4450-8886-929BB179B691}" type="datetimeFigureOut">
              <a:rPr lang="fa-IR" smtClean="0"/>
              <a:t>26/10/1439</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10" y="32920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4D5B3F8B-B9A1-4450-8886-929BB179B691}" type="datetimeFigureOut">
              <a:rPr lang="fa-IR" smtClean="0"/>
              <a:t>26/10/1439</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D5B3F8B-B9A1-4450-8886-929BB179B691}" type="datetimeFigureOut">
              <a:rPr lang="fa-IR" smtClean="0"/>
              <a:t>26/10/1439</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10" y="32920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ound Single Corner Rectangle 10"/>
          <p:cNvSpPr/>
          <p:nvPr/>
        </p:nvSpPr>
        <p:spPr>
          <a:xfrm>
            <a:off x="640081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D5B3F8B-B9A1-4450-8886-929BB179B691}" type="datetimeFigureOut">
              <a:rPr lang="fa-IR" smtClean="0"/>
              <a:t>26/10/1439</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BD6DC92A-6D74-47C6-A4F2-FDC489DF81CB}" type="slidenum">
              <a:rPr lang="fa-IR" smtClean="0"/>
              <a:t>‹#›</a:t>
            </a:fld>
            <a:endParaRPr lang="fa-IR"/>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D5B3F8B-B9A1-4450-8886-929BB179B691}" type="datetimeFigureOut">
              <a:rPr lang="fa-IR" smtClean="0"/>
              <a:t>26/10/1439</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24"/>
            <a:ext cx="1981200" cy="5257799"/>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22"/>
            <a:ext cx="5943600" cy="525780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D5B3F8B-B9A1-4450-8886-929BB179B691}" type="datetimeFigureOut">
              <a:rPr lang="fa-IR" smtClean="0"/>
              <a:t>26/10/1439</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BD6DC92A-6D74-47C6-A4F2-FDC489DF81CB}" type="slidenum">
              <a:rPr lang="fa-IR" smtClean="0"/>
              <a:t>‹#›</a:t>
            </a:fld>
            <a:endParaRPr lang="fa-I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86795192"/>
      </p:ext>
    </p:extLst>
  </p:cSld>
  <p:clrMapOvr>
    <a:masterClrMapping/>
  </p:clrMapOvr>
  <p:transition spd="slow">
    <p:randomBar dir="vert"/>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858430"/>
      </p:ext>
    </p:extLst>
  </p:cSld>
  <p:clrMapOvr>
    <a:masterClrMapping/>
  </p:clrMapOvr>
  <p:transition spd="slow">
    <p:randomBar dir="vert"/>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87"/>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512"/>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2686530"/>
      </p:ext>
    </p:extLst>
  </p:cSld>
  <p:clrMapOvr>
    <a:masterClrMapping/>
  </p:clrMapOvr>
  <p:transition spd="slow">
    <p:randomBar dir="vert"/>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1744944"/>
      </p:ext>
    </p:extLst>
  </p:cSld>
  <p:clrMapOvr>
    <a:masterClrMapping/>
  </p:clrMapOvr>
  <p:transition spd="slow">
    <p:randomBar dir="vert"/>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9"/>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2"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452343"/>
      </p:ext>
    </p:extLst>
  </p:cSld>
  <p:clrMapOvr>
    <a:masterClrMapping/>
  </p:clrMapOvr>
  <p:transition spd="slow">
    <p:randomBar dir="vert"/>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49901092"/>
      </p:ext>
    </p:extLst>
  </p:cSld>
  <p:clrMapOvr>
    <a:masterClrMapping/>
  </p:clrMapOvr>
  <p:transition spd="slow">
    <p:randomBar dir="vert"/>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513322"/>
      </p:ext>
    </p:extLst>
  </p:cSld>
  <p:clrMapOvr>
    <a:masterClrMapping/>
  </p:clrMapOvr>
  <p:transition spd="slow">
    <p:randomBar dir="vert"/>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391" y="987474"/>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9462305"/>
      </p:ext>
    </p:extLst>
  </p:cSld>
  <p:clrMapOvr>
    <a:masterClrMapping/>
  </p:clrMapOvr>
  <p:transition spd="slow">
    <p:randomBar dir="vert"/>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391" y="987474"/>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1658878"/>
      </p:ext>
    </p:extLst>
  </p:cSld>
  <p:clrMapOvr>
    <a:masterClrMapping/>
  </p:clrMapOvr>
  <p:transition spd="slow">
    <p:randomBar dir="vert"/>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3467864"/>
      </p:ext>
    </p:extLst>
  </p:cSld>
  <p:clrMapOvr>
    <a:masterClrMapping/>
  </p:clrMapOvr>
  <p:transition spd="slow">
    <p:randomBar dir="vert"/>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26805787"/>
      </p:ext>
    </p:extLst>
  </p:cSld>
  <p:clrMapOvr>
    <a:masterClrMapping/>
  </p:clrMapOvr>
  <p:transition spd="slow">
    <p:randomBar dir="vert"/>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82"/>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263059227"/>
      </p:ext>
    </p:extLst>
  </p:cSld>
  <p:clrMapOvr>
    <a:masterClrMapping/>
  </p:clrMapOvr>
  <p:transition spd="slow">
    <p:randomBar dir="vert"/>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291491436"/>
      </p:ext>
    </p:extLst>
  </p:cSld>
  <p:clrMapOvr>
    <a:masterClrMapping/>
  </p:clrMapOvr>
  <p:transition spd="slow">
    <p:randomBar dir="vert"/>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71"/>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402511486"/>
      </p:ext>
    </p:extLst>
  </p:cSld>
  <p:clrMapOvr>
    <a:masterClrMapping/>
  </p:clrMapOvr>
  <p:transition spd="slow">
    <p:randomBar dir="vert"/>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2"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221466053"/>
      </p:ext>
    </p:extLst>
  </p:cSld>
  <p:clrMapOvr>
    <a:masterClrMapping/>
  </p:clrMapOvr>
  <p:transition spd="slow">
    <p:randomBar dir="vert"/>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33"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33" y="2737294"/>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9"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312" y="2737294"/>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829417666"/>
      </p:ext>
    </p:extLst>
  </p:cSld>
  <p:clrMapOvr>
    <a:masterClrMapping/>
  </p:clrMapOvr>
  <p:transition spd="slow">
    <p:randomBar dir="vert"/>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202915608"/>
      </p:ext>
    </p:extLst>
  </p:cSld>
  <p:clrMapOvr>
    <a:masterClrMapping/>
  </p:clrMapOvr>
  <p:transition spd="slow">
    <p:randomBar dir="vert"/>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099068731"/>
      </p:ext>
    </p:extLst>
  </p:cSld>
  <p:clrMapOvr>
    <a:masterClrMapping/>
  </p:clrMapOvr>
  <p:transition spd="slow">
    <p:randomBar dir="vert"/>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8" y="514973"/>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82874400"/>
      </p:ext>
    </p:extLst>
  </p:cSld>
  <p:clrMapOvr>
    <a:masterClrMapping/>
  </p:clrMapOvr>
  <p:transition spd="slow">
    <p:randomBar dir="vert"/>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2"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2"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478366565"/>
      </p:ext>
    </p:extLst>
  </p:cSld>
  <p:clrMapOvr>
    <a:masterClrMapping/>
  </p:clrMapOvr>
  <p:transition spd="slow">
    <p:randomBar dir="vert"/>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750031795"/>
      </p:ext>
    </p:extLst>
  </p:cSld>
  <p:clrMapOvr>
    <a:masterClrMapping/>
  </p:clrMapOvr>
  <p:transition spd="slow">
    <p:randomBar dir="vert"/>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24"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
        <p:nvSpPr>
          <p:cNvPr id="20" name="TextBox 19"/>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endParaRPr lang="en-US" dirty="0">
              <a:solidFill>
                <a:srgbClr val="90C226">
                  <a:lumMod val="60000"/>
                  <a:lumOff val="40000"/>
                </a:srgbClr>
              </a:solidFill>
              <a:latin typeface="Arial"/>
            </a:endParaRPr>
          </a:p>
        </p:txBody>
      </p:sp>
    </p:spTree>
    <p:extLst>
      <p:ext uri="{BB962C8B-B14F-4D97-AF65-F5344CB8AC3E}">
        <p14:creationId xmlns:p14="http://schemas.microsoft.com/office/powerpoint/2010/main" val="1104486455"/>
      </p:ext>
    </p:extLst>
  </p:cSld>
  <p:clrMapOvr>
    <a:masterClrMapping/>
  </p:clrMapOvr>
  <p:transition spd="slow">
    <p:randomBar dir="vert"/>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395004094"/>
      </p:ext>
    </p:extLst>
  </p:cSld>
  <p:clrMapOvr>
    <a:masterClrMapping/>
  </p:clrMapOvr>
  <p:transition spd="slow">
    <p:randomBar dir="vert"/>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24"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2329780121"/>
      </p:ext>
    </p:extLst>
  </p:cSld>
  <p:clrMapOvr>
    <a:masterClrMapping/>
  </p:clrMapOvr>
  <p:transition spd="slow">
    <p:randomBar dir="vert"/>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1"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704237398"/>
      </p:ext>
    </p:extLst>
  </p:cSld>
  <p:clrMapOvr>
    <a:masterClrMapping/>
  </p:clrMapOvr>
  <p:transition spd="slow">
    <p:randomBar dir="vert"/>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4039926034"/>
      </p:ext>
    </p:extLst>
  </p:cSld>
  <p:clrMapOvr>
    <a:masterClrMapping/>
  </p:clrMapOvr>
  <p:transition spd="slow">
    <p:randomBar dir="vert"/>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79" y="609648"/>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25"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630257713"/>
      </p:ext>
    </p:extLst>
  </p:cSld>
  <p:clrMapOvr>
    <a:masterClrMapping/>
  </p:clrMapOvr>
  <p:transition spd="slow">
    <p:randomBar dir="vert"/>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9144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80"/>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837642379"/>
      </p:ext>
    </p:extLst>
  </p:cSld>
  <p:clrMapOvr>
    <a:masterClrMapping/>
  </p:clrMapOvr>
  <p:transition spd="slow">
    <p:randomBar dir="vert"/>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2036980010"/>
      </p:ext>
    </p:extLst>
  </p:cSld>
  <p:clrMapOvr>
    <a:masterClrMapping/>
  </p:clrMapOvr>
  <p:transition spd="slow">
    <p:randomBar dir="vert"/>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71"/>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3726385946"/>
      </p:ext>
    </p:extLst>
  </p:cSld>
  <p:clrMapOvr>
    <a:masterClrMapping/>
  </p:clrMapOvr>
  <p:transition spd="slow">
    <p:randomBar dir="vert"/>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2"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2900483400"/>
      </p:ext>
    </p:extLst>
  </p:cSld>
  <p:clrMapOvr>
    <a:masterClrMapping/>
  </p:clrMapOvr>
  <p:transition spd="slow">
    <p:randomBar dir="vert"/>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32"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32" y="2737292"/>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9"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311" y="2737292"/>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390535960"/>
      </p:ext>
    </p:extLst>
  </p:cSld>
  <p:clrMapOvr>
    <a:masterClrMapping/>
  </p:clrMapOvr>
  <p:transition spd="slow">
    <p:randomBar dir="vert"/>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3040064737"/>
      </p:ext>
    </p:extLst>
  </p:cSld>
  <p:clrMapOvr>
    <a:masterClrMapping/>
  </p:clrMapOvr>
  <p:transition spd="slow">
    <p:randomBar dir="vert"/>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2277465615"/>
      </p:ext>
    </p:extLst>
  </p:cSld>
  <p:clrMapOvr>
    <a:masterClrMapping/>
  </p:clrMapOvr>
  <p:transition spd="slow">
    <p:randomBar dir="vert"/>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8" y="514971"/>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4056743195"/>
      </p:ext>
    </p:extLst>
  </p:cSld>
  <p:clrMapOvr>
    <a:masterClrMapping/>
  </p:clrMapOvr>
  <p:transition spd="slow">
    <p:randomBar dir="vert"/>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2"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2"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Tree>
    <p:extLst>
      <p:ext uri="{BB962C8B-B14F-4D97-AF65-F5344CB8AC3E}">
        <p14:creationId xmlns:p14="http://schemas.microsoft.com/office/powerpoint/2010/main" val="3205700280"/>
      </p:ext>
    </p:extLst>
  </p:cSld>
  <p:clrMapOvr>
    <a:masterClrMapping/>
  </p:clrMapOvr>
  <p:transition spd="slow">
    <p:randomBar dir="vert"/>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654343826"/>
      </p:ext>
    </p:extLst>
  </p:cSld>
  <p:clrMapOvr>
    <a:masterClrMapping/>
  </p:clrMapOvr>
  <p:transition spd="slow">
    <p:randomBar dir="vert"/>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23"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Tree>
    <p:extLst>
      <p:ext uri="{BB962C8B-B14F-4D97-AF65-F5344CB8AC3E}">
        <p14:creationId xmlns:p14="http://schemas.microsoft.com/office/powerpoint/2010/main" val="112433315"/>
      </p:ext>
    </p:extLst>
  </p:cSld>
  <p:clrMapOvr>
    <a:masterClrMapping/>
  </p:clrMapOvr>
  <p:transition spd="slow">
    <p:randomBar dir="vert"/>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3758917499"/>
      </p:ext>
    </p:extLst>
  </p:cSld>
  <p:clrMapOvr>
    <a:masterClrMapping/>
  </p:clrMapOvr>
  <p:transition spd="slow">
    <p:randomBar dir="vert"/>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23"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Tree>
    <p:extLst>
      <p:ext uri="{BB962C8B-B14F-4D97-AF65-F5344CB8AC3E}">
        <p14:creationId xmlns:p14="http://schemas.microsoft.com/office/powerpoint/2010/main" val="2309210111"/>
      </p:ext>
    </p:extLst>
  </p:cSld>
  <p:clrMapOvr>
    <a:masterClrMapping/>
  </p:clrMapOvr>
  <p:transition spd="slow">
    <p:randomBar dir="vert"/>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1"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94051843"/>
      </p:ext>
    </p:extLst>
  </p:cSld>
  <p:clrMapOvr>
    <a:masterClrMapping/>
  </p:clrMapOvr>
  <p:transition spd="slow">
    <p:randomBar dir="vert"/>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3027432135"/>
      </p:ext>
    </p:extLst>
  </p:cSld>
  <p:clrMapOvr>
    <a:masterClrMapping/>
  </p:clrMapOvr>
  <p:transition spd="slow">
    <p:randomBar dir="vert"/>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78" y="609646"/>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24"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2066849740"/>
      </p:ext>
    </p:extLst>
  </p:cSld>
  <p:clrMapOvr>
    <a:masterClrMapping/>
  </p:clrMapOvr>
  <p:transition spd="slow">
    <p:randomBar dir="vert"/>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9144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84"/>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813791320"/>
      </p:ext>
    </p:extLst>
  </p:cSld>
  <p:clrMapOvr>
    <a:masterClrMapping/>
  </p:clrMapOvr>
  <p:transition spd="slow">
    <p:randomBar dir="vert"/>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2742764919"/>
      </p:ext>
    </p:extLst>
  </p:cSld>
  <p:clrMapOvr>
    <a:masterClrMapping/>
  </p:clrMapOvr>
  <p:transition spd="slow">
    <p:randomBar dir="vert"/>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71"/>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888389554"/>
      </p:ext>
    </p:extLst>
  </p:cSld>
  <p:clrMapOvr>
    <a:masterClrMapping/>
  </p:clrMapOvr>
  <p:transition spd="slow">
    <p:randomBar dir="vert"/>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2"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2804058746"/>
      </p:ext>
    </p:extLst>
  </p:cSld>
  <p:clrMapOvr>
    <a:masterClrMapping/>
  </p:clrMapOvr>
  <p:transition spd="slow">
    <p:randomBar dir="vert"/>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34"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34" y="2737296"/>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9"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313" y="2737296"/>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814351942"/>
      </p:ext>
    </p:extLst>
  </p:cSld>
  <p:clrMapOvr>
    <a:masterClrMapping/>
  </p:clrMapOvr>
  <p:transition spd="slow">
    <p:randomBar dir="vert"/>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247025141"/>
      </p:ext>
    </p:extLst>
  </p:cSld>
  <p:clrMapOvr>
    <a:masterClrMapping/>
  </p:clrMapOvr>
  <p:transition spd="slow">
    <p:randomBar dir="vert"/>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436868519"/>
      </p:ext>
    </p:extLst>
  </p:cSld>
  <p:clrMapOvr>
    <a:masterClrMapping/>
  </p:clrMapOvr>
  <p:transition spd="slow">
    <p:randomBar dir="vert"/>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8" y="514975"/>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846306278"/>
      </p:ext>
    </p:extLst>
  </p:cSld>
  <p:clrMapOvr>
    <a:masterClrMapping/>
  </p:clrMapOvr>
  <p:transition spd="slow">
    <p:randomBar dir="vert"/>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2"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2"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Tree>
    <p:extLst>
      <p:ext uri="{BB962C8B-B14F-4D97-AF65-F5344CB8AC3E}">
        <p14:creationId xmlns:p14="http://schemas.microsoft.com/office/powerpoint/2010/main" val="1831501433"/>
      </p:ext>
    </p:extLst>
  </p:cSld>
  <p:clrMapOvr>
    <a:masterClrMapping/>
  </p:clrMapOvr>
  <p:transition spd="slow">
    <p:randomBar dir="vert"/>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644597415"/>
      </p:ext>
    </p:extLst>
  </p:cSld>
  <p:clrMapOvr>
    <a:masterClrMapping/>
  </p:clrMapOvr>
  <p:transition spd="slow">
    <p:randomBar dir="vert"/>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25"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Tree>
    <p:extLst>
      <p:ext uri="{BB962C8B-B14F-4D97-AF65-F5344CB8AC3E}">
        <p14:creationId xmlns:p14="http://schemas.microsoft.com/office/powerpoint/2010/main" val="2276051306"/>
      </p:ext>
    </p:extLst>
  </p:cSld>
  <p:clrMapOvr>
    <a:masterClrMapping/>
  </p:clrMapOvr>
  <p:transition spd="slow">
    <p:randomBar dir="vert"/>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4028543038"/>
      </p:ext>
    </p:extLst>
  </p:cSld>
  <p:clrMapOvr>
    <a:masterClrMapping/>
  </p:clrMapOvr>
  <p:transition spd="slow">
    <p:randomBar dir="vert"/>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25"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5FCBEF">
                    <a:lumMod val="60000"/>
                    <a:lumOff val="40000"/>
                  </a:srgbClr>
                </a:solidFill>
                <a:latin typeface="Arial"/>
              </a:rPr>
              <a:t>”</a:t>
            </a:r>
          </a:p>
        </p:txBody>
      </p:sp>
    </p:spTree>
    <p:extLst>
      <p:ext uri="{BB962C8B-B14F-4D97-AF65-F5344CB8AC3E}">
        <p14:creationId xmlns:p14="http://schemas.microsoft.com/office/powerpoint/2010/main" val="2456472863"/>
      </p:ext>
    </p:extLst>
  </p:cSld>
  <p:clrMapOvr>
    <a:masterClrMapping/>
  </p:clrMapOvr>
  <p:transition spd="slow">
    <p:randomBar dir="vert"/>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1"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539904250"/>
      </p:ext>
    </p:extLst>
  </p:cSld>
  <p:clrMapOvr>
    <a:masterClrMapping/>
  </p:clrMapOvr>
  <p:transition spd="slow">
    <p:randomBar dir="vert"/>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1074763557"/>
      </p:ext>
    </p:extLst>
  </p:cSld>
  <p:clrMapOvr>
    <a:masterClrMapping/>
  </p:clrMapOvr>
  <p:transition spd="slow">
    <p:randomBar dir="vert"/>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80" y="609650"/>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26"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5FCBEF"/>
                </a:solidFill>
              </a:rPr>
              <a:pPr/>
              <a:t>‹#›</a:t>
            </a:fld>
            <a:endParaRPr lang="en-US">
              <a:solidFill>
                <a:srgbClr val="5FCBEF"/>
              </a:solidFill>
            </a:endParaRPr>
          </a:p>
        </p:txBody>
      </p:sp>
    </p:spTree>
    <p:extLst>
      <p:ext uri="{BB962C8B-B14F-4D97-AF65-F5344CB8AC3E}">
        <p14:creationId xmlns:p14="http://schemas.microsoft.com/office/powerpoint/2010/main" val="3769752743"/>
      </p:ext>
    </p:extLst>
  </p:cSld>
  <p:clrMapOvr>
    <a:masterClrMapping/>
  </p:clrMapOvr>
  <p:transition spd="slow">
    <p:randomBar dir="vert"/>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76"/>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348306652"/>
      </p:ext>
    </p:extLst>
  </p:cSld>
  <p:clrMapOvr>
    <a:masterClrMapping/>
  </p:clrMapOvr>
  <p:transition spd="slow">
    <p:randomBar dir="vert"/>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22671108"/>
      </p:ext>
    </p:extLst>
  </p:cSld>
  <p:clrMapOvr>
    <a:masterClrMapping/>
  </p:clrMapOvr>
  <p:transition spd="slow">
    <p:randomBar dir="vert"/>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71"/>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92484525"/>
      </p:ext>
    </p:extLst>
  </p:cSld>
  <p:clrMapOvr>
    <a:masterClrMapping/>
  </p:clrMapOvr>
  <p:transition spd="slow">
    <p:randomBar dir="vert"/>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2"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7523850"/>
      </p:ext>
    </p:extLst>
  </p:cSld>
  <p:clrMapOvr>
    <a:masterClrMapping/>
  </p:clrMapOvr>
  <p:transition spd="slow">
    <p:randomBar dir="vert"/>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30"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30" y="2737288"/>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9"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309" y="2737288"/>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72410894"/>
      </p:ext>
    </p:extLst>
  </p:cSld>
  <p:clrMapOvr>
    <a:masterClrMapping/>
  </p:clrMapOvr>
  <p:transition spd="slow">
    <p:randomBar dir="vert"/>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953343042"/>
      </p:ext>
    </p:extLst>
  </p:cSld>
  <p:clrMapOvr>
    <a:masterClrMapping/>
  </p:clrMapOvr>
  <p:transition spd="slow">
    <p:randomBar dir="vert"/>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8968820"/>
      </p:ext>
    </p:extLst>
  </p:cSld>
  <p:clrMapOvr>
    <a:masterClrMapping/>
  </p:clrMapOvr>
  <p:transition spd="slow">
    <p:randomBar dir="vert"/>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8" y="514967"/>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074631823"/>
      </p:ext>
    </p:extLst>
  </p:cSld>
  <p:clrMapOvr>
    <a:masterClrMapping/>
  </p:clrMapOvr>
  <p:transition spd="slow">
    <p:randomBar dir="vert"/>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2"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2"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580374653"/>
      </p:ext>
    </p:extLst>
  </p:cSld>
  <p:clrMapOvr>
    <a:masterClrMapping/>
  </p:clrMapOvr>
  <p:transition spd="slow">
    <p:randomBar dir="vert"/>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434358038"/>
      </p:ext>
    </p:extLst>
  </p:cSld>
  <p:clrMapOvr>
    <a:masterClrMapping/>
  </p:clrMapOvr>
  <p:transition spd="slow">
    <p:randomBar dir="vert"/>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21"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
        <p:nvSpPr>
          <p:cNvPr id="20" name="TextBox 19"/>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p>
        </p:txBody>
      </p:sp>
      <p:sp>
        <p:nvSpPr>
          <p:cNvPr id="22" name="TextBox 21"/>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endParaRPr lang="en-US" dirty="0">
              <a:solidFill>
                <a:srgbClr val="90C226">
                  <a:lumMod val="60000"/>
                  <a:lumOff val="40000"/>
                </a:srgbClr>
              </a:solidFill>
              <a:latin typeface="Arial"/>
            </a:endParaRPr>
          </a:p>
        </p:txBody>
      </p:sp>
    </p:spTree>
    <p:extLst>
      <p:ext uri="{BB962C8B-B14F-4D97-AF65-F5344CB8AC3E}">
        <p14:creationId xmlns:p14="http://schemas.microsoft.com/office/powerpoint/2010/main" val="538113454"/>
      </p:ext>
    </p:extLst>
  </p:cSld>
  <p:clrMapOvr>
    <a:masterClrMapping/>
  </p:clrMapOvr>
  <p:transition spd="slow">
    <p:randomBar dir="vert"/>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19609249"/>
      </p:ext>
    </p:extLst>
  </p:cSld>
  <p:clrMapOvr>
    <a:masterClrMapping/>
  </p:clrMapOvr>
  <p:transition spd="slow">
    <p:randomBar dir="vert"/>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21"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377630690"/>
      </p:ext>
    </p:extLst>
  </p:cSld>
  <p:clrMapOvr>
    <a:masterClrMapping/>
  </p:clrMapOvr>
  <p:transition spd="slow">
    <p:randomBar dir="vert"/>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1"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100080283"/>
      </p:ext>
    </p:extLst>
  </p:cSld>
  <p:clrMapOvr>
    <a:masterClrMapping/>
  </p:clrMapOvr>
  <p:transition spd="slow">
    <p:randomBar dir="vert"/>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2291079363"/>
      </p:ext>
    </p:extLst>
  </p:cSld>
  <p:clrMapOvr>
    <a:masterClrMapping/>
  </p:clrMapOvr>
  <p:transition spd="slow">
    <p:randomBar dir="vert"/>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76" y="609642"/>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22"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90C226"/>
                </a:solidFill>
              </a:rPr>
              <a:pPr/>
              <a:t>‹#›</a:t>
            </a:fld>
            <a:endParaRPr lang="en-US">
              <a:solidFill>
                <a:srgbClr val="90C226"/>
              </a:solidFill>
            </a:endParaRPr>
          </a:p>
        </p:txBody>
      </p:sp>
    </p:spTree>
    <p:extLst>
      <p:ext uri="{BB962C8B-B14F-4D97-AF65-F5344CB8AC3E}">
        <p14:creationId xmlns:p14="http://schemas.microsoft.com/office/powerpoint/2010/main" val="3893061129"/>
      </p:ext>
    </p:extLst>
  </p:cSld>
  <p:clrMapOvr>
    <a:masterClrMapping/>
  </p:clrMapOvr>
  <p:transition spd="slow">
    <p:randomBar dir="vert"/>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9144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5400">
                <a:solidFill>
                  <a:schemeClr val="accent1">
                    <a:lumMod val="7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300" y="4050870"/>
            <a:ext cx="5825202"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289873514"/>
      </p:ext>
    </p:extLst>
  </p:cSld>
  <p:clrMapOvr>
    <a:masterClrMapping/>
  </p:clrMapOvr>
  <p:transition spd="slow">
    <p:randomBar dir="vert"/>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3831233852"/>
      </p:ext>
    </p:extLst>
  </p:cSld>
  <p:clrMapOvr>
    <a:masterClrMapping/>
  </p:clrMapOvr>
  <p:transition spd="slow">
    <p:randomBar dir="vert"/>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700871"/>
            <a:ext cx="6447501"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2796587284"/>
      </p:ext>
    </p:extLst>
  </p:cSld>
  <p:clrMapOvr>
    <a:masterClrMapping/>
  </p:clrMapOvr>
  <p:transition spd="slow">
    <p:randomBar dir="vert"/>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08002" y="2160589"/>
            <a:ext cx="3138026"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17477" y="2160590"/>
            <a:ext cx="3138026"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2504918778"/>
      </p:ext>
    </p:extLst>
  </p:cSld>
  <p:clrMapOvr>
    <a:masterClrMapping/>
  </p:clrMapOvr>
  <p:transition spd="slow">
    <p:randomBar dir="vert"/>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506827" y="2160983"/>
            <a:ext cx="313921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6827" y="2737282"/>
            <a:ext cx="31392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16289" y="2160983"/>
            <a:ext cx="313921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16306" y="2737282"/>
            <a:ext cx="313921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3145850388"/>
      </p:ext>
    </p:extLst>
  </p:cSld>
  <p:clrMapOvr>
    <a:masterClrMapping/>
  </p:clrMapOvr>
  <p:transition spd="slow">
    <p:randomBar dir="vert"/>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1639032839"/>
      </p:ext>
    </p:extLst>
  </p:cSld>
  <p:clrMapOvr>
    <a:masterClrMapping/>
  </p:clrMapOvr>
  <p:transition spd="slow">
    <p:randomBar dir="vert"/>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2255013071"/>
      </p:ext>
    </p:extLst>
  </p:cSld>
  <p:clrMapOvr>
    <a:masterClrMapping/>
  </p:clrMapOvr>
  <p:transition spd="slow">
    <p:randomBar dir="vert"/>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498604"/>
            <a:ext cx="2890896"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0348" y="514961"/>
            <a:ext cx="3385156"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8001" y="2777069"/>
            <a:ext cx="2890896"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834397599"/>
      </p:ext>
    </p:extLst>
  </p:cSld>
  <p:clrMapOvr>
    <a:masterClrMapping/>
  </p:clrMapOvr>
  <p:transition spd="slow">
    <p:randomBar dir="vert"/>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2" y="4800600"/>
            <a:ext cx="64475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8001" y="609600"/>
            <a:ext cx="6447501"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08002" y="5367338"/>
            <a:ext cx="6447500"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49619151"/>
      </p:ext>
    </p:extLst>
  </p:cSld>
  <p:clrMapOvr>
    <a:masterClrMapping/>
  </p:clrMapOvr>
  <p:transition spd="slow">
    <p:randomBar dir="vert"/>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609600"/>
            <a:ext cx="6447501"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1398131065"/>
      </p:ext>
    </p:extLst>
  </p:cSld>
  <p:clrMapOvr>
    <a:masterClrMapping/>
  </p:clrMapOvr>
  <p:transition spd="slow">
    <p:randomBar dir="vert"/>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18"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24604" y="3632200"/>
            <a:ext cx="5418393"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470400"/>
            <a:ext cx="6447501"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F496CB"/>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F496CB"/>
                </a:solidFill>
                <a:latin typeface="Arial"/>
              </a:rPr>
              <a:t>”</a:t>
            </a:r>
          </a:p>
        </p:txBody>
      </p:sp>
    </p:spTree>
    <p:extLst>
      <p:ext uri="{BB962C8B-B14F-4D97-AF65-F5344CB8AC3E}">
        <p14:creationId xmlns:p14="http://schemas.microsoft.com/office/powerpoint/2010/main" val="4158328206"/>
      </p:ext>
    </p:extLst>
  </p:cSld>
  <p:clrMapOvr>
    <a:masterClrMapping/>
  </p:clrMapOvr>
  <p:transition spd="slow">
    <p:randomBar dir="vert"/>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931988"/>
            <a:ext cx="6447501"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3668112582"/>
      </p:ext>
    </p:extLst>
  </p:cSld>
  <p:clrMapOvr>
    <a:masterClrMapping/>
  </p:clrMapOvr>
  <p:transition spd="slow">
    <p:randomBar dir="vert"/>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18" y="609600"/>
            <a:ext cx="6070601"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
        <p:nvSpPr>
          <p:cNvPr id="24" name="TextBox 23"/>
          <p:cNvSpPr txBox="1"/>
          <p:nvPr/>
        </p:nvSpPr>
        <p:spPr>
          <a:xfrm>
            <a:off x="406403" y="790378"/>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F496CB"/>
                </a:solidFill>
                <a:latin typeface="Arial"/>
              </a:rPr>
              <a:t>“</a:t>
            </a:r>
          </a:p>
        </p:txBody>
      </p:sp>
      <p:sp>
        <p:nvSpPr>
          <p:cNvPr id="25" name="TextBox 24"/>
          <p:cNvSpPr txBox="1"/>
          <p:nvPr/>
        </p:nvSpPr>
        <p:spPr>
          <a:xfrm>
            <a:off x="6669758" y="2886556"/>
            <a:ext cx="457200" cy="584776"/>
          </a:xfrm>
          <a:prstGeom prst="rect">
            <a:avLst/>
          </a:prstGeom>
        </p:spPr>
        <p:txBody>
          <a:bodyPr vert="horz" lIns="91440" tIns="45720" rIns="91440" bIns="45720" rtlCol="0" anchor="ctr">
            <a:noAutofit/>
          </a:bodyPr>
          <a:lstStyle/>
          <a:p>
            <a:pPr algn="l" rtl="0"/>
            <a:r>
              <a:rPr lang="en-US" sz="8000" dirty="0">
                <a:ln w="3175" cmpd="sng">
                  <a:noFill/>
                </a:ln>
                <a:solidFill>
                  <a:srgbClr val="F496CB"/>
                </a:solidFill>
                <a:latin typeface="Arial"/>
              </a:rPr>
              <a:t>”</a:t>
            </a:r>
          </a:p>
        </p:txBody>
      </p:sp>
    </p:spTree>
    <p:extLst>
      <p:ext uri="{BB962C8B-B14F-4D97-AF65-F5344CB8AC3E}">
        <p14:creationId xmlns:p14="http://schemas.microsoft.com/office/powerpoint/2010/main" val="2977177716"/>
      </p:ext>
    </p:extLst>
  </p:cSld>
  <p:clrMapOvr>
    <a:masterClrMapping/>
  </p:clrMapOvr>
  <p:transition spd="slow">
    <p:randomBar dir="vert"/>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1" y="609600"/>
            <a:ext cx="644115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507999" y="4013200"/>
            <a:ext cx="6447502"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08001" y="4527448"/>
            <a:ext cx="6447501"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3403653515"/>
      </p:ext>
    </p:extLst>
  </p:cSld>
  <p:clrMapOvr>
    <a:masterClrMapping/>
  </p:clrMapOvr>
  <p:transition spd="slow">
    <p:randomBar dir="vert"/>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539113993"/>
      </p:ext>
    </p:extLst>
  </p:cSld>
  <p:clrMapOvr>
    <a:masterClrMapping/>
  </p:clrMapOvr>
  <p:transition spd="slow">
    <p:randomBar dir="vert"/>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73" y="609636"/>
            <a:ext cx="978557"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08019" y="609600"/>
            <a:ext cx="5295113"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B6633C-3D18-4A54-8AD6-92C3EE93B0D0}"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46BF3FF-4791-47B7-A6DB-F38AF2AFB1A9}" type="slidenum">
              <a:rPr lang="en-US" smtClean="0">
                <a:solidFill>
                  <a:srgbClr val="F496CB">
                    <a:lumMod val="75000"/>
                  </a:srgbClr>
                </a:solidFill>
              </a:rPr>
              <a:pPr/>
              <a:t>‹#›</a:t>
            </a:fld>
            <a:endParaRPr lang="en-US">
              <a:solidFill>
                <a:srgbClr val="F496CB">
                  <a:lumMod val="75000"/>
                </a:srgbClr>
              </a:solidFill>
            </a:endParaRPr>
          </a:p>
        </p:txBody>
      </p:sp>
    </p:spTree>
    <p:extLst>
      <p:ext uri="{BB962C8B-B14F-4D97-AF65-F5344CB8AC3E}">
        <p14:creationId xmlns:p14="http://schemas.microsoft.com/office/powerpoint/2010/main" val="659347650"/>
      </p:ext>
    </p:extLst>
  </p:cSld>
  <p:clrMapOvr>
    <a:masterClrMapping/>
  </p:clrMapOvr>
  <p:transition spd="slow">
    <p:randomBar dir="vert"/>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fa-I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97848641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07837900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fa-I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61133195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Date Placeholder 4"/>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960031840"/>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a-I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7" name="Date Placeholder 6"/>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8" name="Footer Placeholder 7"/>
          <p:cNvSpPr>
            <a:spLocks noGrp="1"/>
          </p:cNvSpPr>
          <p:nvPr>
            <p:ph type="ftr" sz="quarter" idx="11"/>
          </p:nvPr>
        </p:nvSpPr>
        <p:spPr/>
        <p:txBody>
          <a:bodyPr/>
          <a:lstStyle/>
          <a:p>
            <a:endParaRPr lang="fa-IR">
              <a:solidFill>
                <a:prstClr val="black">
                  <a:tint val="75000"/>
                </a:prstClr>
              </a:solidFill>
            </a:endParaRPr>
          </a:p>
        </p:txBody>
      </p:sp>
      <p:sp>
        <p:nvSpPr>
          <p:cNvPr id="9" name="Slide Number Placeholder 8"/>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863619234"/>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Date Placeholder 2"/>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4" name="Footer Placeholder 3"/>
          <p:cNvSpPr>
            <a:spLocks noGrp="1"/>
          </p:cNvSpPr>
          <p:nvPr>
            <p:ph type="ftr" sz="quarter" idx="11"/>
          </p:nvPr>
        </p:nvSpPr>
        <p:spPr/>
        <p:txBody>
          <a:bodyPr/>
          <a:lstStyle/>
          <a:p>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823620956"/>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3" name="Footer Placeholder 2"/>
          <p:cNvSpPr>
            <a:spLocks noGrp="1"/>
          </p:cNvSpPr>
          <p:nvPr>
            <p:ph type="ftr" sz="quarter" idx="11"/>
          </p:nvPr>
        </p:nvSpPr>
        <p:spPr/>
        <p:txBody>
          <a:bodyPr/>
          <a:lstStyle/>
          <a:p>
            <a:endParaRPr lang="fa-IR">
              <a:solidFill>
                <a:prstClr val="black">
                  <a:tint val="75000"/>
                </a:prstClr>
              </a:solidFill>
            </a:endParaRPr>
          </a:p>
        </p:txBody>
      </p:sp>
      <p:sp>
        <p:nvSpPr>
          <p:cNvPr id="4" name="Slide Number Placeholder 3"/>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577215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fa-I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0652209"/>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fa-I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103397501"/>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744089976"/>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fa-I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59764227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ound Diagonal Corner Rectangle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
        <p:nvSpPr>
          <p:cNvPr id="8" name="Title 7"/>
          <p:cNvSpPr>
            <a:spLocks noGrp="1"/>
          </p:cNvSpPr>
          <p:nvPr>
            <p:ph type="ctrTitle"/>
          </p:nvPr>
        </p:nvSpPr>
        <p:spPr>
          <a:xfrm>
            <a:off x="464234" y="381001"/>
            <a:ext cx="8229600" cy="2209800"/>
          </a:xfrm>
        </p:spPr>
        <p:txBody>
          <a:bodyPr lIns="45720" rIns="228600" anchor="b">
            <a:normAutofit/>
          </a:bodyPr>
          <a:lstStyle>
            <a:lvl1pPr marL="0" algn="r">
              <a:defRPr sz="4800"/>
            </a:lvl1pPr>
            <a:extLst/>
          </a:lstStyle>
          <a:p>
            <a:r>
              <a:rPr kumimoji="0" lang="en-US" smtClean="0"/>
              <a:t>Click to edit Master title style</a:t>
            </a:r>
            <a:endParaRPr kumimoji="0" lang="en-US"/>
          </a:p>
        </p:txBody>
      </p:sp>
      <p:sp>
        <p:nvSpPr>
          <p:cNvPr id="9" name="Subtitle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0" name="Date Placeholder 9"/>
          <p:cNvSpPr>
            <a:spLocks noGrp="1"/>
          </p:cNvSpPr>
          <p:nvPr>
            <p:ph type="dt" sz="half" idx="10"/>
          </p:nvPr>
        </p:nvSpPr>
        <p:spPr>
          <a:xfrm>
            <a:off x="5562600" y="6509004"/>
            <a:ext cx="3002280" cy="274320"/>
          </a:xfrm>
        </p:spPr>
        <p:txBody>
          <a:bodyPr vert="horz" rtlCol="0"/>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11" name="Slide Number Placeholder 10"/>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12" name="Footer Placeholder 11"/>
          <p:cNvSpPr>
            <a:spLocks noGrp="1"/>
          </p:cNvSpPr>
          <p:nvPr>
            <p:ph type="ftr" sz="quarter" idx="12"/>
          </p:nvPr>
        </p:nvSpPr>
        <p:spPr>
          <a:xfrm>
            <a:off x="1600200" y="6509004"/>
            <a:ext cx="3907464" cy="274320"/>
          </a:xfrm>
        </p:spPr>
        <p:txBody>
          <a:bodyPr vert="horz" rtlCol="0"/>
          <a:lstStyle/>
          <a:p>
            <a:endParaRPr lang="fa-IR">
              <a:solidFill>
                <a:srgbClr val="675E47">
                  <a:tint val="60000"/>
                  <a:satMod val="155000"/>
                </a:srgbClr>
              </a:solidFill>
            </a:endParaRPr>
          </a:p>
        </p:txBody>
      </p:sp>
    </p:spTree>
    <p:extLst>
      <p:ext uri="{BB962C8B-B14F-4D97-AF65-F5344CB8AC3E}">
        <p14:creationId xmlns:p14="http://schemas.microsoft.com/office/powerpoint/2010/main" val="1311451015"/>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5" name="Footer Placeholder 4"/>
          <p:cNvSpPr>
            <a:spLocks noGrp="1"/>
          </p:cNvSpPr>
          <p:nvPr>
            <p:ph type="ftr" sz="quarter" idx="11"/>
          </p:nvPr>
        </p:nvSpPr>
        <p:spPr/>
        <p:txBody>
          <a:bodyPr/>
          <a:lstStyle/>
          <a:p>
            <a:endParaRPr lang="fa-IR">
              <a:solidFill>
                <a:srgbClr val="675E47">
                  <a:tint val="60000"/>
                  <a:satMod val="155000"/>
                </a:srgb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Tree>
    <p:extLst>
      <p:ext uri="{BB962C8B-B14F-4D97-AF65-F5344CB8AC3E}">
        <p14:creationId xmlns:p14="http://schemas.microsoft.com/office/powerpoint/2010/main" val="1080437645"/>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p:cNvSpPr/>
          <p:nvPr/>
        </p:nvSpPr>
        <p:spPr>
          <a:xfrm>
            <a:off x="1000128" y="3267456"/>
            <a:ext cx="74066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
        <p:nvSpPr>
          <p:cNvPr id="2" name="Title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287713"/>
            <a:ext cx="77724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a:xfrm>
            <a:off x="5562600" y="6513670"/>
            <a:ext cx="3002280" cy="274320"/>
          </a:xfrm>
        </p:spPr>
        <p:txBody>
          <a:bodyPr vert="horz" rtlCol="0"/>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9" name="Slide Number Placeholder 8"/>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10" name="Footer Placeholder 9"/>
          <p:cNvSpPr>
            <a:spLocks noGrp="1"/>
          </p:cNvSpPr>
          <p:nvPr>
            <p:ph type="ftr" sz="quarter" idx="12"/>
          </p:nvPr>
        </p:nvSpPr>
        <p:spPr>
          <a:xfrm>
            <a:off x="1600200" y="6513670"/>
            <a:ext cx="3907464" cy="274320"/>
          </a:xfrm>
        </p:spPr>
        <p:txBody>
          <a:bodyPr vert="horz" rtlCol="0"/>
          <a:lstStyle/>
          <a:p>
            <a:endParaRPr lang="fa-IR">
              <a:solidFill>
                <a:srgbClr val="675E47">
                  <a:tint val="60000"/>
                  <a:satMod val="155000"/>
                </a:srgbClr>
              </a:solidFill>
            </a:endParaRPr>
          </a:p>
        </p:txBody>
      </p:sp>
    </p:spTree>
    <p:extLst>
      <p:ext uri="{BB962C8B-B14F-4D97-AF65-F5344CB8AC3E}">
        <p14:creationId xmlns:p14="http://schemas.microsoft.com/office/powerpoint/2010/main" val="927598119"/>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6" name="Footer Placeholder 5"/>
          <p:cNvSpPr>
            <a:spLocks noGrp="1"/>
          </p:cNvSpPr>
          <p:nvPr>
            <p:ph type="ftr" sz="quarter" idx="11"/>
          </p:nvPr>
        </p:nvSpPr>
        <p:spPr/>
        <p:txBody>
          <a:bodyPr/>
          <a:lstStyle/>
          <a:p>
            <a:endParaRPr lang="fa-IR">
              <a:solidFill>
                <a:srgbClr val="675E47">
                  <a:tint val="60000"/>
                  <a:satMod val="155000"/>
                </a:srgbClr>
              </a:solidFill>
            </a:endParaRPr>
          </a:p>
        </p:txBody>
      </p:sp>
      <p:sp>
        <p:nvSpPr>
          <p:cNvPr id="7" name="Slide Number Placeholder 6"/>
          <p:cNvSpPr>
            <a:spLocks noGrp="1"/>
          </p:cNvSpPr>
          <p:nvPr>
            <p:ph type="sldNum" sz="quarter" idx="12"/>
          </p:nvPr>
        </p:nvSpPr>
        <p:spPr>
          <a:xfrm>
            <a:off x="8641080" y="6514568"/>
            <a:ext cx="464288" cy="274320"/>
          </a:xfrm>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10" name="Rectangle 9"/>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Tree>
    <p:extLst>
      <p:ext uri="{BB962C8B-B14F-4D97-AF65-F5344CB8AC3E}">
        <p14:creationId xmlns:p14="http://schemas.microsoft.com/office/powerpoint/2010/main" val="412784873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616744"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a:endParaRPr lang="en-US">
              <a:solidFill>
                <a:srgbClr val="FFFFFF"/>
              </a:solidFill>
            </a:endParaRPr>
          </a:p>
        </p:txBody>
      </p:sp>
      <p:sp>
        <p:nvSpPr>
          <p:cNvPr id="11" name="Rectangle 10"/>
          <p:cNvSpPr/>
          <p:nvPr/>
        </p:nvSpPr>
        <p:spPr>
          <a:xfrm>
            <a:off x="4800600"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a:endParaRPr lang="en-US">
              <a:solidFill>
                <a:srgbClr val="FFFFFF"/>
              </a:solidFill>
            </a:endParaRPr>
          </a:p>
        </p:txBody>
      </p:sp>
      <p:sp>
        <p:nvSpPr>
          <p:cNvPr id="2" name="Title 1"/>
          <p:cNvSpPr>
            <a:spLocks noGrp="1"/>
          </p:cNvSpPr>
          <p:nvPr>
            <p:ph type="title"/>
          </p:nvPr>
        </p:nvSpPr>
        <p:spPr>
          <a:xfrm>
            <a:off x="457200" y="251948"/>
            <a:ext cx="8229600"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8" name="Footer Placeholder 7"/>
          <p:cNvSpPr>
            <a:spLocks noGrp="1"/>
          </p:cNvSpPr>
          <p:nvPr>
            <p:ph type="ftr" sz="quarter" idx="11"/>
          </p:nvPr>
        </p:nvSpPr>
        <p:spPr/>
        <p:txBody>
          <a:bodyPr/>
          <a:lstStyle/>
          <a:p>
            <a:endParaRPr lang="fa-IR">
              <a:solidFill>
                <a:srgbClr val="675E47">
                  <a:tint val="60000"/>
                  <a:satMod val="155000"/>
                </a:srgbClr>
              </a:solidFill>
            </a:endParaRPr>
          </a:p>
        </p:txBody>
      </p:sp>
      <p:sp>
        <p:nvSpPr>
          <p:cNvPr id="9" name="Slide Number Placeholder 8"/>
          <p:cNvSpPr>
            <a:spLocks noGrp="1"/>
          </p:cNvSpPr>
          <p:nvPr>
            <p:ph type="sldNum" sz="quarter" idx="12"/>
          </p:nvPr>
        </p:nvSpPr>
        <p:spPr>
          <a:xfrm>
            <a:off x="8641080" y="6514568"/>
            <a:ext cx="464288" cy="274320"/>
          </a:xfrm>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Tree>
    <p:extLst>
      <p:ext uri="{BB962C8B-B14F-4D97-AF65-F5344CB8AC3E}">
        <p14:creationId xmlns:p14="http://schemas.microsoft.com/office/powerpoint/2010/main" val="99384858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53218"/>
            <a:ext cx="8229600" cy="11430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4" name="Footer Placeholder 3"/>
          <p:cNvSpPr>
            <a:spLocks noGrp="1"/>
          </p:cNvSpPr>
          <p:nvPr>
            <p:ph type="ftr" sz="quarter" idx="11"/>
          </p:nvPr>
        </p:nvSpPr>
        <p:spPr/>
        <p:txBody>
          <a:bodyPr/>
          <a:lstStyle/>
          <a:p>
            <a:endParaRPr lang="fa-IR">
              <a:solidFill>
                <a:srgbClr val="675E47">
                  <a:tint val="60000"/>
                  <a:satMod val="155000"/>
                </a:srgbClr>
              </a:solidFill>
            </a:endParaRPr>
          </a:p>
        </p:txBody>
      </p:sp>
      <p:sp>
        <p:nvSpPr>
          <p:cNvPr id="5" name="Slide Number Placeholder 4"/>
          <p:cNvSpPr>
            <a:spLocks noGrp="1"/>
          </p:cNvSpPr>
          <p:nvPr>
            <p:ph type="sldNum" sz="quarter" idx="12"/>
          </p:nvPr>
        </p:nvSpPr>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7" name="Rectangle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Tree>
    <p:extLst>
      <p:ext uri="{BB962C8B-B14F-4D97-AF65-F5344CB8AC3E}">
        <p14:creationId xmlns:p14="http://schemas.microsoft.com/office/powerpoint/2010/main" val="403811935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3" name="Footer Placeholder 2"/>
          <p:cNvSpPr>
            <a:spLocks noGrp="1"/>
          </p:cNvSpPr>
          <p:nvPr>
            <p:ph type="ftr" sz="quarter" idx="11"/>
          </p:nvPr>
        </p:nvSpPr>
        <p:spPr/>
        <p:txBody>
          <a:bodyPr/>
          <a:lstStyle/>
          <a:p>
            <a:endParaRPr lang="fa-IR">
              <a:solidFill>
                <a:srgbClr val="675E47">
                  <a:tint val="60000"/>
                  <a:satMod val="155000"/>
                </a:srgbClr>
              </a:solidFill>
            </a:endParaRPr>
          </a:p>
        </p:txBody>
      </p:sp>
      <p:sp>
        <p:nvSpPr>
          <p:cNvPr id="4" name="Slide Number Placeholder 3"/>
          <p:cNvSpPr>
            <a:spLocks noGrp="1"/>
          </p:cNvSpPr>
          <p:nvPr>
            <p:ph type="sldNum" sz="quarter" idx="12"/>
          </p:nvPr>
        </p:nvSpPr>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Tree>
    <p:extLst>
      <p:ext uri="{BB962C8B-B14F-4D97-AF65-F5344CB8AC3E}">
        <p14:creationId xmlns:p14="http://schemas.microsoft.com/office/powerpoint/2010/main" val="106940548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5057552" y="105765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
        <p:nvSpPr>
          <p:cNvPr id="2" name="Title 1"/>
          <p:cNvSpPr>
            <a:spLocks noGrp="1"/>
          </p:cNvSpPr>
          <p:nvPr>
            <p:ph type="title"/>
          </p:nvPr>
        </p:nvSpPr>
        <p:spPr>
          <a:xfrm>
            <a:off x="4963136" y="304800"/>
            <a:ext cx="3931920" cy="762000"/>
          </a:xfrm>
        </p:spPr>
        <p:txBody>
          <a:bodyPr anchor="b"/>
          <a:lstStyle>
            <a:lvl1pPr marL="0" algn="r">
              <a:buNone/>
              <a:defRPr sz="2000" b="1"/>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9" name="Date Placeholder 8"/>
          <p:cNvSpPr>
            <a:spLocks noGrp="1"/>
          </p:cNvSpPr>
          <p:nvPr>
            <p:ph type="dt" sz="half" idx="10"/>
          </p:nvPr>
        </p:nvSpPr>
        <p:spPr>
          <a:xfrm>
            <a:off x="5562600" y="6513670"/>
            <a:ext cx="3002280" cy="274320"/>
          </a:xfrm>
        </p:spPr>
        <p:txBody>
          <a:bodyPr vert="horz" rtlCol="0"/>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10" name="Slide Number Placeholder 9"/>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11" name="Footer Placeholder 10"/>
          <p:cNvSpPr>
            <a:spLocks noGrp="1"/>
          </p:cNvSpPr>
          <p:nvPr>
            <p:ph type="ftr" sz="quarter" idx="12"/>
          </p:nvPr>
        </p:nvSpPr>
        <p:spPr>
          <a:xfrm>
            <a:off x="1600200" y="6513670"/>
            <a:ext cx="3907464" cy="274320"/>
          </a:xfrm>
        </p:spPr>
        <p:txBody>
          <a:bodyPr vert="horz" rtlCol="0"/>
          <a:lstStyle/>
          <a:p>
            <a:endParaRPr lang="fa-IR">
              <a:solidFill>
                <a:srgbClr val="675E47">
                  <a:tint val="60000"/>
                  <a:satMod val="155000"/>
                </a:srgbClr>
              </a:solidFill>
            </a:endParaRPr>
          </a:p>
        </p:txBody>
      </p:sp>
    </p:spTree>
    <p:extLst>
      <p:ext uri="{BB962C8B-B14F-4D97-AF65-F5344CB8AC3E}">
        <p14:creationId xmlns:p14="http://schemas.microsoft.com/office/powerpoint/2010/main" val="2834337161"/>
      </p:ext>
    </p:extLst>
  </p:cSld>
  <p:clrMapOvr>
    <a:overrideClrMapping bg1="dk1" tx1="lt1" bg2="dk2" tx2="lt2" accent1="accent1" accent2="accent2" accent3="accent3" accent4="accent4" accent5="accent5" accent6="accent6" hlink="hlink" folHlink="folHlink"/>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0443" y="4724400"/>
            <a:ext cx="5486400" cy="664536"/>
          </a:xfrm>
        </p:spPr>
        <p:txBody>
          <a:bodyPr anchor="b"/>
          <a:lstStyle>
            <a:lvl1pPr marL="0" algn="r">
              <a:buNone/>
              <a:defRPr sz="2000" b="1"/>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13" name="Picture Placeholder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extLst/>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8" name="Date Placeholder 7"/>
          <p:cNvSpPr>
            <a:spLocks noGrp="1"/>
          </p:cNvSpPr>
          <p:nvPr>
            <p:ph type="dt" sz="half" idx="10"/>
          </p:nvPr>
        </p:nvSpPr>
        <p:spPr>
          <a:xfrm>
            <a:off x="5562600" y="6509004"/>
            <a:ext cx="3002280" cy="274320"/>
          </a:xfrm>
        </p:spPr>
        <p:txBody>
          <a:bodyPr vert="horz" rtlCol="0"/>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9" name="Slide Number Placeholder 8"/>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10" name="Footer Placeholder 9"/>
          <p:cNvSpPr>
            <a:spLocks noGrp="1"/>
          </p:cNvSpPr>
          <p:nvPr>
            <p:ph type="ftr" sz="quarter" idx="12"/>
          </p:nvPr>
        </p:nvSpPr>
        <p:spPr>
          <a:xfrm>
            <a:off x="1600200" y="6509004"/>
            <a:ext cx="3907464" cy="274320"/>
          </a:xfrm>
        </p:spPr>
        <p:txBody>
          <a:bodyPr vert="horz" rtlCol="0"/>
          <a:lstStyle/>
          <a:p>
            <a:endParaRPr lang="fa-IR">
              <a:solidFill>
                <a:srgbClr val="675E47">
                  <a:tint val="60000"/>
                  <a:satMod val="155000"/>
                </a:srgbClr>
              </a:solidFill>
            </a:endParaRPr>
          </a:p>
        </p:txBody>
      </p:sp>
    </p:spTree>
    <p:extLst>
      <p:ext uri="{BB962C8B-B14F-4D97-AF65-F5344CB8AC3E}">
        <p14:creationId xmlns:p14="http://schemas.microsoft.com/office/powerpoint/2010/main" val="2642767492"/>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5" name="Footer Placeholder 4"/>
          <p:cNvSpPr>
            <a:spLocks noGrp="1"/>
          </p:cNvSpPr>
          <p:nvPr>
            <p:ph type="ftr" sz="quarter" idx="11"/>
          </p:nvPr>
        </p:nvSpPr>
        <p:spPr/>
        <p:txBody>
          <a:bodyPr/>
          <a:lstStyle/>
          <a:p>
            <a:endParaRPr lang="fa-IR">
              <a:solidFill>
                <a:srgbClr val="675E47">
                  <a:tint val="60000"/>
                  <a:satMod val="155000"/>
                </a:srgb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Tree>
    <p:extLst>
      <p:ext uri="{BB962C8B-B14F-4D97-AF65-F5344CB8AC3E}">
        <p14:creationId xmlns:p14="http://schemas.microsoft.com/office/powerpoint/2010/main" val="378429918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lgn="l">
              <a:defRPr/>
            </a:lvl1pPr>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5" name="Footer Placeholder 4"/>
          <p:cNvSpPr>
            <a:spLocks noGrp="1"/>
          </p:cNvSpPr>
          <p:nvPr>
            <p:ph type="ftr" sz="quarter" idx="11"/>
          </p:nvPr>
        </p:nvSpPr>
        <p:spPr/>
        <p:txBody>
          <a:bodyPr/>
          <a:lstStyle/>
          <a:p>
            <a:endParaRPr lang="fa-IR">
              <a:solidFill>
                <a:srgbClr val="675E47">
                  <a:tint val="60000"/>
                  <a:satMod val="155000"/>
                </a:srgb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Tree>
    <p:extLst>
      <p:ext uri="{BB962C8B-B14F-4D97-AF65-F5344CB8AC3E}">
        <p14:creationId xmlns:p14="http://schemas.microsoft.com/office/powerpoint/2010/main" val="4085887919"/>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fa-I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a-IR"/>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21329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93076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fa-I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87581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Date Placeholder 4"/>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394231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a-I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7" name="Date Placeholder 6"/>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371875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Date Placeholder 2"/>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4016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7826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fa-I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726024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fa-I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951812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242416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fa-I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8DB72B93-ECF2-4AB6-A49F-59C004D13FEB}"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952AF9FC-DE54-4A7E-A086-4442728DCD5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06764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303060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92424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90259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425627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23047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91258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008339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465361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3013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549080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CDCD38-F5CD-4713-A209-455D315A717E}" type="datetimeFigureOut">
              <a:rPr lang="en-US" smtClean="0">
                <a:solidFill>
                  <a:prstClr val="black">
                    <a:tint val="75000"/>
                  </a:prstClr>
                </a:solidFill>
              </a:rPr>
              <a:pPr/>
              <a:t>7/9/2018</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619BF10D-6A18-48BE-A6D7-CB59C1C28287}"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04325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5999C54-6A03-4E1F-BCAC-4C9C31A66B21}"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02ECD18F-6B69-4987-AF6E-2F0B2DB25902}" type="slidenum">
              <a:rPr lang="fa-IR"/>
              <a:pPr>
                <a:defRPr/>
              </a:pPr>
              <a:t>‹#›</a:t>
            </a:fld>
            <a:endParaRPr lang="fa-IR"/>
          </a:p>
        </p:txBody>
      </p:sp>
    </p:spTree>
    <p:extLst>
      <p:ext uri="{BB962C8B-B14F-4D97-AF65-F5344CB8AC3E}">
        <p14:creationId xmlns:p14="http://schemas.microsoft.com/office/powerpoint/2010/main" val="39348244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F21AAFDB-0891-4C80-A0F9-E03EB09424ED}"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2CCB2973-C8E5-4343-A490-D6BF3898E0D0}" type="slidenum">
              <a:rPr lang="fa-IR"/>
              <a:pPr>
                <a:defRPr/>
              </a:pPr>
              <a:t>‹#›</a:t>
            </a:fld>
            <a:endParaRPr lang="fa-IR"/>
          </a:p>
        </p:txBody>
      </p:sp>
    </p:spTree>
    <p:extLst>
      <p:ext uri="{BB962C8B-B14F-4D97-AF65-F5344CB8AC3E}">
        <p14:creationId xmlns:p14="http://schemas.microsoft.com/office/powerpoint/2010/main" val="19394589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616FE924-7AB6-4507-84C4-9943ED62B2A2}"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D6D8DB5-6B67-48BF-80E3-FD832B83A73C}" type="slidenum">
              <a:rPr lang="fa-IR"/>
              <a:pPr>
                <a:defRPr/>
              </a:pPr>
              <a:t>‹#›</a:t>
            </a:fld>
            <a:endParaRPr lang="fa-IR"/>
          </a:p>
        </p:txBody>
      </p:sp>
    </p:spTree>
    <p:extLst>
      <p:ext uri="{BB962C8B-B14F-4D97-AF65-F5344CB8AC3E}">
        <p14:creationId xmlns:p14="http://schemas.microsoft.com/office/powerpoint/2010/main" val="28058781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FBAF1923-9EE9-4EEE-A4BE-D3A6DC9FFE10}"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AA8AFA6F-59F0-4B3A-B314-F1AF6388ACEA}" type="slidenum">
              <a:rPr lang="fa-IR"/>
              <a:pPr>
                <a:defRPr/>
              </a:pPr>
              <a:t>‹#›</a:t>
            </a:fld>
            <a:endParaRPr lang="fa-IR"/>
          </a:p>
        </p:txBody>
      </p:sp>
    </p:spTree>
    <p:extLst>
      <p:ext uri="{BB962C8B-B14F-4D97-AF65-F5344CB8AC3E}">
        <p14:creationId xmlns:p14="http://schemas.microsoft.com/office/powerpoint/2010/main" val="9383480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8198D512-2844-41FD-88D4-6A867DDD9869}" type="datetime8">
              <a:rPr lang="fa-IR"/>
              <a:pPr>
                <a:defRPr/>
              </a:pPr>
              <a:t>09 ژوئيه 18</a:t>
            </a:fld>
            <a:endParaRPr lang="fa-IR"/>
          </a:p>
        </p:txBody>
      </p:sp>
      <p:sp>
        <p:nvSpPr>
          <p:cNvPr id="8" name="Footer Placeholder 7"/>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9" name="Slide Number Placeholder 8"/>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003DA70B-CDC8-4ECF-9FE2-9B3EF0827432}" type="slidenum">
              <a:rPr lang="fa-IR"/>
              <a:pPr>
                <a:defRPr/>
              </a:pPr>
              <a:t>‹#›</a:t>
            </a:fld>
            <a:endParaRPr lang="fa-IR"/>
          </a:p>
        </p:txBody>
      </p:sp>
    </p:spTree>
    <p:extLst>
      <p:ext uri="{BB962C8B-B14F-4D97-AF65-F5344CB8AC3E}">
        <p14:creationId xmlns:p14="http://schemas.microsoft.com/office/powerpoint/2010/main" val="41888188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7A45557-F99E-45B9-8F71-3D66052D9B53}" type="datetime8">
              <a:rPr lang="fa-IR"/>
              <a:pPr>
                <a:defRPr/>
              </a:pPr>
              <a:t>09 ژوئيه 18</a:t>
            </a:fld>
            <a:endParaRPr lang="fa-IR"/>
          </a:p>
        </p:txBody>
      </p:sp>
      <p:sp>
        <p:nvSpPr>
          <p:cNvPr id="4" name="Footer Placeholder 3"/>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5" name="Slide Number Placeholder 4"/>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B00A331A-FA13-4A5B-80A4-1AC44B998EFA}" type="slidenum">
              <a:rPr lang="fa-IR"/>
              <a:pPr>
                <a:defRPr/>
              </a:pPr>
              <a:t>‹#›</a:t>
            </a:fld>
            <a:endParaRPr lang="fa-IR"/>
          </a:p>
        </p:txBody>
      </p:sp>
    </p:spTree>
    <p:extLst>
      <p:ext uri="{BB962C8B-B14F-4D97-AF65-F5344CB8AC3E}">
        <p14:creationId xmlns:p14="http://schemas.microsoft.com/office/powerpoint/2010/main" val="17731777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EFEFD3D-431E-4A41-8A8B-30C8DE8B6B15}" type="datetime8">
              <a:rPr lang="fa-IR"/>
              <a:pPr>
                <a:defRPr/>
              </a:pPr>
              <a:t>09 ژوئيه 18</a:t>
            </a:fld>
            <a:endParaRPr lang="fa-IR"/>
          </a:p>
        </p:txBody>
      </p:sp>
      <p:sp>
        <p:nvSpPr>
          <p:cNvPr id="3" name="Footer Placeholder 2"/>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4" name="Slide Number Placeholder 3"/>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7C868ACF-4C33-4351-BA61-2E209561C503}" type="slidenum">
              <a:rPr lang="fa-IR"/>
              <a:pPr>
                <a:defRPr/>
              </a:pPr>
              <a:t>‹#›</a:t>
            </a:fld>
            <a:endParaRPr lang="fa-IR"/>
          </a:p>
        </p:txBody>
      </p:sp>
    </p:spTree>
    <p:extLst>
      <p:ext uri="{BB962C8B-B14F-4D97-AF65-F5344CB8AC3E}">
        <p14:creationId xmlns:p14="http://schemas.microsoft.com/office/powerpoint/2010/main" val="400702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452CB7F8-B733-4593-870A-7423007A75F7}"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41508A3-5DA1-4940-8045-5A49F7B3142F}" type="slidenum">
              <a:rPr lang="fa-IR"/>
              <a:pPr>
                <a:defRPr/>
              </a:pPr>
              <a:t>‹#›</a:t>
            </a:fld>
            <a:endParaRPr lang="fa-IR"/>
          </a:p>
        </p:txBody>
      </p:sp>
    </p:spTree>
    <p:extLst>
      <p:ext uri="{BB962C8B-B14F-4D97-AF65-F5344CB8AC3E}">
        <p14:creationId xmlns:p14="http://schemas.microsoft.com/office/powerpoint/2010/main" val="11345181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46A5CC91-72BA-424C-8BE9-20600531F090}"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92D24326-9E8A-4534-90D2-162B595BEE81}" type="slidenum">
              <a:rPr lang="fa-IR"/>
              <a:pPr>
                <a:defRPr/>
              </a:pPr>
              <a:t>‹#›</a:t>
            </a:fld>
            <a:endParaRPr lang="fa-IR"/>
          </a:p>
        </p:txBody>
      </p:sp>
    </p:spTree>
    <p:extLst>
      <p:ext uri="{BB962C8B-B14F-4D97-AF65-F5344CB8AC3E}">
        <p14:creationId xmlns:p14="http://schemas.microsoft.com/office/powerpoint/2010/main" val="3692222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7A9A3F15-8EAB-4CD1-B54B-2BCD9F05F634}"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A6584370-2268-44AE-BA84-B584F0A21119}" type="slidenum">
              <a:rPr lang="fa-IR"/>
              <a:pPr>
                <a:defRPr/>
              </a:pPr>
              <a:t>‹#›</a:t>
            </a:fld>
            <a:endParaRPr lang="fa-IR"/>
          </a:p>
        </p:txBody>
      </p:sp>
    </p:spTree>
    <p:extLst>
      <p:ext uri="{BB962C8B-B14F-4D97-AF65-F5344CB8AC3E}">
        <p14:creationId xmlns:p14="http://schemas.microsoft.com/office/powerpoint/2010/main" val="10346962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62221919-B383-4FD3-AAD9-F26143A61400}"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8640C0E-9E77-478F-9260-011065A09F9F}" type="slidenum">
              <a:rPr lang="fa-IR"/>
              <a:pPr>
                <a:defRPr/>
              </a:pPr>
              <a:t>‹#›</a:t>
            </a:fld>
            <a:endParaRPr lang="fa-IR"/>
          </a:p>
        </p:txBody>
      </p:sp>
    </p:spTree>
    <p:extLst>
      <p:ext uri="{BB962C8B-B14F-4D97-AF65-F5344CB8AC3E}">
        <p14:creationId xmlns:p14="http://schemas.microsoft.com/office/powerpoint/2010/main" val="29517644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837199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5818517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5984814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3157572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fa-IR">
              <a:solidFill>
                <a:prstClr val="black">
                  <a:tint val="75000"/>
                </a:prstClr>
              </a:solidFill>
            </a:endParaRPr>
          </a:p>
        </p:txBody>
      </p:sp>
      <p:sp>
        <p:nvSpPr>
          <p:cNvPr id="8" name="Footer Placeholder 7"/>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9" name="Slide Number Placeholder 8"/>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7582409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fa-IR">
              <a:solidFill>
                <a:prstClr val="black">
                  <a:tint val="75000"/>
                </a:prstClr>
              </a:solidFill>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41188288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a-IR">
              <a:solidFill>
                <a:prstClr val="black">
                  <a:tint val="75000"/>
                </a:prstClr>
              </a:solidFill>
            </a:endParaRPr>
          </a:p>
        </p:txBody>
      </p:sp>
      <p:sp>
        <p:nvSpPr>
          <p:cNvPr id="3" name="Footer Placeholder 2"/>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4" name="Slide Number Placeholder 3"/>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806245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9778297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2186233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8678947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5111749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6D5A85-D3DB-432E-A690-10DADCD94A68}"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289985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2BB981-0A91-4A03-B5DE-9C6FF2522335}"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2219580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2FCB7F-EA6C-41D7-A376-55F2391DAE01}"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6679981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78D99F3-97BE-4C02-8EE6-7921E651C659}" type="datetime8">
              <a:rPr lang="fa-IR" smtClean="0">
                <a:solidFill>
                  <a:prstClr val="black">
                    <a:tint val="75000"/>
                  </a:prstClr>
                </a:solidFill>
              </a:rPr>
              <a:pPr/>
              <a:t>09 ژوئيه 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68479024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50FCBF-4417-43BB-A890-825BE4A230E0}" type="datetime8">
              <a:rPr lang="fa-IR" smtClean="0">
                <a:solidFill>
                  <a:prstClr val="black">
                    <a:tint val="75000"/>
                  </a:prstClr>
                </a:solidFill>
              </a:rPr>
              <a:pPr/>
              <a:t>09 ژوئيه 18</a:t>
            </a:fld>
            <a:endParaRPr lang="fa-IR">
              <a:solidFill>
                <a:prstClr val="black">
                  <a:tint val="75000"/>
                </a:prstClr>
              </a:solidFill>
            </a:endParaRPr>
          </a:p>
        </p:txBody>
      </p:sp>
      <p:sp>
        <p:nvSpPr>
          <p:cNvPr id="8" name="Footer Placeholder 7"/>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9" name="Slide Number Placeholder 8"/>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8831098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B64A8F-CB3A-4D8C-9190-CAB33FAD4A07}" type="datetime8">
              <a:rPr lang="fa-IR" smtClean="0">
                <a:solidFill>
                  <a:prstClr val="black">
                    <a:tint val="75000"/>
                  </a:prstClr>
                </a:solidFill>
              </a:rPr>
              <a:pPr/>
              <a:t>09 ژوئيه 18</a:t>
            </a:fld>
            <a:endParaRPr lang="fa-IR">
              <a:solidFill>
                <a:prstClr val="black">
                  <a:tint val="75000"/>
                </a:prstClr>
              </a:solidFill>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19604790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3AECBE-0D19-4A5F-B076-A0E1E094D29C}" type="datetime8">
              <a:rPr lang="fa-IR" smtClean="0">
                <a:solidFill>
                  <a:prstClr val="black">
                    <a:tint val="75000"/>
                  </a:prstClr>
                </a:solidFill>
              </a:rPr>
              <a:pPr/>
              <a:t>09 ژوئيه 18</a:t>
            </a:fld>
            <a:endParaRPr lang="fa-IR">
              <a:solidFill>
                <a:prstClr val="black">
                  <a:tint val="75000"/>
                </a:prstClr>
              </a:solidFill>
            </a:endParaRPr>
          </a:p>
        </p:txBody>
      </p:sp>
      <p:sp>
        <p:nvSpPr>
          <p:cNvPr id="3" name="Footer Placeholder 2"/>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4" name="Slide Number Placeholder 3"/>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6711033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93967C-DD0D-4EFD-886A-44FD2AA3DEE8}" type="datetime8">
              <a:rPr lang="fa-IR" smtClean="0">
                <a:solidFill>
                  <a:prstClr val="black">
                    <a:tint val="75000"/>
                  </a:prstClr>
                </a:solidFill>
              </a:rPr>
              <a:pPr/>
              <a:t>09 ژوئيه 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021474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BA9A2B-4596-425A-860F-1C7BE742729B}" type="datetime8">
              <a:rPr lang="fa-IR" smtClean="0">
                <a:solidFill>
                  <a:prstClr val="black">
                    <a:tint val="75000"/>
                  </a:prstClr>
                </a:solidFill>
              </a:rPr>
              <a:pPr/>
              <a:t>09 ژوئيه 18</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947220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21DD19-CCE8-4AD7-A0C9-82A4F0D24F78}"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2833630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CE804E-7286-4AD3-B0A3-A485BAF3659A}"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9227237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ctrTitle"/>
          </p:nvPr>
        </p:nvSpPr>
        <p:spPr>
          <a:xfrm>
            <a:off x="473337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75" y="442110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9"/>
            <a:ext cx="2133600" cy="750981"/>
          </a:xfrm>
        </p:spPr>
        <p:txBody>
          <a:bodyPr anchor="b"/>
          <a:lstStyle>
            <a:lvl1pPr algn="l">
              <a:defRPr sz="2400"/>
            </a:lvl1pPr>
          </a:lstStyle>
          <a:p>
            <a:fld id="{4D5B3F8B-B9A1-4450-8886-929BB179B691}" type="datetimeFigureOut">
              <a:rPr lang="fa-IR" smtClean="0"/>
              <a:pPr/>
              <a:t>26/10/1439</a:t>
            </a:fld>
            <a:endParaRPr lang="fa-IR"/>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a:xfrm>
            <a:off x="5303520" y="5719986"/>
            <a:ext cx="2831592" cy="365125"/>
          </a:xfrm>
        </p:spPr>
        <p:txBody>
          <a:bodyPr>
            <a:normAutofit/>
          </a:bodyPr>
          <a:lstStyle>
            <a:lvl1pPr>
              <a:defRPr>
                <a:solidFill>
                  <a:schemeClr val="accent1"/>
                </a:solidFill>
              </a:defRPr>
            </a:lvl1pPr>
          </a:lstStyle>
          <a:p>
            <a:endParaRPr lang="fa-IR">
              <a:solidFill>
                <a:srgbClr val="94C600"/>
              </a:solidFill>
            </a:endParaRPr>
          </a:p>
        </p:txBody>
      </p:sp>
      <p:sp>
        <p:nvSpPr>
          <p:cNvPr id="6" name="Slide Number Placeholder 5"/>
          <p:cNvSpPr>
            <a:spLocks noGrp="1"/>
          </p:cNvSpPr>
          <p:nvPr>
            <p:ph type="sldNum" sz="quarter" idx="12"/>
          </p:nvPr>
        </p:nvSpPr>
        <p:spPr>
          <a:xfrm>
            <a:off x="4649097" y="5719986"/>
            <a:ext cx="643666" cy="365125"/>
          </a:xfrm>
        </p:spPr>
        <p:txBody>
          <a:bodyPr/>
          <a:lstStyle>
            <a:lvl1pPr>
              <a:defRPr>
                <a:solidFill>
                  <a:schemeClr val="accent1"/>
                </a:solidFill>
              </a:defRPr>
            </a:lvl1pPr>
          </a:lstStyle>
          <a:p>
            <a:fld id="{BD6DC92A-6D74-47C6-A4F2-FDC489DF81CB}" type="slidenum">
              <a:rPr lang="fa-IR" smtClean="0">
                <a:solidFill>
                  <a:srgbClr val="94C600"/>
                </a:solidFill>
              </a:rPr>
              <a:pPr/>
              <a:t>‹#›</a:t>
            </a:fld>
            <a:endParaRPr lang="fa-IR">
              <a:solidFill>
                <a:srgbClr val="94C600"/>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333169772"/>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5" name="Footer Placeholder 4"/>
          <p:cNvSpPr>
            <a:spLocks noGrp="1"/>
          </p:cNvSpPr>
          <p:nvPr>
            <p:ph type="ftr" sz="quarter" idx="11"/>
          </p:nvPr>
        </p:nvSpPr>
        <p:spPr/>
        <p:txBody>
          <a:bodyPr/>
          <a:lstStyle/>
          <a:p>
            <a:endParaRPr lang="fa-IR">
              <a:solidFill>
                <a:srgbClr val="94C600"/>
              </a:solidFill>
            </a:endParaRPr>
          </a:p>
        </p:txBody>
      </p:sp>
      <p:sp>
        <p:nvSpPr>
          <p:cNvPr id="6" name="Slide Number Placeholder 5"/>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3652798375"/>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7" y="2900831"/>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6" y="426722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5" name="Footer Placeholder 4"/>
          <p:cNvSpPr>
            <a:spLocks noGrp="1"/>
          </p:cNvSpPr>
          <p:nvPr>
            <p:ph type="ftr" sz="quarter" idx="11"/>
          </p:nvPr>
        </p:nvSpPr>
        <p:spPr/>
        <p:txBody>
          <a:bodyPr/>
          <a:lstStyle/>
          <a:p>
            <a:endParaRPr lang="fa-IR">
              <a:solidFill>
                <a:srgbClr val="94C600"/>
              </a:solidFill>
            </a:endParaRPr>
          </a:p>
        </p:txBody>
      </p:sp>
      <p:sp>
        <p:nvSpPr>
          <p:cNvPr id="6" name="Slide Number Placeholder 5"/>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3413434304"/>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6" name="Footer Placeholder 5"/>
          <p:cNvSpPr>
            <a:spLocks noGrp="1"/>
          </p:cNvSpPr>
          <p:nvPr>
            <p:ph type="ftr" sz="quarter" idx="11"/>
          </p:nvPr>
        </p:nvSpPr>
        <p:spPr/>
        <p:txBody>
          <a:bodyPr/>
          <a:lstStyle/>
          <a:p>
            <a:endParaRPr lang="fa-IR">
              <a:solidFill>
                <a:srgbClr val="94C600"/>
              </a:solidFill>
            </a:endParaRPr>
          </a:p>
        </p:txBody>
      </p:sp>
      <p:sp>
        <p:nvSpPr>
          <p:cNvPr id="7" name="Slide Number Placeholder 6"/>
          <p:cNvSpPr>
            <a:spLocks noGrp="1"/>
          </p:cNvSpPr>
          <p:nvPr>
            <p:ph type="sldNum" sz="quarter" idx="12"/>
          </p:nvPr>
        </p:nvSpPr>
        <p:spPr/>
        <p:txBody>
          <a:bodyPr/>
          <a:lstStyle/>
          <a:p>
            <a:fld id="{BD6DC92A-6D74-47C6-A4F2-FDC489DF81CB}" type="slidenum">
              <a:rPr lang="fa-IR" smtClean="0"/>
              <a:pPr/>
              <a:t>‹#›</a:t>
            </a:fld>
            <a:endParaRPr lang="fa-IR"/>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02168596"/>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2"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71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4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71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8" name="Footer Placeholder 7"/>
          <p:cNvSpPr>
            <a:spLocks noGrp="1"/>
          </p:cNvSpPr>
          <p:nvPr>
            <p:ph type="ftr" sz="quarter" idx="11"/>
          </p:nvPr>
        </p:nvSpPr>
        <p:spPr/>
        <p:txBody>
          <a:bodyPr/>
          <a:lstStyle/>
          <a:p>
            <a:endParaRPr lang="fa-IR">
              <a:solidFill>
                <a:srgbClr val="94C600"/>
              </a:solidFill>
            </a:endParaRPr>
          </a:p>
        </p:txBody>
      </p:sp>
      <p:sp>
        <p:nvSpPr>
          <p:cNvPr id="9" name="Slide Number Placeholder 8"/>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1154445221"/>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4" name="Footer Placeholder 3"/>
          <p:cNvSpPr>
            <a:spLocks noGrp="1"/>
          </p:cNvSpPr>
          <p:nvPr>
            <p:ph type="ftr" sz="quarter" idx="11"/>
          </p:nvPr>
        </p:nvSpPr>
        <p:spPr/>
        <p:txBody>
          <a:bodyPr/>
          <a:lstStyle/>
          <a:p>
            <a:endParaRPr lang="fa-IR">
              <a:solidFill>
                <a:srgbClr val="94C600"/>
              </a:solidFill>
            </a:endParaRPr>
          </a:p>
        </p:txBody>
      </p:sp>
      <p:sp>
        <p:nvSpPr>
          <p:cNvPr id="5" name="Slide Number Placeholder 4"/>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2331397274"/>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3" name="Footer Placeholder 2"/>
          <p:cNvSpPr>
            <a:spLocks noGrp="1"/>
          </p:cNvSpPr>
          <p:nvPr>
            <p:ph type="ftr" sz="quarter" idx="11"/>
          </p:nvPr>
        </p:nvSpPr>
        <p:spPr/>
        <p:txBody>
          <a:bodyPr/>
          <a:lstStyle/>
          <a:p>
            <a:endParaRPr lang="fa-IR">
              <a:solidFill>
                <a:srgbClr val="94C600"/>
              </a:solidFill>
            </a:endParaRPr>
          </a:p>
        </p:txBody>
      </p:sp>
      <p:sp>
        <p:nvSpPr>
          <p:cNvPr id="4" name="Slide Number Placeholder 3"/>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777405718"/>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7" name="Slide Number Placeholder 6"/>
          <p:cNvSpPr>
            <a:spLocks noGrp="1"/>
          </p:cNvSpPr>
          <p:nvPr>
            <p:ph type="sldNum" sz="quarter" idx="12"/>
          </p:nvPr>
        </p:nvSpPr>
        <p:spPr/>
        <p:txBody>
          <a:bodyPr/>
          <a:lstStyle/>
          <a:p>
            <a:fld id="{BD6DC92A-6D74-47C6-A4F2-FDC489DF81CB}" type="slidenum">
              <a:rPr lang="fa-IR" smtClean="0"/>
              <a:pPr/>
              <a:t>‹#›</a:t>
            </a:fld>
            <a:endParaRPr lang="fa-IR"/>
          </a:p>
        </p:txBody>
      </p:sp>
      <p:sp>
        <p:nvSpPr>
          <p:cNvPr id="58" name="Rectangle 57"/>
          <p:cNvSpPr/>
          <p:nvPr/>
        </p:nvSpPr>
        <p:spPr>
          <a:xfrm>
            <a:off x="905573" y="60190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1145896"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a:xfrm>
            <a:off x="4641448" y="5724855"/>
            <a:ext cx="3493664" cy="365125"/>
          </a:xfrm>
        </p:spPr>
        <p:txBody>
          <a:bodyPr>
            <a:normAutofit/>
          </a:bodyPr>
          <a:lstStyle/>
          <a:p>
            <a:endParaRPr lang="fa-IR">
              <a:solidFill>
                <a:srgbClr val="94C600"/>
              </a:solidFill>
            </a:endParaRPr>
          </a:p>
        </p:txBody>
      </p:sp>
      <p:sp>
        <p:nvSpPr>
          <p:cNvPr id="2" name="Title 1"/>
          <p:cNvSpPr>
            <a:spLocks noGrp="1"/>
          </p:cNvSpPr>
          <p:nvPr>
            <p:ph type="title"/>
          </p:nvPr>
        </p:nvSpPr>
        <p:spPr>
          <a:xfrm>
            <a:off x="4739833" y="265745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3"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47555727"/>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2" name="Rectangle 101"/>
          <p:cNvSpPr/>
          <p:nvPr/>
        </p:nvSpPr>
        <p:spPr>
          <a:xfrm>
            <a:off x="905573" y="60190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1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2" y="413310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6" name="Footer Placeholder 5"/>
          <p:cNvSpPr>
            <a:spLocks noGrp="1"/>
          </p:cNvSpPr>
          <p:nvPr>
            <p:ph type="ftr" sz="quarter" idx="11"/>
          </p:nvPr>
        </p:nvSpPr>
        <p:spPr>
          <a:xfrm>
            <a:off x="4641448" y="5724855"/>
            <a:ext cx="3493664" cy="365125"/>
          </a:xfrm>
        </p:spPr>
        <p:txBody>
          <a:bodyPr>
            <a:normAutofit/>
          </a:bodyPr>
          <a:lstStyle/>
          <a:p>
            <a:endParaRPr lang="fa-IR">
              <a:solidFill>
                <a:srgbClr val="94C600"/>
              </a:solidFill>
            </a:endParaRPr>
          </a:p>
        </p:txBody>
      </p:sp>
      <p:sp>
        <p:nvSpPr>
          <p:cNvPr id="7" name="Slide Number Placeholder 6"/>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373428574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5" name="Footer Placeholder 4"/>
          <p:cNvSpPr>
            <a:spLocks noGrp="1"/>
          </p:cNvSpPr>
          <p:nvPr>
            <p:ph type="ftr" sz="quarter" idx="11"/>
          </p:nvPr>
        </p:nvSpPr>
        <p:spPr/>
        <p:txBody>
          <a:bodyPr/>
          <a:lstStyle/>
          <a:p>
            <a:endParaRPr lang="fa-IR">
              <a:solidFill>
                <a:srgbClr val="94C600"/>
              </a:solidFill>
            </a:endParaRPr>
          </a:p>
        </p:txBody>
      </p:sp>
      <p:sp>
        <p:nvSpPr>
          <p:cNvPr id="6" name="Slide Number Placeholder 5"/>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364876014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1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7"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5B3F8B-B9A1-4450-8886-929BB179B691}" type="datetimeFigureOut">
              <a:rPr lang="fa-IR" smtClean="0"/>
              <a:pPr/>
              <a:t>26/10/1439</a:t>
            </a:fld>
            <a:endParaRPr lang="fa-IR"/>
          </a:p>
        </p:txBody>
      </p:sp>
      <p:sp>
        <p:nvSpPr>
          <p:cNvPr id="5" name="Footer Placeholder 4"/>
          <p:cNvSpPr>
            <a:spLocks noGrp="1"/>
          </p:cNvSpPr>
          <p:nvPr>
            <p:ph type="ftr" sz="quarter" idx="11"/>
          </p:nvPr>
        </p:nvSpPr>
        <p:spPr/>
        <p:txBody>
          <a:bodyPr/>
          <a:lstStyle/>
          <a:p>
            <a:endParaRPr lang="fa-IR">
              <a:solidFill>
                <a:srgbClr val="94C600"/>
              </a:solidFill>
            </a:endParaRPr>
          </a:p>
        </p:txBody>
      </p:sp>
      <p:sp>
        <p:nvSpPr>
          <p:cNvPr id="6" name="Slide Number Placeholder 5"/>
          <p:cNvSpPr>
            <a:spLocks noGrp="1"/>
          </p:cNvSpPr>
          <p:nvPr>
            <p:ph type="sldNum" sz="quarter" idx="12"/>
          </p:nvPr>
        </p:nvSpPr>
        <p:spPr/>
        <p:txBody>
          <a:bodyPr/>
          <a:lstStyle/>
          <a:p>
            <a:fld id="{BD6DC92A-6D74-47C6-A4F2-FDC489DF81CB}" type="slidenum">
              <a:rPr lang="fa-IR" smtClean="0"/>
              <a:pPr/>
              <a:t>‹#›</a:t>
            </a:fld>
            <a:endParaRPr lang="fa-IR"/>
          </a:p>
        </p:txBody>
      </p:sp>
    </p:spTree>
    <p:extLst>
      <p:ext uri="{BB962C8B-B14F-4D97-AF65-F5344CB8AC3E}">
        <p14:creationId xmlns:p14="http://schemas.microsoft.com/office/powerpoint/2010/main" val="47065912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47"/>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5999C54-6A03-4E1F-BCAC-4C9C31A66B21}"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02ECD18F-6B69-4987-AF6E-2F0B2DB25902}" type="slidenum">
              <a:rPr lang="fa-IR"/>
              <a:pPr>
                <a:defRPr/>
              </a:pPr>
              <a:t>‹#›</a:t>
            </a:fld>
            <a:endParaRPr lang="fa-IR"/>
          </a:p>
        </p:txBody>
      </p:sp>
    </p:spTree>
    <p:extLst>
      <p:ext uri="{BB962C8B-B14F-4D97-AF65-F5344CB8AC3E}">
        <p14:creationId xmlns:p14="http://schemas.microsoft.com/office/powerpoint/2010/main" val="2968882111"/>
      </p:ext>
    </p:extLst>
  </p:cSld>
  <p:clrMapOvr>
    <a:masterClrMapping/>
  </p:clrMapOvr>
  <p:transition spd="slow">
    <p:randomBar dir="vert"/>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F21AAFDB-0891-4C80-A0F9-E03EB09424ED}"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2CCB2973-C8E5-4343-A490-D6BF3898E0D0}" type="slidenum">
              <a:rPr lang="fa-IR"/>
              <a:pPr>
                <a:defRPr/>
              </a:pPr>
              <a:t>‹#›</a:t>
            </a:fld>
            <a:endParaRPr lang="fa-IR"/>
          </a:p>
        </p:txBody>
      </p:sp>
    </p:spTree>
    <p:extLst>
      <p:ext uri="{BB962C8B-B14F-4D97-AF65-F5344CB8AC3E}">
        <p14:creationId xmlns:p14="http://schemas.microsoft.com/office/powerpoint/2010/main" val="4174722502"/>
      </p:ext>
    </p:extLst>
  </p:cSld>
  <p:clrMapOvr>
    <a:masterClrMapping/>
  </p:clrMapOvr>
  <p:transition spd="slow">
    <p:randomBar dir="vert"/>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22"/>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616FE924-7AB6-4507-84C4-9943ED62B2A2}"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D6D8DB5-6B67-48BF-80E3-FD832B83A73C}" type="slidenum">
              <a:rPr lang="fa-IR"/>
              <a:pPr>
                <a:defRPr/>
              </a:pPr>
              <a:t>‹#›</a:t>
            </a:fld>
            <a:endParaRPr lang="fa-IR"/>
          </a:p>
        </p:txBody>
      </p:sp>
    </p:spTree>
    <p:extLst>
      <p:ext uri="{BB962C8B-B14F-4D97-AF65-F5344CB8AC3E}">
        <p14:creationId xmlns:p14="http://schemas.microsoft.com/office/powerpoint/2010/main" val="183258740"/>
      </p:ext>
    </p:extLst>
  </p:cSld>
  <p:clrMapOvr>
    <a:masterClrMapping/>
  </p:clrMapOvr>
  <p:transition spd="slow">
    <p:randomBar dir="vert"/>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FBAF1923-9EE9-4EEE-A4BE-D3A6DC9FFE10}"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AA8AFA6F-59F0-4B3A-B314-F1AF6388ACEA}" type="slidenum">
              <a:rPr lang="fa-IR"/>
              <a:pPr>
                <a:defRPr/>
              </a:pPr>
              <a:t>‹#›</a:t>
            </a:fld>
            <a:endParaRPr lang="fa-IR"/>
          </a:p>
        </p:txBody>
      </p:sp>
    </p:spTree>
    <p:extLst>
      <p:ext uri="{BB962C8B-B14F-4D97-AF65-F5344CB8AC3E}">
        <p14:creationId xmlns:p14="http://schemas.microsoft.com/office/powerpoint/2010/main" val="3147215315"/>
      </p:ext>
    </p:extLst>
  </p:cSld>
  <p:clrMapOvr>
    <a:masterClrMapping/>
  </p:clrMapOvr>
  <p:transition spd="slow">
    <p:randomBar dir="vert"/>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3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8198D512-2844-41FD-88D4-6A867DDD9869}" type="datetime8">
              <a:rPr lang="fa-IR"/>
              <a:pPr>
                <a:defRPr/>
              </a:pPr>
              <a:t>09 ژوئيه 18</a:t>
            </a:fld>
            <a:endParaRPr lang="fa-IR"/>
          </a:p>
        </p:txBody>
      </p:sp>
      <p:sp>
        <p:nvSpPr>
          <p:cNvPr id="8" name="Footer Placeholder 7"/>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9" name="Slide Number Placeholder 8"/>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003DA70B-CDC8-4ECF-9FE2-9B3EF0827432}" type="slidenum">
              <a:rPr lang="fa-IR"/>
              <a:pPr>
                <a:defRPr/>
              </a:pPr>
              <a:t>‹#›</a:t>
            </a:fld>
            <a:endParaRPr lang="fa-IR"/>
          </a:p>
        </p:txBody>
      </p:sp>
    </p:spTree>
    <p:extLst>
      <p:ext uri="{BB962C8B-B14F-4D97-AF65-F5344CB8AC3E}">
        <p14:creationId xmlns:p14="http://schemas.microsoft.com/office/powerpoint/2010/main" val="1807546972"/>
      </p:ext>
    </p:extLst>
  </p:cSld>
  <p:clrMapOvr>
    <a:masterClrMapping/>
  </p:clrMapOvr>
  <p:transition spd="slow">
    <p:randomBar dir="vert"/>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7A45557-F99E-45B9-8F71-3D66052D9B53}" type="datetime8">
              <a:rPr lang="fa-IR"/>
              <a:pPr>
                <a:defRPr/>
              </a:pPr>
              <a:t>09 ژوئيه 18</a:t>
            </a:fld>
            <a:endParaRPr lang="fa-IR"/>
          </a:p>
        </p:txBody>
      </p:sp>
      <p:sp>
        <p:nvSpPr>
          <p:cNvPr id="4" name="Footer Placeholder 3"/>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5" name="Slide Number Placeholder 4"/>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B00A331A-FA13-4A5B-80A4-1AC44B998EFA}" type="slidenum">
              <a:rPr lang="fa-IR"/>
              <a:pPr>
                <a:defRPr/>
              </a:pPr>
              <a:t>‹#›</a:t>
            </a:fld>
            <a:endParaRPr lang="fa-IR"/>
          </a:p>
        </p:txBody>
      </p:sp>
    </p:spTree>
    <p:extLst>
      <p:ext uri="{BB962C8B-B14F-4D97-AF65-F5344CB8AC3E}">
        <p14:creationId xmlns:p14="http://schemas.microsoft.com/office/powerpoint/2010/main" val="2217877978"/>
      </p:ext>
    </p:extLst>
  </p:cSld>
  <p:clrMapOvr>
    <a:masterClrMapping/>
  </p:clrMapOvr>
  <p:transition spd="slow">
    <p:randomBar dir="vert"/>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EFEFD3D-431E-4A41-8A8B-30C8DE8B6B15}" type="datetime8">
              <a:rPr lang="fa-IR"/>
              <a:pPr>
                <a:defRPr/>
              </a:pPr>
              <a:t>09 ژوئيه 18</a:t>
            </a:fld>
            <a:endParaRPr lang="fa-IR"/>
          </a:p>
        </p:txBody>
      </p:sp>
      <p:sp>
        <p:nvSpPr>
          <p:cNvPr id="3" name="Footer Placeholder 2"/>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4" name="Slide Number Placeholder 3"/>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7C868ACF-4C33-4351-BA61-2E209561C503}" type="slidenum">
              <a:rPr lang="fa-IR"/>
              <a:pPr>
                <a:defRPr/>
              </a:pPr>
              <a:t>‹#›</a:t>
            </a:fld>
            <a:endParaRPr lang="fa-IR"/>
          </a:p>
        </p:txBody>
      </p:sp>
    </p:spTree>
    <p:extLst>
      <p:ext uri="{BB962C8B-B14F-4D97-AF65-F5344CB8AC3E}">
        <p14:creationId xmlns:p14="http://schemas.microsoft.com/office/powerpoint/2010/main" val="795967261"/>
      </p:ext>
    </p:extLst>
  </p:cSld>
  <p:clrMapOvr>
    <a:masterClrMapping/>
  </p:clrMapOvr>
  <p:transition spd="slow">
    <p:randomBar dir="vert"/>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7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452CB7F8-B733-4593-870A-7423007A75F7}"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E41508A3-5DA1-4940-8045-5A49F7B3142F}" type="slidenum">
              <a:rPr lang="fa-IR"/>
              <a:pPr>
                <a:defRPr/>
              </a:pPr>
              <a:t>‹#›</a:t>
            </a:fld>
            <a:endParaRPr lang="fa-IR"/>
          </a:p>
        </p:txBody>
      </p:sp>
    </p:spTree>
    <p:extLst>
      <p:ext uri="{BB962C8B-B14F-4D97-AF65-F5344CB8AC3E}">
        <p14:creationId xmlns:p14="http://schemas.microsoft.com/office/powerpoint/2010/main" val="3145204748"/>
      </p:ext>
    </p:extLst>
  </p:cSld>
  <p:clrMapOvr>
    <a:masterClrMapping/>
  </p:clrMapOvr>
  <p:transition spd="slow">
    <p:randomBar dir="vert"/>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46A5CC91-72BA-424C-8BE9-20600531F090}" type="datetime8">
              <a:rPr lang="fa-IR"/>
              <a:pPr>
                <a:defRPr/>
              </a:pPr>
              <a:t>09 ژوئيه 18</a:t>
            </a:fld>
            <a:endParaRPr lang="fa-IR"/>
          </a:p>
        </p:txBody>
      </p:sp>
      <p:sp>
        <p:nvSpPr>
          <p:cNvPr id="6" name="Footer Placeholder 5"/>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7" name="Slide Number Placeholder 6"/>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92D24326-9E8A-4534-90D2-162B595BEE81}" type="slidenum">
              <a:rPr lang="fa-IR"/>
              <a:pPr>
                <a:defRPr/>
              </a:pPr>
              <a:t>‹#›</a:t>
            </a:fld>
            <a:endParaRPr lang="fa-IR"/>
          </a:p>
        </p:txBody>
      </p:sp>
    </p:spTree>
    <p:extLst>
      <p:ext uri="{BB962C8B-B14F-4D97-AF65-F5344CB8AC3E}">
        <p14:creationId xmlns:p14="http://schemas.microsoft.com/office/powerpoint/2010/main" val="3934959469"/>
      </p:ext>
    </p:extLst>
  </p:cSld>
  <p:clrMapOvr>
    <a:masterClrMapping/>
  </p:clrMapOvr>
  <p:transition spd="slow">
    <p:randomBar dir="vert"/>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7A9A3F15-8EAB-4CD1-B54B-2BCD9F05F634}"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A6584370-2268-44AE-BA84-B584F0A21119}" type="slidenum">
              <a:rPr lang="fa-IR"/>
              <a:pPr>
                <a:defRPr/>
              </a:pPr>
              <a:t>‹#›</a:t>
            </a:fld>
            <a:endParaRPr lang="fa-IR"/>
          </a:p>
        </p:txBody>
      </p:sp>
    </p:spTree>
    <p:extLst>
      <p:ext uri="{BB962C8B-B14F-4D97-AF65-F5344CB8AC3E}">
        <p14:creationId xmlns:p14="http://schemas.microsoft.com/office/powerpoint/2010/main" val="2873976648"/>
      </p:ext>
    </p:extLst>
  </p:cSld>
  <p:clrMapOvr>
    <a:masterClrMapping/>
  </p:clrMapOvr>
  <p:transition spd="slow">
    <p:randomBar dir="vert"/>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6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6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62221919-B383-4FD3-AAD9-F26143A61400}" type="datetime8">
              <a:rPr lang="fa-IR"/>
              <a:pPr>
                <a:defRPr/>
              </a:pPr>
              <a:t>09 ژوئيه 18</a:t>
            </a:fld>
            <a:endParaRPr lang="fa-IR"/>
          </a:p>
        </p:txBody>
      </p:sp>
      <p:sp>
        <p:nvSpPr>
          <p:cNvPr id="5" name="Footer Placeholder 4"/>
          <p:cNvSpPr>
            <a:spLocks noGrp="1"/>
          </p:cNvSpPr>
          <p:nvPr>
            <p:ph type="ftr" sz="quarter" idx="11"/>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r>
              <a:rPr lang="fa-IR"/>
              <a:t>تربیت              محمد ترکمان</a:t>
            </a:r>
          </a:p>
        </p:txBody>
      </p:sp>
      <p:sp>
        <p:nvSpPr>
          <p:cNvPr id="6" name="Slide Number Placeholder 5"/>
          <p:cNvSpPr>
            <a:spLocks noGrp="1"/>
          </p:cNvSpPr>
          <p:nvPr>
            <p:ph type="sldNum" sz="quarter" idx="12"/>
          </p:nvPr>
        </p:nvSpPr>
        <p:spPr/>
        <p:txBody>
          <a:bodyPr/>
          <a:lstStyle>
            <a:lvl1pPr rtl="0" eaLnBrk="0" fontAlgn="base" hangingPunct="0">
              <a:spcBef>
                <a:spcPct val="0"/>
              </a:spcBef>
              <a:spcAft>
                <a:spcPct val="0"/>
              </a:spcAft>
              <a:defRPr>
                <a:latin typeface="Arial" panose="020B0604020202020204" pitchFamily="34" charset="0"/>
              </a:defRPr>
            </a:lvl1pPr>
          </a:lstStyle>
          <a:p>
            <a:pPr>
              <a:defRPr/>
            </a:pPr>
            <a:fld id="{58640C0E-9E77-478F-9260-011065A09F9F}" type="slidenum">
              <a:rPr lang="fa-IR"/>
              <a:pPr>
                <a:defRPr/>
              </a:pPr>
              <a:t>‹#›</a:t>
            </a:fld>
            <a:endParaRPr lang="fa-IR"/>
          </a:p>
        </p:txBody>
      </p:sp>
    </p:spTree>
    <p:extLst>
      <p:ext uri="{BB962C8B-B14F-4D97-AF65-F5344CB8AC3E}">
        <p14:creationId xmlns:p14="http://schemas.microsoft.com/office/powerpoint/2010/main" val="1338274574"/>
      </p:ext>
    </p:extLst>
  </p:cSld>
  <p:clrMapOvr>
    <a:masterClrMapping/>
  </p:clrMapOvr>
  <p:transition spd="slow">
    <p:randomBar dir="vert"/>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fa-I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567467589"/>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021544939"/>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fa-I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092530240"/>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Date Placeholder 4"/>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827907519"/>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a-I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7" name="Date Placeholder 6"/>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8" name="Footer Placeholder 7"/>
          <p:cNvSpPr>
            <a:spLocks noGrp="1"/>
          </p:cNvSpPr>
          <p:nvPr>
            <p:ph type="ftr" sz="quarter" idx="11"/>
          </p:nvPr>
        </p:nvSpPr>
        <p:spPr/>
        <p:txBody>
          <a:bodyPr/>
          <a:lstStyle/>
          <a:p>
            <a:endParaRPr lang="fa-IR">
              <a:solidFill>
                <a:prstClr val="black">
                  <a:tint val="75000"/>
                </a:prstClr>
              </a:solidFill>
            </a:endParaRPr>
          </a:p>
        </p:txBody>
      </p:sp>
      <p:sp>
        <p:nvSpPr>
          <p:cNvPr id="9" name="Slide Number Placeholder 8"/>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05395549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Date Placeholder 2"/>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4" name="Footer Placeholder 3"/>
          <p:cNvSpPr>
            <a:spLocks noGrp="1"/>
          </p:cNvSpPr>
          <p:nvPr>
            <p:ph type="ftr" sz="quarter" idx="11"/>
          </p:nvPr>
        </p:nvSpPr>
        <p:spPr/>
        <p:txBody>
          <a:bodyPr/>
          <a:lstStyle/>
          <a:p>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167006179"/>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3" name="Footer Placeholder 2"/>
          <p:cNvSpPr>
            <a:spLocks noGrp="1"/>
          </p:cNvSpPr>
          <p:nvPr>
            <p:ph type="ftr" sz="quarter" idx="11"/>
          </p:nvPr>
        </p:nvSpPr>
        <p:spPr/>
        <p:txBody>
          <a:bodyPr/>
          <a:lstStyle/>
          <a:p>
            <a:endParaRPr lang="fa-IR">
              <a:solidFill>
                <a:prstClr val="black">
                  <a:tint val="75000"/>
                </a:prstClr>
              </a:solidFill>
            </a:endParaRPr>
          </a:p>
        </p:txBody>
      </p:sp>
      <p:sp>
        <p:nvSpPr>
          <p:cNvPr id="4" name="Slide Number Placeholder 3"/>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403618005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fa-I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594743696"/>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fa-I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6" name="Footer Placeholder 5"/>
          <p:cNvSpPr>
            <a:spLocks noGrp="1"/>
          </p:cNvSpPr>
          <p:nvPr>
            <p:ph type="ftr" sz="quarter" idx="11"/>
          </p:nvPr>
        </p:nvSpPr>
        <p:spPr/>
        <p:txBody>
          <a:bodyPr/>
          <a:lstStyle/>
          <a:p>
            <a:endParaRPr lang="fa-IR">
              <a:solidFill>
                <a:prstClr val="black">
                  <a:tint val="75000"/>
                </a:prstClr>
              </a:solidFill>
            </a:endParaRPr>
          </a:p>
        </p:txBody>
      </p:sp>
      <p:sp>
        <p:nvSpPr>
          <p:cNvPr id="7" name="Slide Number Placeholder 6"/>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425815786"/>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965779587"/>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fa-I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11"/>
          </p:nvPr>
        </p:nvSpPr>
        <p:spPr/>
        <p:txBody>
          <a:bodyPr/>
          <a:lstStyle/>
          <a:p>
            <a:endParaRPr lang="fa-IR">
              <a:solidFill>
                <a:prstClr val="black">
                  <a:tint val="75000"/>
                </a:prstClr>
              </a:solidFill>
            </a:endParaRPr>
          </a:p>
        </p:txBody>
      </p:sp>
      <p:sp>
        <p:nvSpPr>
          <p:cNvPr id="6" name="Slide Number Placeholder 5"/>
          <p:cNvSpPr>
            <a:spLocks noGrp="1"/>
          </p:cNvSpPr>
          <p:nvPr>
            <p:ph type="sldNum" sz="quarter" idx="12"/>
          </p:nvPr>
        </p:nvSpPr>
        <p:spPr/>
        <p:txBody>
          <a:body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73394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theme" Target="../theme/theme9.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slideLayout" Target="../slideLayouts/slideLayout118.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theme" Target="../theme/theme10.xml"/><Relationship Id="rId2" Type="http://schemas.openxmlformats.org/officeDocument/2006/relationships/slideLayout" Target="../slideLayouts/slideLayout107.xml"/><Relationship Id="rId16" Type="http://schemas.openxmlformats.org/officeDocument/2006/relationships/slideLayout" Target="../slideLayouts/slideLayout121.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slideLayout" Target="../slideLayouts/slideLayout12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17" Type="http://schemas.openxmlformats.org/officeDocument/2006/relationships/theme" Target="../theme/theme11.xml"/><Relationship Id="rId2" Type="http://schemas.openxmlformats.org/officeDocument/2006/relationships/slideLayout" Target="../slideLayouts/slideLayout123.xml"/><Relationship Id="rId16" Type="http://schemas.openxmlformats.org/officeDocument/2006/relationships/slideLayout" Target="../slideLayouts/slideLayout137.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slideLayout" Target="../slideLayouts/slideLayout13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slideLayout" Target="../slideLayouts/slideLayout150.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slideLayout" Target="../slideLayouts/slideLayout149.xml"/><Relationship Id="rId17" Type="http://schemas.openxmlformats.org/officeDocument/2006/relationships/theme" Target="../theme/theme12.xml"/><Relationship Id="rId2" Type="http://schemas.openxmlformats.org/officeDocument/2006/relationships/slideLayout" Target="../slideLayouts/slideLayout139.xml"/><Relationship Id="rId16" Type="http://schemas.openxmlformats.org/officeDocument/2006/relationships/slideLayout" Target="../slideLayouts/slideLayout153.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5" Type="http://schemas.openxmlformats.org/officeDocument/2006/relationships/slideLayout" Target="../slideLayouts/slideLayout152.xml"/><Relationship Id="rId10" Type="http://schemas.openxmlformats.org/officeDocument/2006/relationships/slideLayout" Target="../slideLayouts/slideLayout147.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slideLayout" Target="../slideLayouts/slideLayout166.xml"/><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17" Type="http://schemas.openxmlformats.org/officeDocument/2006/relationships/theme" Target="../theme/theme13.xml"/><Relationship Id="rId2" Type="http://schemas.openxmlformats.org/officeDocument/2006/relationships/slideLayout" Target="../slideLayouts/slideLayout155.xml"/><Relationship Id="rId16" Type="http://schemas.openxmlformats.org/officeDocument/2006/relationships/slideLayout" Target="../slideLayouts/slideLayout169.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5" Type="http://schemas.openxmlformats.org/officeDocument/2006/relationships/slideLayout" Target="../slideLayouts/slideLayout168.xml"/><Relationship Id="rId10" Type="http://schemas.openxmlformats.org/officeDocument/2006/relationships/slideLayout" Target="../slideLayouts/slideLayout163.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7.xml"/><Relationship Id="rId3" Type="http://schemas.openxmlformats.org/officeDocument/2006/relationships/slideLayout" Target="../slideLayouts/slideLayout172.xml"/><Relationship Id="rId7" Type="http://schemas.openxmlformats.org/officeDocument/2006/relationships/slideLayout" Target="../slideLayouts/slideLayout176.xml"/><Relationship Id="rId12" Type="http://schemas.openxmlformats.org/officeDocument/2006/relationships/theme" Target="../theme/theme14.xml"/><Relationship Id="rId2" Type="http://schemas.openxmlformats.org/officeDocument/2006/relationships/slideLayout" Target="../slideLayouts/slideLayout171.xml"/><Relationship Id="rId1" Type="http://schemas.openxmlformats.org/officeDocument/2006/relationships/slideLayout" Target="../slideLayouts/slideLayout170.xml"/><Relationship Id="rId6" Type="http://schemas.openxmlformats.org/officeDocument/2006/relationships/slideLayout" Target="../slideLayouts/slideLayout175.xml"/><Relationship Id="rId11" Type="http://schemas.openxmlformats.org/officeDocument/2006/relationships/slideLayout" Target="../slideLayouts/slideLayout180.xml"/><Relationship Id="rId5" Type="http://schemas.openxmlformats.org/officeDocument/2006/relationships/slideLayout" Target="../slideLayouts/slideLayout174.xml"/><Relationship Id="rId10" Type="http://schemas.openxmlformats.org/officeDocument/2006/relationships/slideLayout" Target="../slideLayouts/slideLayout179.xml"/><Relationship Id="rId4" Type="http://schemas.openxmlformats.org/officeDocument/2006/relationships/slideLayout" Target="../slideLayouts/slideLayout173.xml"/><Relationship Id="rId9" Type="http://schemas.openxmlformats.org/officeDocument/2006/relationships/slideLayout" Target="../slideLayouts/slideLayout178.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88.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theme" Target="../theme/theme15.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99.xml"/><Relationship Id="rId3" Type="http://schemas.openxmlformats.org/officeDocument/2006/relationships/slideLayout" Target="../slideLayouts/slideLayout194.xml"/><Relationship Id="rId7" Type="http://schemas.openxmlformats.org/officeDocument/2006/relationships/slideLayout" Target="../slideLayouts/slideLayout198.xml"/><Relationship Id="rId12" Type="http://schemas.openxmlformats.org/officeDocument/2006/relationships/theme" Target="../theme/theme16.xml"/><Relationship Id="rId2" Type="http://schemas.openxmlformats.org/officeDocument/2006/relationships/slideLayout" Target="../slideLayouts/slideLayout193.xml"/><Relationship Id="rId1" Type="http://schemas.openxmlformats.org/officeDocument/2006/relationships/slideLayout" Target="../slideLayouts/slideLayout192.xml"/><Relationship Id="rId6" Type="http://schemas.openxmlformats.org/officeDocument/2006/relationships/slideLayout" Target="../slideLayouts/slideLayout197.xml"/><Relationship Id="rId11" Type="http://schemas.openxmlformats.org/officeDocument/2006/relationships/slideLayout" Target="../slideLayouts/slideLayout202.xml"/><Relationship Id="rId5" Type="http://schemas.openxmlformats.org/officeDocument/2006/relationships/slideLayout" Target="../slideLayouts/slideLayout196.xml"/><Relationship Id="rId10" Type="http://schemas.openxmlformats.org/officeDocument/2006/relationships/slideLayout" Target="../slideLayouts/slideLayout201.xml"/><Relationship Id="rId4" Type="http://schemas.openxmlformats.org/officeDocument/2006/relationships/slideLayout" Target="../slideLayouts/slideLayout195.xml"/><Relationship Id="rId9" Type="http://schemas.openxmlformats.org/officeDocument/2006/relationships/slideLayout" Target="../slideLayouts/slideLayout200.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10.xml"/><Relationship Id="rId3" Type="http://schemas.openxmlformats.org/officeDocument/2006/relationships/slideLayout" Target="../slideLayouts/slideLayout205.xml"/><Relationship Id="rId7" Type="http://schemas.openxmlformats.org/officeDocument/2006/relationships/slideLayout" Target="../slideLayouts/slideLayout209.xml"/><Relationship Id="rId12" Type="http://schemas.openxmlformats.org/officeDocument/2006/relationships/theme" Target="../theme/theme17.xml"/><Relationship Id="rId2" Type="http://schemas.openxmlformats.org/officeDocument/2006/relationships/slideLayout" Target="../slideLayouts/slideLayout204.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11" Type="http://schemas.openxmlformats.org/officeDocument/2006/relationships/slideLayout" Target="../slideLayouts/slideLayout213.xml"/><Relationship Id="rId5" Type="http://schemas.openxmlformats.org/officeDocument/2006/relationships/slideLayout" Target="../slideLayouts/slideLayout207.xml"/><Relationship Id="rId10" Type="http://schemas.openxmlformats.org/officeDocument/2006/relationships/slideLayout" Target="../slideLayouts/slideLayout212.xml"/><Relationship Id="rId4" Type="http://schemas.openxmlformats.org/officeDocument/2006/relationships/slideLayout" Target="../slideLayouts/slideLayout206.xml"/><Relationship Id="rId9" Type="http://schemas.openxmlformats.org/officeDocument/2006/relationships/slideLayout" Target="../slideLayouts/slideLayout211.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21.xml"/><Relationship Id="rId3" Type="http://schemas.openxmlformats.org/officeDocument/2006/relationships/slideLayout" Target="../slideLayouts/slideLayout216.xml"/><Relationship Id="rId7" Type="http://schemas.openxmlformats.org/officeDocument/2006/relationships/slideLayout" Target="../slideLayouts/slideLayout220.xml"/><Relationship Id="rId12" Type="http://schemas.openxmlformats.org/officeDocument/2006/relationships/theme" Target="../theme/theme18.xml"/><Relationship Id="rId2" Type="http://schemas.openxmlformats.org/officeDocument/2006/relationships/slideLayout" Target="../slideLayouts/slideLayout215.xml"/><Relationship Id="rId1" Type="http://schemas.openxmlformats.org/officeDocument/2006/relationships/slideLayout" Target="../slideLayouts/slideLayout214.xml"/><Relationship Id="rId6" Type="http://schemas.openxmlformats.org/officeDocument/2006/relationships/slideLayout" Target="../slideLayouts/slideLayout219.xml"/><Relationship Id="rId11" Type="http://schemas.openxmlformats.org/officeDocument/2006/relationships/slideLayout" Target="../slideLayouts/slideLayout224.xml"/><Relationship Id="rId5" Type="http://schemas.openxmlformats.org/officeDocument/2006/relationships/slideLayout" Target="../slideLayouts/slideLayout218.xml"/><Relationship Id="rId10" Type="http://schemas.openxmlformats.org/officeDocument/2006/relationships/slideLayout" Target="../slideLayouts/slideLayout223.xml"/><Relationship Id="rId4" Type="http://schemas.openxmlformats.org/officeDocument/2006/relationships/slideLayout" Target="../slideLayouts/slideLayout217.xml"/><Relationship Id="rId9" Type="http://schemas.openxmlformats.org/officeDocument/2006/relationships/slideLayout" Target="../slideLayouts/slideLayout222.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32.xml"/><Relationship Id="rId3" Type="http://schemas.openxmlformats.org/officeDocument/2006/relationships/slideLayout" Target="../slideLayouts/slideLayout227.xml"/><Relationship Id="rId7" Type="http://schemas.openxmlformats.org/officeDocument/2006/relationships/slideLayout" Target="../slideLayouts/slideLayout231.xml"/><Relationship Id="rId12" Type="http://schemas.openxmlformats.org/officeDocument/2006/relationships/theme" Target="../theme/theme19.xml"/><Relationship Id="rId2" Type="http://schemas.openxmlformats.org/officeDocument/2006/relationships/slideLayout" Target="../slideLayouts/slideLayout226.xml"/><Relationship Id="rId1" Type="http://schemas.openxmlformats.org/officeDocument/2006/relationships/slideLayout" Target="../slideLayouts/slideLayout225.xml"/><Relationship Id="rId6" Type="http://schemas.openxmlformats.org/officeDocument/2006/relationships/slideLayout" Target="../slideLayouts/slideLayout230.xml"/><Relationship Id="rId11" Type="http://schemas.openxmlformats.org/officeDocument/2006/relationships/slideLayout" Target="../slideLayouts/slideLayout235.xml"/><Relationship Id="rId5" Type="http://schemas.openxmlformats.org/officeDocument/2006/relationships/slideLayout" Target="../slideLayouts/slideLayout229.xml"/><Relationship Id="rId10" Type="http://schemas.openxmlformats.org/officeDocument/2006/relationships/slideLayout" Target="../slideLayouts/slideLayout234.xml"/><Relationship Id="rId4" Type="http://schemas.openxmlformats.org/officeDocument/2006/relationships/slideLayout" Target="../slideLayouts/slideLayout228.xml"/><Relationship Id="rId9" Type="http://schemas.openxmlformats.org/officeDocument/2006/relationships/slideLayout" Target="../slideLayouts/slideLayout233.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43.xml"/><Relationship Id="rId3" Type="http://schemas.openxmlformats.org/officeDocument/2006/relationships/slideLayout" Target="../slideLayouts/slideLayout238.xml"/><Relationship Id="rId7" Type="http://schemas.openxmlformats.org/officeDocument/2006/relationships/slideLayout" Target="../slideLayouts/slideLayout242.xml"/><Relationship Id="rId12" Type="http://schemas.openxmlformats.org/officeDocument/2006/relationships/theme" Target="../theme/theme20.xml"/><Relationship Id="rId2" Type="http://schemas.openxmlformats.org/officeDocument/2006/relationships/slideLayout" Target="../slideLayouts/slideLayout237.xml"/><Relationship Id="rId1" Type="http://schemas.openxmlformats.org/officeDocument/2006/relationships/slideLayout" Target="../slideLayouts/slideLayout236.xml"/><Relationship Id="rId6" Type="http://schemas.openxmlformats.org/officeDocument/2006/relationships/slideLayout" Target="../slideLayouts/slideLayout241.xml"/><Relationship Id="rId11" Type="http://schemas.openxmlformats.org/officeDocument/2006/relationships/slideLayout" Target="../slideLayouts/slideLayout246.xml"/><Relationship Id="rId5" Type="http://schemas.openxmlformats.org/officeDocument/2006/relationships/slideLayout" Target="../slideLayouts/slideLayout240.xml"/><Relationship Id="rId10" Type="http://schemas.openxmlformats.org/officeDocument/2006/relationships/slideLayout" Target="../slideLayouts/slideLayout245.xml"/><Relationship Id="rId4" Type="http://schemas.openxmlformats.org/officeDocument/2006/relationships/slideLayout" Target="../slideLayouts/slideLayout239.xml"/><Relationship Id="rId9" Type="http://schemas.openxmlformats.org/officeDocument/2006/relationships/slideLayout" Target="../slideLayouts/slideLayout244.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54.xml"/><Relationship Id="rId3" Type="http://schemas.openxmlformats.org/officeDocument/2006/relationships/slideLayout" Target="../slideLayouts/slideLayout249.xml"/><Relationship Id="rId7" Type="http://schemas.openxmlformats.org/officeDocument/2006/relationships/slideLayout" Target="../slideLayouts/slideLayout253.xml"/><Relationship Id="rId12" Type="http://schemas.openxmlformats.org/officeDocument/2006/relationships/theme" Target="../theme/theme21.xml"/><Relationship Id="rId2" Type="http://schemas.openxmlformats.org/officeDocument/2006/relationships/slideLayout" Target="../slideLayouts/slideLayout248.xml"/><Relationship Id="rId1" Type="http://schemas.openxmlformats.org/officeDocument/2006/relationships/slideLayout" Target="../slideLayouts/slideLayout247.xml"/><Relationship Id="rId6" Type="http://schemas.openxmlformats.org/officeDocument/2006/relationships/slideLayout" Target="../slideLayouts/slideLayout252.xml"/><Relationship Id="rId11" Type="http://schemas.openxmlformats.org/officeDocument/2006/relationships/slideLayout" Target="../slideLayouts/slideLayout257.xml"/><Relationship Id="rId5" Type="http://schemas.openxmlformats.org/officeDocument/2006/relationships/slideLayout" Target="../slideLayouts/slideLayout251.xml"/><Relationship Id="rId10" Type="http://schemas.openxmlformats.org/officeDocument/2006/relationships/slideLayout" Target="../slideLayouts/slideLayout256.xml"/><Relationship Id="rId4" Type="http://schemas.openxmlformats.org/officeDocument/2006/relationships/slideLayout" Target="../slideLayouts/slideLayout250.xml"/><Relationship Id="rId9" Type="http://schemas.openxmlformats.org/officeDocument/2006/relationships/slideLayout" Target="../slideLayouts/slideLayout255.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65.xml"/><Relationship Id="rId3" Type="http://schemas.openxmlformats.org/officeDocument/2006/relationships/slideLayout" Target="../slideLayouts/slideLayout260.xml"/><Relationship Id="rId7" Type="http://schemas.openxmlformats.org/officeDocument/2006/relationships/slideLayout" Target="../slideLayouts/slideLayout264.xml"/><Relationship Id="rId12" Type="http://schemas.openxmlformats.org/officeDocument/2006/relationships/theme" Target="../theme/theme22.xml"/><Relationship Id="rId2" Type="http://schemas.openxmlformats.org/officeDocument/2006/relationships/slideLayout" Target="../slideLayouts/slideLayout259.xml"/><Relationship Id="rId1" Type="http://schemas.openxmlformats.org/officeDocument/2006/relationships/slideLayout" Target="../slideLayouts/slideLayout258.xml"/><Relationship Id="rId6" Type="http://schemas.openxmlformats.org/officeDocument/2006/relationships/slideLayout" Target="../slideLayouts/slideLayout263.xml"/><Relationship Id="rId11" Type="http://schemas.openxmlformats.org/officeDocument/2006/relationships/slideLayout" Target="../slideLayouts/slideLayout268.xml"/><Relationship Id="rId5" Type="http://schemas.openxmlformats.org/officeDocument/2006/relationships/slideLayout" Target="../slideLayouts/slideLayout262.xml"/><Relationship Id="rId10" Type="http://schemas.openxmlformats.org/officeDocument/2006/relationships/slideLayout" Target="../slideLayouts/slideLayout267.xml"/><Relationship Id="rId4" Type="http://schemas.openxmlformats.org/officeDocument/2006/relationships/slideLayout" Target="../slideLayouts/slideLayout261.xml"/><Relationship Id="rId9" Type="http://schemas.openxmlformats.org/officeDocument/2006/relationships/slideLayout" Target="../slideLayouts/slideLayout266.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6.xml"/><Relationship Id="rId3" Type="http://schemas.openxmlformats.org/officeDocument/2006/relationships/slideLayout" Target="../slideLayouts/slideLayout271.xml"/><Relationship Id="rId7" Type="http://schemas.openxmlformats.org/officeDocument/2006/relationships/slideLayout" Target="../slideLayouts/slideLayout275.xml"/><Relationship Id="rId12" Type="http://schemas.openxmlformats.org/officeDocument/2006/relationships/theme" Target="../theme/theme23.xml"/><Relationship Id="rId2" Type="http://schemas.openxmlformats.org/officeDocument/2006/relationships/slideLayout" Target="../slideLayouts/slideLayout270.xml"/><Relationship Id="rId1" Type="http://schemas.openxmlformats.org/officeDocument/2006/relationships/slideLayout" Target="../slideLayouts/slideLayout269.xml"/><Relationship Id="rId6" Type="http://schemas.openxmlformats.org/officeDocument/2006/relationships/slideLayout" Target="../slideLayouts/slideLayout274.xml"/><Relationship Id="rId11" Type="http://schemas.openxmlformats.org/officeDocument/2006/relationships/slideLayout" Target="../slideLayouts/slideLayout279.xml"/><Relationship Id="rId5" Type="http://schemas.openxmlformats.org/officeDocument/2006/relationships/slideLayout" Target="../slideLayouts/slideLayout273.xml"/><Relationship Id="rId10" Type="http://schemas.openxmlformats.org/officeDocument/2006/relationships/slideLayout" Target="../slideLayouts/slideLayout278.xml"/><Relationship Id="rId4" Type="http://schemas.openxmlformats.org/officeDocument/2006/relationships/slideLayout" Target="../slideLayouts/slideLayout272.xml"/><Relationship Id="rId9" Type="http://schemas.openxmlformats.org/officeDocument/2006/relationships/slideLayout" Target="../slideLayouts/slideLayout2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fa-I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2"/>
          </p:nvPr>
        </p:nvSpPr>
        <p:spPr>
          <a:xfrm>
            <a:off x="6553200" y="635640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rtl="0" eaLnBrk="0" fontAlgn="base" hangingPunct="0">
              <a:spcBef>
                <a:spcPct val="0"/>
              </a:spcBef>
              <a:spcAft>
                <a:spcPct val="0"/>
              </a:spcAft>
              <a:defRPr/>
            </a:pPr>
            <a:fld id="{AD09121C-8EA0-4F1B-A9CB-F5C0488797DC}" type="datetime1">
              <a:rPr lang="en-US" u="sng" smtClean="0">
                <a:solidFill>
                  <a:prstClr val="black">
                    <a:tint val="75000"/>
                  </a:prstClr>
                </a:solidFill>
                <a:latin typeface="Arial" pitchFamily="34" charset="0"/>
                <a:cs typeface="B Kamran" pitchFamily="2" charset="-78"/>
              </a:rPr>
              <a:pPr rtl="0" eaLnBrk="0" fontAlgn="base" hangingPunct="0">
                <a:spcBef>
                  <a:spcPct val="0"/>
                </a:spcBef>
                <a:spcAft>
                  <a:spcPct val="0"/>
                </a:spcAft>
                <a:defRPr/>
              </a:pPr>
              <a:t>7/9/2018</a:t>
            </a:fld>
            <a:endParaRPr lang="en-US" u="sng">
              <a:solidFill>
                <a:prstClr val="black">
                  <a:tint val="75000"/>
                </a:prstClr>
              </a:solidFill>
              <a:latin typeface="Arial" pitchFamily="34" charset="0"/>
              <a:cs typeface="B Kamran" pitchFamily="2" charset="-78"/>
            </a:endParaRPr>
          </a:p>
        </p:txBody>
      </p:sp>
      <p:sp>
        <p:nvSpPr>
          <p:cNvPr id="5" name="Footer Placeholder 4"/>
          <p:cNvSpPr>
            <a:spLocks noGrp="1"/>
          </p:cNvSpPr>
          <p:nvPr>
            <p:ph type="ftr" sz="quarter" idx="3"/>
          </p:nvPr>
        </p:nvSpPr>
        <p:spPr>
          <a:xfrm>
            <a:off x="3124200" y="635640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rtl="0" eaLnBrk="0" fontAlgn="base" hangingPunct="0">
              <a:spcBef>
                <a:spcPct val="0"/>
              </a:spcBef>
              <a:spcAft>
                <a:spcPct val="0"/>
              </a:spcAft>
              <a:defRPr/>
            </a:pPr>
            <a:endParaRPr lang="en-US" u="sng">
              <a:solidFill>
                <a:prstClr val="black">
                  <a:tint val="75000"/>
                </a:prstClr>
              </a:solidFill>
              <a:latin typeface="Arial" pitchFamily="34" charset="0"/>
              <a:cs typeface="B Kamran" pitchFamily="2" charset="-78"/>
            </a:endParaRPr>
          </a:p>
        </p:txBody>
      </p:sp>
      <p:sp>
        <p:nvSpPr>
          <p:cNvPr id="6" name="Slide Number Placeholder 5"/>
          <p:cNvSpPr>
            <a:spLocks noGrp="1"/>
          </p:cNvSpPr>
          <p:nvPr>
            <p:ph type="sldNum" sz="quarter" idx="4"/>
          </p:nvPr>
        </p:nvSpPr>
        <p:spPr>
          <a:xfrm>
            <a:off x="457200" y="635640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rtl="0" eaLnBrk="0" fontAlgn="base" hangingPunct="0">
              <a:spcBef>
                <a:spcPct val="0"/>
              </a:spcBef>
              <a:spcAft>
                <a:spcPct val="0"/>
              </a:spcAft>
            </a:pPr>
            <a:fld id="{0FF50C5F-1821-4E2A-A470-1F586BB4BED7}" type="slidenum">
              <a:rPr lang="ar-SA" u="sng" smtClean="0">
                <a:solidFill>
                  <a:prstClr val="black">
                    <a:tint val="75000"/>
                  </a:prstClr>
                </a:solidFill>
                <a:latin typeface="Arial" pitchFamily="34" charset="0"/>
                <a:cs typeface="B Kamran" pitchFamily="2" charset="-78"/>
              </a:rPr>
              <a:pPr rtl="0" eaLnBrk="0" fontAlgn="base" hangingPunct="0">
                <a:spcBef>
                  <a:spcPct val="0"/>
                </a:spcBef>
                <a:spcAft>
                  <a:spcPct val="0"/>
                </a:spcAft>
              </a:pPr>
              <a:t>‹#›</a:t>
            </a:fld>
            <a:endParaRPr lang="en-US" u="sng" smtClean="0">
              <a:solidFill>
                <a:prstClr val="black">
                  <a:tint val="75000"/>
                </a:prstClr>
              </a:solidFill>
              <a:latin typeface="Arial" pitchFamily="34" charset="0"/>
              <a:cs typeface="B Kamran" pitchFamily="2" charset="-78"/>
            </a:endParaRPr>
          </a:p>
        </p:txBody>
      </p:sp>
    </p:spTree>
    <p:extLst>
      <p:ext uri="{BB962C8B-B14F-4D97-AF65-F5344CB8AC3E}">
        <p14:creationId xmlns:p14="http://schemas.microsoft.com/office/powerpoint/2010/main" val="41684293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7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8DB72B93-ECF2-4AB6-A49F-59C004D13FEB}"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7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7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52AF9FC-DE54-4A7E-A086-4442728DCD53}"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98578723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ransition>
    <p:dissolv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33CC"/>
            </a:gs>
            <a:gs pos="50000">
              <a:schemeClr val="accent1"/>
            </a:gs>
            <a:gs pos="100000">
              <a:srgbClr val="0033CC"/>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6"/>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lgn="l" rtl="0" fontAlgn="base">
              <a:spcBef>
                <a:spcPct val="0"/>
              </a:spcBef>
              <a:spcAft>
                <a:spcPct val="0"/>
              </a:spcAft>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rtl="0" fontAlgn="base">
              <a:spcBef>
                <a:spcPct val="0"/>
              </a:spcBef>
              <a:spcAft>
                <a:spcPct val="0"/>
              </a:spcAft>
              <a:defRPr/>
            </a:pPr>
            <a:r>
              <a:rPr lang="ar-YE">
                <a:solidFill>
                  <a:srgbClr val="000000"/>
                </a:solidFill>
              </a:rPr>
              <a:t>محمد ترکمان</a:t>
            </a:r>
            <a:endParaRPr lang="en-US">
              <a:solidFill>
                <a:srgbClr val="000000"/>
              </a:solidFill>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rtl="0" fontAlgn="base">
              <a:spcBef>
                <a:spcPct val="0"/>
              </a:spcBef>
              <a:spcAft>
                <a:spcPct val="0"/>
              </a:spcAft>
              <a:defRPr/>
            </a:pPr>
            <a:fld id="{B538D927-0880-4758-8109-9D2B553B84A9}" type="slidenum">
              <a:rPr lang="ar-SA" altLang="en-US">
                <a:solidFill>
                  <a:srgbClr val="000000"/>
                </a:solidFill>
              </a:rPr>
              <a:pPr rtl="0" fontAlgn="base">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3620352773"/>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6"/>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70"/>
            <a:ext cx="2133600" cy="365125"/>
          </a:xfrm>
          <a:prstGeom prst="rect">
            <a:avLst/>
          </a:prstGeom>
        </p:spPr>
        <p:txBody>
          <a:bodyPr vert="horz" lIns="91440" tIns="45720" rIns="91440" bIns="45720" rtlCol="0" anchor="ctr"/>
          <a:lstStyle>
            <a:lvl1pPr algn="l" rtl="1" eaLnBrk="1" fontAlgn="auto" hangingPunct="1">
              <a:spcBef>
                <a:spcPts val="0"/>
              </a:spcBef>
              <a:spcAft>
                <a:spcPts val="0"/>
              </a:spcAft>
              <a:defRPr sz="1200">
                <a:solidFill>
                  <a:prstClr val="black">
                    <a:tint val="75000"/>
                  </a:prstClr>
                </a:solidFill>
                <a:latin typeface="Calibri"/>
              </a:defRPr>
            </a:lvl1pPr>
          </a:lstStyle>
          <a:p>
            <a:pPr>
              <a:defRPr/>
            </a:pPr>
            <a:fld id="{6C232C3A-AF48-4954-918C-3CB1321D48BB}" type="datetime8">
              <a:rPr lang="fa-IR"/>
              <a:pPr>
                <a:defRPr/>
              </a:pPr>
              <a:t>09 ژوئيه 18</a:t>
            </a:fld>
            <a:endParaRPr lang="fa-IR"/>
          </a:p>
        </p:txBody>
      </p:sp>
      <p:sp>
        <p:nvSpPr>
          <p:cNvPr id="5" name="Footer Placeholder 4"/>
          <p:cNvSpPr>
            <a:spLocks noGrp="1"/>
          </p:cNvSpPr>
          <p:nvPr>
            <p:ph type="ftr" sz="quarter" idx="3"/>
          </p:nvPr>
        </p:nvSpPr>
        <p:spPr>
          <a:xfrm>
            <a:off x="3124200" y="6356370"/>
            <a:ext cx="2895600" cy="365125"/>
          </a:xfrm>
          <a:prstGeom prst="rect">
            <a:avLst/>
          </a:prstGeom>
        </p:spPr>
        <p:txBody>
          <a:bodyPr vert="horz" lIns="91440" tIns="45720" rIns="91440" bIns="45720" rtlCol="0" anchor="ctr"/>
          <a:lstStyle>
            <a:lvl1pPr algn="ctr" rtl="1" eaLnBrk="1" fontAlgn="auto" hangingPunct="1">
              <a:spcBef>
                <a:spcPts val="0"/>
              </a:spcBef>
              <a:spcAft>
                <a:spcPts val="0"/>
              </a:spcAft>
              <a:defRPr sz="1200">
                <a:solidFill>
                  <a:prstClr val="black">
                    <a:tint val="75000"/>
                  </a:prstClr>
                </a:solidFill>
                <a:latin typeface="Calibri"/>
              </a:defRPr>
            </a:lvl1pPr>
          </a:lstStyle>
          <a:p>
            <a:pPr>
              <a:defRPr/>
            </a:pPr>
            <a:r>
              <a:rPr lang="fa-IR"/>
              <a:t>تربیت              محمد ترکمان</a:t>
            </a:r>
          </a:p>
        </p:txBody>
      </p:sp>
      <p:sp>
        <p:nvSpPr>
          <p:cNvPr id="6" name="Slide Number Placeholder 5"/>
          <p:cNvSpPr>
            <a:spLocks noGrp="1"/>
          </p:cNvSpPr>
          <p:nvPr>
            <p:ph type="sldNum" sz="quarter" idx="4"/>
          </p:nvPr>
        </p:nvSpPr>
        <p:spPr>
          <a:xfrm>
            <a:off x="6553200" y="6356370"/>
            <a:ext cx="2133600" cy="365125"/>
          </a:xfrm>
          <a:prstGeom prst="rect">
            <a:avLst/>
          </a:prstGeom>
        </p:spPr>
        <p:txBody>
          <a:bodyPr vert="horz" lIns="91440" tIns="45720" rIns="91440" bIns="45720" rtlCol="0" anchor="ctr"/>
          <a:lstStyle>
            <a:lvl1pPr algn="r" rtl="1" eaLnBrk="1" fontAlgn="auto" hangingPunct="1">
              <a:spcBef>
                <a:spcPts val="0"/>
              </a:spcBef>
              <a:spcAft>
                <a:spcPts val="0"/>
              </a:spcAft>
              <a:defRPr sz="1200">
                <a:solidFill>
                  <a:prstClr val="black">
                    <a:tint val="75000"/>
                  </a:prstClr>
                </a:solidFill>
                <a:latin typeface="Calibri"/>
              </a:defRPr>
            </a:lvl1pPr>
          </a:lstStyle>
          <a:p>
            <a:pPr>
              <a:defRPr/>
            </a:pPr>
            <a:fld id="{2BD3EE06-3BED-4A01-A2C3-45D49F1D5C09}" type="slidenum">
              <a:rPr lang="fa-IR"/>
              <a:pPr>
                <a:defRPr/>
              </a:pPr>
              <a:t>‹#›</a:t>
            </a:fld>
            <a:endParaRPr lang="fa-IR"/>
          </a:p>
        </p:txBody>
      </p:sp>
    </p:spTree>
    <p:extLst>
      <p:ext uri="{BB962C8B-B14F-4D97-AF65-F5344CB8AC3E}">
        <p14:creationId xmlns:p14="http://schemas.microsoft.com/office/powerpoint/2010/main" val="753475911"/>
      </p:ext>
    </p:extLst>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ransition spd="slow">
    <p:randomBar dir="vert"/>
  </p:transition>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7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9D296C-83FF-4F6A-B71C-FEEB53A9CF0B}" type="datetime1">
              <a:rPr lang="en-US" smtClean="0">
                <a:solidFill>
                  <a:prstClr val="black">
                    <a:tint val="75000"/>
                  </a:prstClr>
                </a:solidFill>
              </a:rPr>
              <a:pPr/>
              <a:t>7/9/2018</a:t>
            </a:fld>
            <a:endParaRPr lang="fa-IR">
              <a:solidFill>
                <a:prstClr val="black">
                  <a:tint val="75000"/>
                </a:prstClr>
              </a:solidFill>
            </a:endParaRPr>
          </a:p>
        </p:txBody>
      </p:sp>
      <p:sp>
        <p:nvSpPr>
          <p:cNvPr id="5" name="Footer Placeholder 4"/>
          <p:cNvSpPr>
            <a:spLocks noGrp="1"/>
          </p:cNvSpPr>
          <p:nvPr>
            <p:ph type="ftr" sz="quarter" idx="3"/>
          </p:nvPr>
        </p:nvSpPr>
        <p:spPr>
          <a:xfrm>
            <a:off x="3124200" y="635637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4"/>
          </p:nvPr>
        </p:nvSpPr>
        <p:spPr>
          <a:xfrm>
            <a:off x="6553200" y="635637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2211121374"/>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ransition spd="slow">
    <p:randomBar dir="vert"/>
  </p:transition>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7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715338-9E7B-444E-B330-F15117AC6B47}"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3"/>
          </p:nvPr>
        </p:nvSpPr>
        <p:spPr>
          <a:xfrm>
            <a:off x="3124200" y="635637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4"/>
          </p:nvPr>
        </p:nvSpPr>
        <p:spPr>
          <a:xfrm>
            <a:off x="6553200" y="635637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3927671179"/>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Lst>
  <p:transition spd="slow">
    <p:randomBar dir="vert"/>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10" y="32920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ounded Rectangle 8"/>
          <p:cNvSpPr/>
          <p:nvPr/>
        </p:nvSpPr>
        <p:spPr>
          <a:xfrm>
            <a:off x="41860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9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4D5B3F8B-B9A1-4450-8886-929BB179B691}" type="datetimeFigureOut">
              <a:rPr lang="fa-IR" smtClean="0"/>
              <a:t>26/10/1439</a:t>
            </a:fld>
            <a:endParaRPr lang="fa-IR"/>
          </a:p>
        </p:txBody>
      </p:sp>
      <p:sp>
        <p:nvSpPr>
          <p:cNvPr id="18" name="Footer Placeholder 17"/>
          <p:cNvSpPr>
            <a:spLocks noGrp="1"/>
          </p:cNvSpPr>
          <p:nvPr>
            <p:ph type="ftr" sz="quarter" idx="3"/>
          </p:nvPr>
        </p:nvSpPr>
        <p:spPr>
          <a:xfrm>
            <a:off x="6062328" y="611189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fa-IR"/>
          </a:p>
        </p:txBody>
      </p:sp>
      <p:sp>
        <p:nvSpPr>
          <p:cNvPr id="5" name="Slide Number Placeholder 4"/>
          <p:cNvSpPr>
            <a:spLocks noGrp="1"/>
          </p:cNvSpPr>
          <p:nvPr>
            <p:ph type="sldNum" sz="quarter" idx="4"/>
          </p:nvPr>
        </p:nvSpPr>
        <p:spPr>
          <a:xfrm>
            <a:off x="8348328" y="611189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D6DC92A-6D74-47C6-A4F2-FDC489DF81CB}" type="slidenum">
              <a:rPr lang="fa-IR" smtClean="0"/>
              <a:t>‹#›</a:t>
            </a:fld>
            <a:endParaRPr lang="fa-IR"/>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l" rtl="1"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r" rtl="1"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r" rtl="1"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r" rtl="1"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r" rtl="1"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r" rtl="1"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r" rtl="1"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r" rtl="1"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r" rtl="1"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r" rtl="1"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99"/>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8CB6633C-3D18-4A54-8AD6-92C3EE93B0D0}"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3028950" y="6356399"/>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457950" y="6356399"/>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46BF3FF-4791-47B7-A6DB-F38AF2AFB1A9}"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2024494756"/>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ransition spd="slow">
    <p:randomBar dir="ver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411"/>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8CB6633C-3D18-4A54-8AD6-92C3EE93B0D0}"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508001" y="6041411"/>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442999" y="6041411"/>
            <a:ext cx="512504" cy="365125"/>
          </a:xfrm>
          <a:prstGeom prst="rect">
            <a:avLst/>
          </a:prstGeom>
        </p:spPr>
        <p:txBody>
          <a:bodyPr vert="horz" lIns="91440" tIns="45720" rIns="91440" bIns="45720" rtlCol="0" anchor="ctr"/>
          <a:lstStyle>
            <a:lvl1pPr algn="r">
              <a:defRPr sz="900">
                <a:solidFill>
                  <a:schemeClr val="accent1"/>
                </a:solidFill>
              </a:defRPr>
            </a:lvl1pPr>
          </a:lstStyle>
          <a:p>
            <a:pPr rtl="0"/>
            <a:fld id="{946BF3FF-4791-47B7-A6DB-F38AF2AFB1A9}" type="slidenum">
              <a:rPr lang="en-US" smtClean="0">
                <a:solidFill>
                  <a:srgbClr val="90C226"/>
                </a:solidFill>
              </a:rPr>
              <a:pPr rtl="0"/>
              <a:t>‹#›</a:t>
            </a:fld>
            <a:endParaRPr lang="en-US">
              <a:solidFill>
                <a:srgbClr val="90C226"/>
              </a:solidFill>
            </a:endParaRPr>
          </a:p>
        </p:txBody>
      </p:sp>
    </p:spTree>
    <p:extLst>
      <p:ext uri="{BB962C8B-B14F-4D97-AF65-F5344CB8AC3E}">
        <p14:creationId xmlns:p14="http://schemas.microsoft.com/office/powerpoint/2010/main" val="1713052623"/>
      </p:ext>
    </p:extLst>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 id="2147484000" r:id="rId16"/>
  </p:sldLayoutIdLst>
  <p:transition spd="slow">
    <p:randomBar dir="vert"/>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409"/>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8CB6633C-3D18-4A54-8AD6-92C3EE93B0D0}"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508001" y="6041409"/>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442999" y="6041409"/>
            <a:ext cx="512504" cy="365125"/>
          </a:xfrm>
          <a:prstGeom prst="rect">
            <a:avLst/>
          </a:prstGeom>
        </p:spPr>
        <p:txBody>
          <a:bodyPr vert="horz" lIns="91440" tIns="45720" rIns="91440" bIns="45720" rtlCol="0" anchor="ctr"/>
          <a:lstStyle>
            <a:lvl1pPr algn="r">
              <a:defRPr sz="900">
                <a:solidFill>
                  <a:schemeClr val="accent1"/>
                </a:solidFill>
              </a:defRPr>
            </a:lvl1pPr>
          </a:lstStyle>
          <a:p>
            <a:pPr rtl="0"/>
            <a:fld id="{946BF3FF-4791-47B7-A6DB-F38AF2AFB1A9}" type="slidenum">
              <a:rPr lang="en-US" smtClean="0">
                <a:solidFill>
                  <a:srgbClr val="5FCBEF"/>
                </a:solidFill>
              </a:rPr>
              <a:pPr rtl="0"/>
              <a:t>‹#›</a:t>
            </a:fld>
            <a:endParaRPr lang="en-US">
              <a:solidFill>
                <a:srgbClr val="5FCBEF"/>
              </a:solidFill>
            </a:endParaRPr>
          </a:p>
        </p:txBody>
      </p:sp>
    </p:spTree>
    <p:extLst>
      <p:ext uri="{BB962C8B-B14F-4D97-AF65-F5344CB8AC3E}">
        <p14:creationId xmlns:p14="http://schemas.microsoft.com/office/powerpoint/2010/main" val="1122743133"/>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 id="2147484013" r:id="rId12"/>
    <p:sldLayoutId id="2147484014" r:id="rId13"/>
    <p:sldLayoutId id="2147484015" r:id="rId14"/>
    <p:sldLayoutId id="2147484016" r:id="rId15"/>
    <p:sldLayoutId id="2147484017" r:id="rId16"/>
  </p:sldLayoutIdLst>
  <p:transition spd="slow">
    <p:randomBar dir="vert"/>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413"/>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8CB6633C-3D18-4A54-8AD6-92C3EE93B0D0}"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508001" y="6041413"/>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442999" y="6041413"/>
            <a:ext cx="512504" cy="365125"/>
          </a:xfrm>
          <a:prstGeom prst="rect">
            <a:avLst/>
          </a:prstGeom>
        </p:spPr>
        <p:txBody>
          <a:bodyPr vert="horz" lIns="91440" tIns="45720" rIns="91440" bIns="45720" rtlCol="0" anchor="ctr"/>
          <a:lstStyle>
            <a:lvl1pPr algn="r">
              <a:defRPr sz="900">
                <a:solidFill>
                  <a:schemeClr val="accent1"/>
                </a:solidFill>
              </a:defRPr>
            </a:lvl1pPr>
          </a:lstStyle>
          <a:p>
            <a:pPr rtl="0"/>
            <a:fld id="{946BF3FF-4791-47B7-A6DB-F38AF2AFB1A9}" type="slidenum">
              <a:rPr lang="en-US" smtClean="0">
                <a:solidFill>
                  <a:srgbClr val="5FCBEF"/>
                </a:solidFill>
              </a:rPr>
              <a:pPr rtl="0"/>
              <a:t>‹#›</a:t>
            </a:fld>
            <a:endParaRPr lang="en-US">
              <a:solidFill>
                <a:srgbClr val="5FCBEF"/>
              </a:solidFill>
            </a:endParaRPr>
          </a:p>
        </p:txBody>
      </p:sp>
    </p:spTree>
    <p:extLst>
      <p:ext uri="{BB962C8B-B14F-4D97-AF65-F5344CB8AC3E}">
        <p14:creationId xmlns:p14="http://schemas.microsoft.com/office/powerpoint/2010/main" val="4215599073"/>
      </p:ext>
    </p:extLst>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 id="2147484028" r:id="rId10"/>
    <p:sldLayoutId id="2147484029" r:id="rId11"/>
    <p:sldLayoutId id="2147484030" r:id="rId12"/>
    <p:sldLayoutId id="2147484031" r:id="rId13"/>
    <p:sldLayoutId id="2147484032" r:id="rId14"/>
    <p:sldLayoutId id="2147484033" r:id="rId15"/>
    <p:sldLayoutId id="2147484034" r:id="rId16"/>
  </p:sldLayoutIdLst>
  <p:transition spd="slow">
    <p:randomBar dir="vert"/>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405"/>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8CB6633C-3D18-4A54-8AD6-92C3EE93B0D0}"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508001" y="6041405"/>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442999" y="6041405"/>
            <a:ext cx="512504" cy="365125"/>
          </a:xfrm>
          <a:prstGeom prst="rect">
            <a:avLst/>
          </a:prstGeom>
        </p:spPr>
        <p:txBody>
          <a:bodyPr vert="horz" lIns="91440" tIns="45720" rIns="91440" bIns="45720" rtlCol="0" anchor="ctr"/>
          <a:lstStyle>
            <a:lvl1pPr algn="r">
              <a:defRPr sz="900">
                <a:solidFill>
                  <a:schemeClr val="accent1"/>
                </a:solidFill>
              </a:defRPr>
            </a:lvl1pPr>
          </a:lstStyle>
          <a:p>
            <a:pPr rtl="0"/>
            <a:fld id="{946BF3FF-4791-47B7-A6DB-F38AF2AFB1A9}" type="slidenum">
              <a:rPr lang="en-US" smtClean="0">
                <a:solidFill>
                  <a:srgbClr val="90C226"/>
                </a:solidFill>
              </a:rPr>
              <a:pPr rtl="0"/>
              <a:t>‹#›</a:t>
            </a:fld>
            <a:endParaRPr lang="en-US">
              <a:solidFill>
                <a:srgbClr val="90C226"/>
              </a:solidFill>
            </a:endParaRPr>
          </a:p>
        </p:txBody>
      </p:sp>
    </p:spTree>
    <p:extLst>
      <p:ext uri="{BB962C8B-B14F-4D97-AF65-F5344CB8AC3E}">
        <p14:creationId xmlns:p14="http://schemas.microsoft.com/office/powerpoint/2010/main" val="3649270304"/>
      </p:ext>
    </p:extLst>
  </p:cSld>
  <p:clrMap bg1="lt1" tx1="dk1" bg2="lt2" tx2="dk2" accent1="accent1" accent2="accent2" accent3="accent3" accent4="accent4" accent5="accent5" accent6="accent6" hlink="hlink" folHlink="folHlink"/>
  <p:sldLayoutIdLst>
    <p:sldLayoutId id="2147484036" r:id="rId1"/>
    <p:sldLayoutId id="2147484037" r:id="rId2"/>
    <p:sldLayoutId id="2147484038" r:id="rId3"/>
    <p:sldLayoutId id="2147484039" r:id="rId4"/>
    <p:sldLayoutId id="2147484040" r:id="rId5"/>
    <p:sldLayoutId id="2147484041" r:id="rId6"/>
    <p:sldLayoutId id="2147484042" r:id="rId7"/>
    <p:sldLayoutId id="2147484043" r:id="rId8"/>
    <p:sldLayoutId id="2147484044" r:id="rId9"/>
    <p:sldLayoutId id="2147484045" r:id="rId10"/>
    <p:sldLayoutId id="2147484046" r:id="rId11"/>
    <p:sldLayoutId id="2147484047" r:id="rId12"/>
    <p:sldLayoutId id="2147484048" r:id="rId13"/>
    <p:sldLayoutId id="2147484049" r:id="rId14"/>
    <p:sldLayoutId id="2147484050" r:id="rId15"/>
    <p:sldLayoutId id="2147484051" r:id="rId16"/>
  </p:sldLayoutIdLst>
  <p:transition spd="slow">
    <p:randomBar dir="vert"/>
  </p:transition>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9144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609600"/>
            <a:ext cx="6447501"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08001" y="2160590"/>
            <a:ext cx="6447501"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3850" y="6041399"/>
            <a:ext cx="683954"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8CB6633C-3D18-4A54-8AD6-92C3EE93B0D0}"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508001" y="6041399"/>
            <a:ext cx="4723209"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442999" y="6041399"/>
            <a:ext cx="512504"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pPr rtl="0"/>
            <a:fld id="{946BF3FF-4791-47B7-A6DB-F38AF2AFB1A9}" type="slidenum">
              <a:rPr lang="en-US" smtClean="0">
                <a:solidFill>
                  <a:srgbClr val="F496CB">
                    <a:lumMod val="75000"/>
                  </a:srgbClr>
                </a:solidFill>
              </a:rPr>
              <a:pPr rtl="0"/>
              <a:t>‹#›</a:t>
            </a:fld>
            <a:endParaRPr lang="en-US">
              <a:solidFill>
                <a:srgbClr val="F496CB">
                  <a:lumMod val="75000"/>
                </a:srgbClr>
              </a:solidFill>
            </a:endParaRPr>
          </a:p>
        </p:txBody>
      </p:sp>
    </p:spTree>
    <p:extLst>
      <p:ext uri="{BB962C8B-B14F-4D97-AF65-F5344CB8AC3E}">
        <p14:creationId xmlns:p14="http://schemas.microsoft.com/office/powerpoint/2010/main" val="4002845851"/>
      </p:ext>
    </p:extLst>
  </p:cSld>
  <p:clrMap bg1="lt1" tx1="dk1" bg2="lt2" tx2="dk2" accent1="accent1" accent2="accent2" accent3="accent3" accent4="accent4" accent5="accent5" accent6="accent6" hlink="hlink" folHlink="folHlink"/>
  <p:sldLayoutIdLst>
    <p:sldLayoutId id="2147484053"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 id="2147484064" r:id="rId12"/>
    <p:sldLayoutId id="2147484065" r:id="rId13"/>
    <p:sldLayoutId id="2147484066" r:id="rId14"/>
    <p:sldLayoutId id="2147484067" r:id="rId15"/>
    <p:sldLayoutId id="2147484068" r:id="rId16"/>
  </p:sldLayoutIdLst>
  <p:transition spd="slow">
    <p:randomBar dir="vert"/>
  </p:transition>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fa-I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fa-IR">
              <a:solidFill>
                <a:prstClr val="black">
                  <a:tint val="75000"/>
                </a:prstClr>
              </a:solidFill>
            </a:endParaRPr>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181472027"/>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ound Diagonal Corner Rectangle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srgbClr val="FFFFFF"/>
              </a:solidFill>
            </a:endParaRPr>
          </a:p>
        </p:txBody>
      </p:sp>
      <p:sp>
        <p:nvSpPr>
          <p:cNvPr id="3" name="Footer Placeholder 2"/>
          <p:cNvSpPr>
            <a:spLocks noGrp="1"/>
          </p:cNvSpPr>
          <p:nvPr>
            <p:ph type="ftr" sz="quarter" idx="3"/>
          </p:nvPr>
        </p:nvSpPr>
        <p:spPr>
          <a:xfrm>
            <a:off x="1295400" y="6400800"/>
            <a:ext cx="4212264"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endParaRPr lang="fa-IR">
              <a:solidFill>
                <a:srgbClr val="675E47">
                  <a:tint val="60000"/>
                  <a:satMod val="155000"/>
                </a:srgbClr>
              </a:solidFill>
            </a:endParaRPr>
          </a:p>
        </p:txBody>
      </p:sp>
      <p:sp>
        <p:nvSpPr>
          <p:cNvPr id="14" name="Date Placeholder 13"/>
          <p:cNvSpPr>
            <a:spLocks noGrp="1"/>
          </p:cNvSpPr>
          <p:nvPr>
            <p:ph type="dt" sz="half" idx="2"/>
          </p:nvPr>
        </p:nvSpPr>
        <p:spPr>
          <a:xfrm>
            <a:off x="5562600" y="6400800"/>
            <a:ext cx="300228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fld id="{5689DF52-FF03-4FC2-864B-97FE6286A77E}" type="datetimeFigureOut">
              <a:rPr lang="fa-IR" smtClean="0">
                <a:solidFill>
                  <a:srgbClr val="675E47">
                    <a:tint val="60000"/>
                    <a:satMod val="155000"/>
                  </a:srgbClr>
                </a:solidFill>
              </a:rPr>
              <a:pPr/>
              <a:t>26/10/1439</a:t>
            </a:fld>
            <a:endParaRPr lang="fa-IR">
              <a:solidFill>
                <a:srgbClr val="675E47">
                  <a:tint val="60000"/>
                  <a:satMod val="155000"/>
                </a:srgbClr>
              </a:solidFill>
            </a:endParaRPr>
          </a:p>
        </p:txBody>
      </p:sp>
      <p:sp>
        <p:nvSpPr>
          <p:cNvPr id="23" name="Slide Number Placeholder 22"/>
          <p:cNvSpPr>
            <a:spLocks noGrp="1"/>
          </p:cNvSpPr>
          <p:nvPr>
            <p:ph type="sldNum" sz="quarter" idx="4"/>
          </p:nvPr>
        </p:nvSpPr>
        <p:spPr>
          <a:xfrm>
            <a:off x="8638952" y="6514568"/>
            <a:ext cx="464288"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fld id="{2D95CAFF-2A4E-426E-9E44-677770923642}" type="slidenum">
              <a:rPr lang="fa-IR" smtClean="0">
                <a:solidFill>
                  <a:srgbClr val="DFDCB7">
                    <a:shade val="90000"/>
                  </a:srgbClr>
                </a:solidFill>
              </a:rPr>
              <a:pPr/>
              <a:t>‹#›</a:t>
            </a:fld>
            <a:endParaRPr lang="fa-IR">
              <a:solidFill>
                <a:srgbClr val="DFDCB7">
                  <a:shade val="90000"/>
                </a:srgbClr>
              </a:solidFill>
            </a:endParaRPr>
          </a:p>
        </p:txBody>
      </p:sp>
      <p:sp>
        <p:nvSpPr>
          <p:cNvPr id="22" name="Title Placeholder 21"/>
          <p:cNvSpPr>
            <a:spLocks noGrp="1"/>
          </p:cNvSpPr>
          <p:nvPr>
            <p:ph type="title"/>
          </p:nvPr>
        </p:nvSpPr>
        <p:spPr>
          <a:xfrm>
            <a:off x="457200" y="253536"/>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46237"/>
            <a:ext cx="8229600" cy="452628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extLst>
      <p:ext uri="{BB962C8B-B14F-4D97-AF65-F5344CB8AC3E}">
        <p14:creationId xmlns:p14="http://schemas.microsoft.com/office/powerpoint/2010/main" val="2297780673"/>
      </p:ext>
    </p:extLst>
  </p:cSld>
  <p:clrMap bg1="dk1" tx1="lt1" bg2="dk2" tx2="lt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marL="54864" algn="r" rtl="1"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r" rtl="1"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r" rtl="1"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r" rtl="1"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r" rtl="1"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r" rtl="1"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r" rtl="1"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r" rtl="1"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r" rtl="1"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r" rtl="1"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fa-I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rtl="0"/>
            <a:fld id="{8DB72B93-ECF2-4AB6-A49F-59C004D13FEB}"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rtl="0"/>
            <a:fld id="{952AF9FC-DE54-4A7E-A086-4442728DCD53}"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1413200597"/>
      </p:ext>
    </p:extLst>
  </p:cSld>
  <p:clrMap bg1="lt1" tx1="dk1" bg2="lt2" tx2="dk2" accent1="accent1" accent2="accent2" accent3="accent3" accent4="accent4" accent5="accent5" accent6="accent6" hlink="hlink" folHlink="folHlink"/>
  <p:sldLayoutIdLst>
    <p:sldLayoutId id="2147484106" r:id="rId1"/>
    <p:sldLayoutId id="2147484107" r:id="rId2"/>
    <p:sldLayoutId id="2147484108" r:id="rId3"/>
    <p:sldLayoutId id="2147484109" r:id="rId4"/>
    <p:sldLayoutId id="2147484110" r:id="rId5"/>
    <p:sldLayoutId id="2147484111" r:id="rId6"/>
    <p:sldLayoutId id="2147484112" r:id="rId7"/>
    <p:sldLayoutId id="2147484113" r:id="rId8"/>
    <p:sldLayoutId id="2147484114" r:id="rId9"/>
    <p:sldLayoutId id="2147484115" r:id="rId10"/>
    <p:sldLayoutId id="2147484116" r:id="rId11"/>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EACDCD38-F5CD-4713-A209-455D315A717E}" type="datetimeFigureOut">
              <a:rPr lang="en-US" smtClean="0">
                <a:solidFill>
                  <a:prstClr val="black">
                    <a:tint val="75000"/>
                  </a:prstClr>
                </a:solidFill>
              </a:rPr>
              <a:pPr rtl="0"/>
              <a:t>7/9/2018</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619BF10D-6A18-48BE-A6D7-CB59C1C28287}"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2435437809"/>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rtl="1" eaLnBrk="1" fontAlgn="auto" hangingPunct="1">
              <a:spcBef>
                <a:spcPts val="0"/>
              </a:spcBef>
              <a:spcAft>
                <a:spcPts val="0"/>
              </a:spcAft>
              <a:defRPr sz="1200">
                <a:solidFill>
                  <a:prstClr val="black">
                    <a:tint val="75000"/>
                  </a:prstClr>
                </a:solidFill>
                <a:latin typeface="Calibri"/>
              </a:defRPr>
            </a:lvl1pPr>
          </a:lstStyle>
          <a:p>
            <a:pPr>
              <a:defRPr/>
            </a:pPr>
            <a:fld id="{6C232C3A-AF48-4954-918C-3CB1321D48BB}" type="datetime8">
              <a:rPr lang="fa-IR"/>
              <a:pPr>
                <a:defRPr/>
              </a:pPr>
              <a:t>09 ژوئيه 18</a:t>
            </a:fld>
            <a:endParaRPr lang="fa-I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rtl="1" eaLnBrk="1" fontAlgn="auto" hangingPunct="1">
              <a:spcBef>
                <a:spcPts val="0"/>
              </a:spcBef>
              <a:spcAft>
                <a:spcPts val="0"/>
              </a:spcAft>
              <a:defRPr sz="1200">
                <a:solidFill>
                  <a:prstClr val="black">
                    <a:tint val="75000"/>
                  </a:prstClr>
                </a:solidFill>
                <a:latin typeface="Calibri"/>
              </a:defRPr>
            </a:lvl1pPr>
          </a:lstStyle>
          <a:p>
            <a:pPr>
              <a:defRPr/>
            </a:pPr>
            <a:r>
              <a:rPr lang="fa-IR"/>
              <a:t>تربیت              محمد ترکمان</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rtl="1" eaLnBrk="1" fontAlgn="auto" hangingPunct="1">
              <a:spcBef>
                <a:spcPts val="0"/>
              </a:spcBef>
              <a:spcAft>
                <a:spcPts val="0"/>
              </a:spcAft>
              <a:defRPr sz="1200">
                <a:solidFill>
                  <a:prstClr val="black">
                    <a:tint val="75000"/>
                  </a:prstClr>
                </a:solidFill>
                <a:latin typeface="Calibri"/>
              </a:defRPr>
            </a:lvl1pPr>
          </a:lstStyle>
          <a:p>
            <a:pPr>
              <a:defRPr/>
            </a:pPr>
            <a:fld id="{2BD3EE06-3BED-4A01-A2C3-45D49F1D5C09}" type="slidenum">
              <a:rPr lang="fa-IR"/>
              <a:pPr>
                <a:defRPr/>
              </a:pPr>
              <a:t>‹#›</a:t>
            </a:fld>
            <a:endParaRPr lang="fa-IR"/>
          </a:p>
        </p:txBody>
      </p:sp>
    </p:spTree>
    <p:extLst>
      <p:ext uri="{BB962C8B-B14F-4D97-AF65-F5344CB8AC3E}">
        <p14:creationId xmlns:p14="http://schemas.microsoft.com/office/powerpoint/2010/main" val="122271541"/>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a-IR">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fa-IR" smtClean="0">
                <a:solidFill>
                  <a:prstClr val="black">
                    <a:tint val="75000"/>
                  </a:prstClr>
                </a:solidFill>
              </a:rPr>
              <a:t>محمد ترکمان</a:t>
            </a:r>
            <a:endParaRPr lang="fa-IR">
              <a:solidFill>
                <a:prstClr val="black">
                  <a:tint val="75000"/>
                </a:prst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4277006153"/>
      </p:ext>
    </p:extLst>
  </p:cSld>
  <p:clrMap bg1="lt1" tx1="dk1" bg2="lt2" tx2="dk2" accent1="accent1" accent2="accent2" accent3="accent3" accent4="accent4" accent5="accent5" accent6="accent6" hlink="hlink" folHlink="folHlink"/>
  <p:sldLayoutIdLst>
    <p:sldLayoutId id="2147484142" r:id="rId1"/>
    <p:sldLayoutId id="2147484143" r:id="rId2"/>
    <p:sldLayoutId id="2147484144" r:id="rId3"/>
    <p:sldLayoutId id="2147484145" r:id="rId4"/>
    <p:sldLayoutId id="2147484146" r:id="rId5"/>
    <p:sldLayoutId id="2147484147" r:id="rId6"/>
    <p:sldLayoutId id="2147484148" r:id="rId7"/>
    <p:sldLayoutId id="2147484149" r:id="rId8"/>
    <p:sldLayoutId id="2147484150" r:id="rId9"/>
    <p:sldLayoutId id="2147484151" r:id="rId10"/>
    <p:sldLayoutId id="2147484152" r:id="rId11"/>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hd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715338-9E7B-444E-B330-F15117AC6B47}" type="datetime8">
              <a:rPr lang="fa-IR" smtClean="0">
                <a:solidFill>
                  <a:prstClr val="black">
                    <a:tint val="75000"/>
                  </a:prstClr>
                </a:solidFill>
              </a:rPr>
              <a:pPr/>
              <a:t>09 ژوئيه 18</a:t>
            </a:fld>
            <a:endParaRPr lang="fa-IR">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a-IR" smtClean="0">
                <a:solidFill>
                  <a:prstClr val="black">
                    <a:tint val="75000"/>
                  </a:prstClr>
                </a:solidFill>
              </a:rPr>
              <a:t>تربیت              محمد ترکمان</a:t>
            </a:r>
            <a:endParaRPr lang="fa-IR">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2171D3-DBFD-432C-941C-EF7FA902E024}"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675658854"/>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Lst>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6" name="Rectangle 65"/>
          <p:cNvSpPr/>
          <p:nvPr/>
        </p:nvSpPr>
        <p:spPr>
          <a:xfrm>
            <a:off x="457200" y="33350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50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512"/>
            <a:ext cx="2133600" cy="365125"/>
          </a:xfrm>
          <a:prstGeom prst="rect">
            <a:avLst/>
          </a:prstGeom>
        </p:spPr>
        <p:txBody>
          <a:bodyPr vert="horz" lIns="91440" tIns="45720" rIns="91440" bIns="45720" rtlCol="0" anchor="ctr"/>
          <a:lstStyle>
            <a:lvl1pPr algn="r">
              <a:defRPr sz="1200">
                <a:solidFill>
                  <a:srgbClr val="FEFEFE"/>
                </a:solidFill>
              </a:defRPr>
            </a:lvl1pPr>
          </a:lstStyle>
          <a:p>
            <a:fld id="{4D5B3F8B-B9A1-4450-8886-929BB179B691}" type="datetimeFigureOut">
              <a:rPr lang="fa-IR" smtClean="0"/>
              <a:pPr/>
              <a:t>26/10/1439</a:t>
            </a:fld>
            <a:endParaRPr lang="fa-IR"/>
          </a:p>
        </p:txBody>
      </p:sp>
      <p:sp>
        <p:nvSpPr>
          <p:cNvPr id="5" name="Footer Placeholder 4"/>
          <p:cNvSpPr>
            <a:spLocks noGrp="1"/>
          </p:cNvSpPr>
          <p:nvPr>
            <p:ph type="ftr" sz="quarter" idx="3"/>
          </p:nvPr>
        </p:nvSpPr>
        <p:spPr>
          <a:xfrm>
            <a:off x="4641448" y="585218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fa-IR">
              <a:solidFill>
                <a:srgbClr val="94C600"/>
              </a:solidFill>
            </a:endParaRPr>
          </a:p>
        </p:txBody>
      </p:sp>
      <p:sp>
        <p:nvSpPr>
          <p:cNvPr id="6" name="Slide Number Placeholder 5"/>
          <p:cNvSpPr>
            <a:spLocks noGrp="1"/>
          </p:cNvSpPr>
          <p:nvPr>
            <p:ph type="sldNum" sz="quarter" idx="4"/>
          </p:nvPr>
        </p:nvSpPr>
        <p:spPr>
          <a:xfrm>
            <a:off x="4649096" y="224511"/>
            <a:ext cx="1332156" cy="365125"/>
          </a:xfrm>
          <a:prstGeom prst="rect">
            <a:avLst/>
          </a:prstGeom>
        </p:spPr>
        <p:txBody>
          <a:bodyPr vert="horz" lIns="91440" tIns="45720" rIns="91440" bIns="45720" rtlCol="0" anchor="ctr"/>
          <a:lstStyle>
            <a:lvl1pPr algn="l">
              <a:defRPr sz="1200">
                <a:solidFill>
                  <a:srgbClr val="FEFEFE"/>
                </a:solidFill>
              </a:defRPr>
            </a:lvl1pPr>
          </a:lstStyle>
          <a:p>
            <a:fld id="{BD6DC92A-6D74-47C6-A4F2-FDC489DF81CB}" type="slidenum">
              <a:rPr lang="fa-IR" smtClean="0"/>
              <a:pPr/>
              <a:t>‹#›</a:t>
            </a:fld>
            <a:endParaRPr lang="fa-IR"/>
          </a:p>
        </p:txBody>
      </p:sp>
    </p:spTree>
    <p:extLst>
      <p:ext uri="{BB962C8B-B14F-4D97-AF65-F5344CB8AC3E}">
        <p14:creationId xmlns:p14="http://schemas.microsoft.com/office/powerpoint/2010/main" val="1881364519"/>
      </p:ext>
    </p:extLst>
  </p:cSld>
  <p:clrMap bg1="lt1" tx1="dk1" bg2="lt2" tx2="dk2" accent1="accent1" accent2="accent2" accent3="accent3" accent4="accent4" accent5="accent5" accent6="accent6" hlink="hlink" folHlink="folHlink"/>
  <p:sldLayoutIdLst>
    <p:sldLayoutId id="2147484183" r:id="rId1"/>
    <p:sldLayoutId id="2147484184" r:id="rId2"/>
    <p:sldLayoutId id="2147484185" r:id="rId3"/>
    <p:sldLayoutId id="2147484186" r:id="rId4"/>
    <p:sldLayoutId id="2147484187" r:id="rId5"/>
    <p:sldLayoutId id="2147484188" r:id="rId6"/>
    <p:sldLayoutId id="2147484189" r:id="rId7"/>
    <p:sldLayoutId id="2147484190" r:id="rId8"/>
    <p:sldLayoutId id="2147484191" r:id="rId9"/>
    <p:sldLayoutId id="2147484192" r:id="rId10"/>
    <p:sldLayoutId id="2147484193"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6"/>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72"/>
            <a:ext cx="2133600" cy="365125"/>
          </a:xfrm>
          <a:prstGeom prst="rect">
            <a:avLst/>
          </a:prstGeom>
        </p:spPr>
        <p:txBody>
          <a:bodyPr vert="horz" lIns="91440" tIns="45720" rIns="91440" bIns="45720" rtlCol="0" anchor="ctr"/>
          <a:lstStyle>
            <a:lvl1pPr algn="l" rtl="1" eaLnBrk="1" fontAlgn="auto" hangingPunct="1">
              <a:spcBef>
                <a:spcPts val="0"/>
              </a:spcBef>
              <a:spcAft>
                <a:spcPts val="0"/>
              </a:spcAft>
              <a:defRPr sz="900">
                <a:solidFill>
                  <a:prstClr val="black">
                    <a:tint val="75000"/>
                  </a:prstClr>
                </a:solidFill>
                <a:latin typeface="Calibri"/>
              </a:defRPr>
            </a:lvl1pPr>
          </a:lstStyle>
          <a:p>
            <a:pPr>
              <a:defRPr/>
            </a:pPr>
            <a:fld id="{6C232C3A-AF48-4954-918C-3CB1321D48BB}" type="datetime8">
              <a:rPr lang="fa-IR"/>
              <a:pPr>
                <a:defRPr/>
              </a:pPr>
              <a:t>09 ژوئيه 18</a:t>
            </a:fld>
            <a:endParaRPr lang="fa-IR"/>
          </a:p>
        </p:txBody>
      </p:sp>
      <p:sp>
        <p:nvSpPr>
          <p:cNvPr id="5" name="Footer Placeholder 4"/>
          <p:cNvSpPr>
            <a:spLocks noGrp="1"/>
          </p:cNvSpPr>
          <p:nvPr>
            <p:ph type="ftr" sz="quarter" idx="3"/>
          </p:nvPr>
        </p:nvSpPr>
        <p:spPr>
          <a:xfrm>
            <a:off x="3124200" y="6356372"/>
            <a:ext cx="2895600" cy="365125"/>
          </a:xfrm>
          <a:prstGeom prst="rect">
            <a:avLst/>
          </a:prstGeom>
        </p:spPr>
        <p:txBody>
          <a:bodyPr vert="horz" lIns="91440" tIns="45720" rIns="91440" bIns="45720" rtlCol="0" anchor="ctr"/>
          <a:lstStyle>
            <a:lvl1pPr algn="ctr" rtl="1" eaLnBrk="1" fontAlgn="auto" hangingPunct="1">
              <a:spcBef>
                <a:spcPts val="0"/>
              </a:spcBef>
              <a:spcAft>
                <a:spcPts val="0"/>
              </a:spcAft>
              <a:defRPr sz="900">
                <a:solidFill>
                  <a:prstClr val="black">
                    <a:tint val="75000"/>
                  </a:prstClr>
                </a:solidFill>
                <a:latin typeface="Calibri"/>
              </a:defRPr>
            </a:lvl1pPr>
          </a:lstStyle>
          <a:p>
            <a:pPr>
              <a:defRPr/>
            </a:pPr>
            <a:r>
              <a:rPr lang="fa-IR"/>
              <a:t>تربیت              محمد ترکمان</a:t>
            </a:r>
          </a:p>
        </p:txBody>
      </p:sp>
      <p:sp>
        <p:nvSpPr>
          <p:cNvPr id="6" name="Slide Number Placeholder 5"/>
          <p:cNvSpPr>
            <a:spLocks noGrp="1"/>
          </p:cNvSpPr>
          <p:nvPr>
            <p:ph type="sldNum" sz="quarter" idx="4"/>
          </p:nvPr>
        </p:nvSpPr>
        <p:spPr>
          <a:xfrm>
            <a:off x="6553200" y="6356372"/>
            <a:ext cx="2133600" cy="365125"/>
          </a:xfrm>
          <a:prstGeom prst="rect">
            <a:avLst/>
          </a:prstGeom>
        </p:spPr>
        <p:txBody>
          <a:bodyPr vert="horz" lIns="91440" tIns="45720" rIns="91440" bIns="45720" rtlCol="0" anchor="ctr"/>
          <a:lstStyle>
            <a:lvl1pPr algn="r" rtl="1" eaLnBrk="1" fontAlgn="auto" hangingPunct="1">
              <a:spcBef>
                <a:spcPts val="0"/>
              </a:spcBef>
              <a:spcAft>
                <a:spcPts val="0"/>
              </a:spcAft>
              <a:defRPr sz="900">
                <a:solidFill>
                  <a:prstClr val="black">
                    <a:tint val="75000"/>
                  </a:prstClr>
                </a:solidFill>
                <a:latin typeface="Calibri"/>
              </a:defRPr>
            </a:lvl1pPr>
          </a:lstStyle>
          <a:p>
            <a:pPr>
              <a:defRPr/>
            </a:pPr>
            <a:fld id="{2BD3EE06-3BED-4A01-A2C3-45D49F1D5C09}" type="slidenum">
              <a:rPr lang="fa-IR"/>
              <a:pPr>
                <a:defRPr/>
              </a:pPr>
              <a:t>‹#›</a:t>
            </a:fld>
            <a:endParaRPr lang="fa-IR"/>
          </a:p>
        </p:txBody>
      </p:sp>
    </p:spTree>
    <p:extLst>
      <p:ext uri="{BB962C8B-B14F-4D97-AF65-F5344CB8AC3E}">
        <p14:creationId xmlns:p14="http://schemas.microsoft.com/office/powerpoint/2010/main" val="2523098179"/>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Lst>
  <p:transition spd="slow">
    <p:randomBar dir="vert"/>
  </p:transition>
  <p:hf sldNum="0" hdr="0" ft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fontAlgn="base">
        <a:spcBef>
          <a:spcPct val="0"/>
        </a:spcBef>
        <a:spcAft>
          <a:spcPct val="0"/>
        </a:spcAft>
        <a:defRPr sz="3300">
          <a:solidFill>
            <a:schemeClr val="tx1"/>
          </a:solidFill>
          <a:latin typeface="Calibri" panose="020F0502020204030204" pitchFamily="34" charset="0"/>
        </a:defRPr>
      </a:lvl6pPr>
      <a:lvl7pPr marL="685800" algn="ctr" rtl="0" fontAlgn="base">
        <a:spcBef>
          <a:spcPct val="0"/>
        </a:spcBef>
        <a:spcAft>
          <a:spcPct val="0"/>
        </a:spcAft>
        <a:defRPr sz="3300">
          <a:solidFill>
            <a:schemeClr val="tx1"/>
          </a:solidFill>
          <a:latin typeface="Calibri" panose="020F0502020204030204" pitchFamily="34" charset="0"/>
        </a:defRPr>
      </a:lvl7pPr>
      <a:lvl8pPr marL="1028700" algn="ctr" rtl="0" fontAlgn="base">
        <a:spcBef>
          <a:spcPct val="0"/>
        </a:spcBef>
        <a:spcAft>
          <a:spcPct val="0"/>
        </a:spcAft>
        <a:defRPr sz="3300">
          <a:solidFill>
            <a:schemeClr val="tx1"/>
          </a:solidFill>
          <a:latin typeface="Calibri" panose="020F0502020204030204" pitchFamily="34" charset="0"/>
        </a:defRPr>
      </a:lvl8pPr>
      <a:lvl9pPr marL="1371600" algn="ctr"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fa-I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5689DF52-FF03-4FC2-864B-97FE6286A77E}" type="datetimeFigureOut">
              <a:rPr lang="fa-IR" smtClean="0">
                <a:solidFill>
                  <a:prstClr val="black">
                    <a:tint val="75000"/>
                  </a:prstClr>
                </a:solidFill>
              </a:rPr>
              <a:pPr/>
              <a:t>26/10/1439</a:t>
            </a:fld>
            <a:endParaRPr lang="fa-IR">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fa-IR">
              <a:solidFill>
                <a:prstClr val="black">
                  <a:tint val="75000"/>
                </a:prstClr>
              </a:solidFill>
            </a:endParaRPr>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D95CAFF-2A4E-426E-9E44-677770923642}" type="slidenum">
              <a:rPr lang="fa-IR" smtClean="0">
                <a:solidFill>
                  <a:prstClr val="black">
                    <a:tint val="75000"/>
                  </a:prstClr>
                </a:solidFill>
              </a:rPr>
              <a:pPr/>
              <a:t>‹#›</a:t>
            </a:fld>
            <a:endParaRPr lang="fa-IR">
              <a:solidFill>
                <a:prstClr val="black">
                  <a:tint val="75000"/>
                </a:prstClr>
              </a:solidFill>
            </a:endParaRPr>
          </a:p>
        </p:txBody>
      </p:sp>
    </p:spTree>
    <p:extLst>
      <p:ext uri="{BB962C8B-B14F-4D97-AF65-F5344CB8AC3E}">
        <p14:creationId xmlns:p14="http://schemas.microsoft.com/office/powerpoint/2010/main" val="4087511838"/>
      </p:ext>
    </p:extLst>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file:///E:\-music%20for%20workshops\Ali%20Zand%20Vakili%20-%20Rouyaye%20Bi%20Tekrar\01%20Atash%20Dar%20Aab.mp3" TargetMode="External"/><Relationship Id="rId2" Type="http://schemas.openxmlformats.org/officeDocument/2006/relationships/image" Target="../media/image4.jpeg"/><Relationship Id="rId1" Type="http://schemas.openxmlformats.org/officeDocument/2006/relationships/slideLayout" Target="../slideLayouts/slideLayout46.xml"/><Relationship Id="rId4" Type="http://schemas.openxmlformats.org/officeDocument/2006/relationships/hyperlink" Target="file:///E:\anteraks\&#1570;&#1594;&#1575;&#1586;.mp4"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file:///G:\-music%20for%20workshops\Magic%20Touch\07%20-%20SPANISH.MP3" TargetMode="External"/><Relationship Id="rId2" Type="http://schemas.openxmlformats.org/officeDocument/2006/relationships/image" Target="../media/image5.jpeg"/><Relationship Id="rId1" Type="http://schemas.openxmlformats.org/officeDocument/2006/relationships/slideLayout" Target="../slideLayouts/slideLayout41.xml"/><Relationship Id="rId4" Type="http://schemas.openxmlformats.org/officeDocument/2006/relationships/hyperlink" Target="file:///G:\workshop\&#1575;&#1582;&#1578;&#1604;&#1575;&#1604;&#1575;&#1578;%20&#1608;%20&#1605;&#1588;&#1705;&#1604;&#1575;&#1578;%20&#1585;&#1601;&#1578;&#1575;&#1585;&#1740;%20&#1588;&#1575;&#1740;&#1593;%20&#1705;&#1608;&#1583;&#1705;&#1575;&#1606;\&#1705;&#1604;&#1740;&#1662;%20&#1601;&#1740;&#1604;&#1605;\&#1778;&#1776;&#1777;&#1782;&#1776;&#1778;&#1777;&#1776;_&#1778;&#1779;&#1781;&#1785;&#1781;&#1779;.mp4"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64.xml"/></Relationships>
</file>

<file path=ppt/slides/_rels/slide5.xml.rels><?xml version="1.0" encoding="UTF-8" standalone="yes"?>
<Relationships xmlns="http://schemas.openxmlformats.org/package/2006/relationships"><Relationship Id="rId3" Type="http://schemas.openxmlformats.org/officeDocument/2006/relationships/hyperlink" Target="file:///G:\workshop\&#1578;&#1585;&#1576;&#1740;&#1578;%20&#1605;&#1585;&#1576;&#1740;%20&#1601;&#1585;&#1586;&#1606;&#1583;&#1662;&#1585;&#1608;&#1585;&#1740;%20&#1583;&#1608;&#1585;&#1607;%20&#1705;&#1608;&#1583;&#1705;&#1740;" TargetMode="External"/><Relationship Id="rId2" Type="http://schemas.openxmlformats.org/officeDocument/2006/relationships/image" Target="../media/image8.jpg"/><Relationship Id="rId1" Type="http://schemas.openxmlformats.org/officeDocument/2006/relationships/slideLayout" Target="../slideLayouts/slideLayout52.xml"/><Relationship Id="rId4" Type="http://schemas.openxmlformats.org/officeDocument/2006/relationships/hyperlink" Target="file:///D:\workshop\&#1578;&#1585;&#1576;&#1740;&#1578;%20&#1605;&#1585;&#1576;&#1740;%20&#1601;&#1585;&#1586;&#1606;&#1583;&#1662;&#1585;&#1608;&#1585;&#1740;%20&#1583;&#1608;&#1585;&#1607;%20&#1705;&#1608;&#1583;&#1705;&#1740;\&#1705;&#1604;&#1740;&#1662;%20&#1662;&#1575;&#1608;&#1585;&#1662;&#1608;&#1740;&#1606;&#1578;\Dreams%20....pps#-1,1,&#1740;&#1593;&#1606;&#1740; &#1605;&#1740;&#8206;&#1585;&#1587;&#1607; &#1575;&#1608;&#1606; &#1586;&#1605;&#1575;&#1606;&#1740; &#1705;&#1607; ..."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file:///G:\-music%20for%20workshops\&#1576;&#1740;%20&#1705;&#1604;&#1575;&#1605;\55.mp3" TargetMode="External"/><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file:///E:\-music%20for%20workshops\&#1576;&#1740;%20&#1705;&#1604;&#1575;&#1605;\If%20i%20loved%20you.mp3"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5;&#1606;&#1608;&#1575;&#1593;%20&#1578;&#1585;&#1587;%20&#1583;&#1585;%20&#1705;&#1608;&#1583;&#1705;&#1575;&#1606;.pdf"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file:///E:\Reza%20Sadeghi%20-%20Shabe%20Barooni%20%5b128%5d\Reza%20Sadeghi%20-%20Shabe%20Barooni%20%5b128%5d\01.%20Mah%20o%20Moohat.mp3" TargetMode="External"/><Relationship Id="rId2" Type="http://schemas.openxmlformats.org/officeDocument/2006/relationships/image" Target="../media/image14.jpg"/><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24.xml.rels><?xml version="1.0" encoding="UTF-8" standalone="yes"?>
<Relationships xmlns="http://schemas.openxmlformats.org/package/2006/relationships"><Relationship Id="rId3" Type="http://schemas.openxmlformats.org/officeDocument/2006/relationships/hyperlink" Target="file:///G:\-music%20for%20workshops\&#1576;&#1575;%20&#1705;&#1604;&#1575;&#1605;\2.mp3" TargetMode="External"/><Relationship Id="rId2" Type="http://schemas.openxmlformats.org/officeDocument/2006/relationships/image" Target="../media/image15.jpg"/><Relationship Id="rId1" Type="http://schemas.openxmlformats.org/officeDocument/2006/relationships/slideLayout" Target="../slideLayouts/slideLayout63.xml"/><Relationship Id="rId4" Type="http://schemas.openxmlformats.org/officeDocument/2006/relationships/hyperlink" Target="file:///E:\anteraks\Food%20for%20thoughts\Dreams%20....pps#-1,1,&#1740;&#1593;&#1606;&#1740; &#1605;&#1740;&#8206;&#1585;&#1587;&#1607; &#1575;&#1608;&#1606; &#1586;&#1605;&#1575;&#1606;&#1740; &#1705;&#1607; ..."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file:///G:\-music%20for%20workshops\&#1576;&#1740;%20&#1705;&#1604;&#1575;&#1605;\11.mp3"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file:///G:\workshop\&#1575;&#1582;&#1578;&#1604;&#1575;&#1604;&#1575;&#1578;%20&#1608;%20&#1605;&#1588;&#1705;&#1604;&#1575;&#1578;%20&#1585;&#1601;&#1578;&#1575;&#1585;&#1740;%20&#1588;&#1575;&#1740;&#1593;%20&#1705;&#1608;&#1583;&#1705;&#1575;&#1606;\&#1705;&#1604;&#1740;&#1662;%20&#1601;&#1740;&#1604;&#1605;\&#1575;&#1590;&#1591;&#1585;&#1575;&#1576;%20&#1580;&#1583;&#1575;&#1740;&#1740;%20&#1606;&#1605;&#1608;&#1606;&#1607;.mp4" TargetMode="External"/><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file:///G:\workshop\&#1575;&#1582;&#1578;&#1604;&#1575;&#1604;&#1575;&#1578;%20&#1608;%20&#1605;&#1588;&#1705;&#1604;&#1575;&#1578;%20&#1585;&#1601;&#1578;&#1575;&#1585;&#1740;%20&#1588;&#1575;&#1740;&#1593;%20&#1705;&#1608;&#1583;&#1705;&#1575;&#1606;\&#1705;&#1604;&#1740;&#1662;%20&#1601;&#1740;&#1604;&#1605;\GAD.mp4" TargetMode="External"/><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file:///G:\workshop\&#1575;&#1582;&#1578;&#1604;&#1575;&#1604;&#1575;&#1578;%20&#1608;%20&#1605;&#1588;&#1705;&#1604;&#1575;&#1578;%20&#1585;&#1601;&#1578;&#1575;&#1585;&#1740;%20&#1588;&#1575;&#1740;&#1593;%20&#1705;&#1608;&#1583;&#1705;&#1575;&#1606;\&#1705;&#1604;&#1740;&#1662;%20&#1601;&#1740;&#1604;&#1605;\social%20phobia2.mp4" TargetMode="External"/><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file:///G:\workshop\&#1575;&#1582;&#1578;&#1604;&#1575;&#1604;&#1575;&#1578;%20&#1608;%20&#1605;&#1588;&#1705;&#1604;&#1575;&#1578;%20&#1585;&#1601;&#1578;&#1575;&#1585;&#1740;%20&#1588;&#1575;&#1740;&#1593;%20&#1705;&#1608;&#1583;&#1705;&#1575;&#1606;\&#1705;&#1604;&#1740;&#1662;%20&#1601;&#1740;&#1604;&#1605;\ocd.mp4" TargetMode="External"/><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file:///G:\workshop\&#1575;&#1582;&#1578;&#1604;&#1575;&#1604;&#1575;&#1578;%20&#1608;%20&#1605;&#1588;&#1705;&#1604;&#1575;&#1578;%20&#1585;&#1601;&#1578;&#1575;&#1585;&#1740;%20&#1588;&#1575;&#1740;&#1593;%20&#1705;&#1608;&#1583;&#1705;&#1575;&#1606;\&#1705;&#1604;&#1740;&#1662;%20&#1601;&#1740;&#1604;&#1605;\panic.mp4" TargetMode="External"/><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file:///G:\workshop\&#1575;&#1582;&#1578;&#1604;&#1575;&#1604;&#1575;&#1578;%20&#1608;%20&#1605;&#1588;&#1705;&#1604;&#1575;&#1578;%20&#1585;&#1601;&#1578;&#1575;&#1585;&#1740;%20&#1588;&#1575;&#1740;&#1593;%20&#1705;&#1608;&#1583;&#1705;&#1575;&#1606;\&#1705;&#1604;&#1740;&#1662;%20&#1601;&#1740;&#1604;&#1605;\panic.mp4" TargetMode="External"/><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605;&#1602;&#1740;&#1575;&#1587;%20&#1575;&#1590;&#1591;&#1585;&#1575;&#1576;%20&#1705;&#1608;&#1583;&#1705;&#1575;&#1606;%20&#1575;&#1587;&#1662;&#1606;&#1587;.pdf" TargetMode="External"/><Relationship Id="rId2" Type="http://schemas.openxmlformats.org/officeDocument/2006/relationships/diagramData" Target="../diagrams/data1.xml"/><Relationship Id="rId1" Type="http://schemas.openxmlformats.org/officeDocument/2006/relationships/slideLayout" Target="../slideLayouts/slideLayout8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72.xml.rels><?xml version="1.0" encoding="UTF-8" standalone="yes"?>
<Relationships xmlns="http://schemas.openxmlformats.org/package/2006/relationships"><Relationship Id="rId2"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93;&#1608;&#1575;&#1605;&#1604;%20&#1605;&#1581;&#1575;&#1601;&#1592;&#1578;&#1610;%20&#1608;%20%20&#1593;&#1608;&#1575;&#1605;&#1604;%20&#1582;&#1591;&#1585;.pdf" TargetMode="External"/><Relationship Id="rId1" Type="http://schemas.openxmlformats.org/officeDocument/2006/relationships/slideLayout" Target="../slideLayouts/slideLayout253.xml"/></Relationships>
</file>

<file path=ppt/slides/_rels/slide73.xml.rels><?xml version="1.0" encoding="UTF-8" standalone="yes"?>
<Relationships xmlns="http://schemas.openxmlformats.org/package/2006/relationships"><Relationship Id="rId2"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604;&#1740;&#1662;\VID_20170203_200549.mp4" TargetMode="External"/><Relationship Id="rId1" Type="http://schemas.openxmlformats.org/officeDocument/2006/relationships/slideLayout" Target="../slideLayouts/slideLayout253.xml"/></Relationships>
</file>

<file path=ppt/slides/_rels/slide74.xml.rels><?xml version="1.0" encoding="UTF-8" standalone="yes"?>
<Relationships xmlns="http://schemas.openxmlformats.org/package/2006/relationships"><Relationship Id="rId3" Type="http://schemas.openxmlformats.org/officeDocument/2006/relationships/hyperlink" Target="file:///F:\power%20point\&#1576;&#1585;&#1575;&#1740;%20&#1607;&#1605;&#1607;\&#1605;&#1575;&#1583;&#1585;%20&#1578;&#1585;&#1586;&#1575;.pps" TargetMode="External"/><Relationship Id="rId2" Type="http://schemas.openxmlformats.org/officeDocument/2006/relationships/image" Target="../media/image27.jpg"/><Relationship Id="rId1" Type="http://schemas.openxmlformats.org/officeDocument/2006/relationships/slideLayout" Target="../slideLayouts/slideLayout63.xml"/><Relationship Id="rId4" Type="http://schemas.openxmlformats.org/officeDocument/2006/relationships/hyperlink" Target="file:///G:\-music%20for%20workshops\&#1576;&#1575;%20&#1705;&#1604;&#1575;&#1605;\9.mp3" TargetMode="External"/></Relationships>
</file>

<file path=ppt/slides/_rels/slide75.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70.xml"/></Relationships>
</file>

<file path=ppt/slides/_rels/slide76.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605;&#1608;&#1575;&#1580;&#1607;%20&#1588;&#1583;&#1606;%20&#1576;&#1575;%20&#1605;&#1602;&#1575;&#1608;&#1605;&#1578;.pdf" TargetMode="External"/><Relationship Id="rId2"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88;&#1705;&#1587;&#1578;&#1606;%20&#1605;&#1602;&#1575;&#1608;&#1605;&#1578;%20&#1608;&#1575;&#1604;&#1583;&#1740;&#1606;.pdf" TargetMode="External"/><Relationship Id="rId1" Type="http://schemas.openxmlformats.org/officeDocument/2006/relationships/slideLayout" Target="../slideLayouts/slideLayout209.xml"/></Relationships>
</file>

<file path=ppt/slides/_rels/slide7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87.xml"/></Relationships>
</file>

<file path=ppt/slides/_rels/slide7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8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8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83.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8;&#1575;&#1576;%20&#1575;&#1590;&#1591;&#1585;&#1575;&#1576;&#1740;%20&#1705;&#1608;&#1583;&#1705;\&#1662;&#1585;&#1608;&#1578;&#1705;&#1604;%20ACT%20&#1608;&#1587;&#1608;&#1575;&#1587;%20&#1705;&#1608;&#1583;&#1705;&#1575;&#1606;.docx" TargetMode="External"/><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84.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0;&#1605;&#1608;&#1586;&#1588;%20&#1605;&#1607;&#1575;&#1585;&#1578;%20&#1607;&#1575;&#1610;%20&#1575;&#1580;&#1578;&#1605;&#1575;&#1593;&#1610;.pdf" TargetMode="External"/><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8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8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8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8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8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9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87.xml"/></Relationships>
</file>

<file path=ppt/slides/_rels/slide91.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0;&#1605;&#1608;&#1586;&#1588;%20&#1605;&#1587;&#1571;&#1604;&#1607;%20&#1711;&#1588;&#1575;&#1610;&#1610;%20&#1576;&#1607;%20&#1705;&#1608;&#1583;&#1705;&#1575;&#1606;.pdf" TargetMode="External"/><Relationship Id="rId2" Type="http://schemas.openxmlformats.org/officeDocument/2006/relationships/image" Target="../media/image31.jpg"/><Relationship Id="rId1" Type="http://schemas.openxmlformats.org/officeDocument/2006/relationships/slideLayout" Target="../slideLayouts/slideLayout187.xml"/></Relationships>
</file>

<file path=ppt/slides/_rels/slide92.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610;&#1575;&#1585;&#1610;%20&#1576;&#1607;%20&#1705;&#1608;&#1583;&#1705;&#1575;&#1606;%20&#1583;&#1585;%20&#1578;&#1594;&#1610;&#1610;&#1585;%20&#1583;&#1575;&#1583;&#1606;%20&#1575;&#1601;&#1705;&#1575;&#1585;%20&#1605;&#1606;&#1601;&#1610;.pdf" TargetMode="External"/><Relationship Id="rId2" Type="http://schemas.openxmlformats.org/officeDocument/2006/relationships/image" Target="../media/image25.jpg"/><Relationship Id="rId1" Type="http://schemas.openxmlformats.org/officeDocument/2006/relationships/slideLayout" Target="../slideLayouts/slideLayout187.xml"/></Relationships>
</file>

<file path=ppt/slides/_rels/slide93.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705;&#1605;&#1705;%20&#1576;&#1607;%20&#1705;&#1608;&#1583;&#1705;&#1575;&#1606;%20&#1583;&#1585;%20&#1588;&#1606;&#1575;&#1582;&#1578;%20&#1608;%20&#1576;&#1610;&#1575;&#1606;%20&#1593;&#1608;&#1575;&#1591;&#1601;.pdf" TargetMode="External"/><Relationship Id="rId2" Type="http://schemas.openxmlformats.org/officeDocument/2006/relationships/image" Target="../media/image32.jpg"/><Relationship Id="rId1" Type="http://schemas.openxmlformats.org/officeDocument/2006/relationships/slideLayout" Target="../slideLayouts/slideLayout187.xml"/></Relationships>
</file>

<file path=ppt/slides/_rels/slide94.xml.rels><?xml version="1.0" encoding="UTF-8" standalone="yes"?>
<Relationships xmlns="http://schemas.openxmlformats.org/package/2006/relationships"><Relationship Id="rId3" Type="http://schemas.openxmlformats.org/officeDocument/2006/relationships/hyperlink" Target="file:///G:\-music%20for%20workshops\1%20workshop\02%20Masti%20O%20Rasti%20%7bPrince%20of%20Persia%7d.MP3" TargetMode="External"/><Relationship Id="rId2" Type="http://schemas.openxmlformats.org/officeDocument/2006/relationships/image" Target="../media/image33.jpg"/><Relationship Id="rId1" Type="http://schemas.openxmlformats.org/officeDocument/2006/relationships/slideLayout" Target="../slideLayouts/slideLayout176.xml"/><Relationship Id="rId4" Type="http://schemas.openxmlformats.org/officeDocument/2006/relationships/hyperlink" Target="file:///G:\-music%20for%20workshops\&#1576;&#1740;%20&#1705;&#1604;&#1575;&#1605;\55.mp3" TargetMode="External"/></Relationships>
</file>

<file path=ppt/slides/_rels/slide9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8.xml"/></Relationships>
</file>

<file path=ppt/slides/_rels/slide96.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0;&#1588;&#1606;&#1575;&#1740;&#1740;%20&#1576;&#1575;%20&#1576;&#1585;&#1606;&#1575;&#1605;&#1607;%20coping%20cat.pdf" TargetMode="External"/><Relationship Id="rId2" Type="http://schemas.openxmlformats.org/officeDocument/2006/relationships/image" Target="../media/image29.png"/><Relationship Id="rId1" Type="http://schemas.openxmlformats.org/officeDocument/2006/relationships/slideLayout" Target="../slideLayouts/slideLayout198.xml"/></Relationships>
</file>

<file path=ppt/slides/_rels/slide9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9.png"/><Relationship Id="rId1" Type="http://schemas.openxmlformats.org/officeDocument/2006/relationships/slideLayout" Target="../slideLayouts/slideLayout193.xml"/><Relationship Id="rId4"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604;&#1740;&#1662;\&#1576;&#1585;&#1606;&#1575;&#1605;&#1607;%20&#1711;&#1585;&#1576;&#1607;%20&#1587;&#1575;&#1586;&#1711;&#1575;&#1585;.mp4" TargetMode="External"/></Relationships>
</file>

<file path=ppt/slides/_rels/slide9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195.xml"/><Relationship Id="rId4" Type="http://schemas.openxmlformats.org/officeDocument/2006/relationships/image" Target="../media/image29.png"/></Relationships>
</file>

<file path=ppt/slides/_rels/slide10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9.png"/><Relationship Id="rId1" Type="http://schemas.openxmlformats.org/officeDocument/2006/relationships/slideLayout" Target="../slideLayouts/slideLayout193.xml"/></Relationships>
</file>

<file path=ppt/slides/_rels/slide10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9.png"/><Relationship Id="rId1" Type="http://schemas.openxmlformats.org/officeDocument/2006/relationships/slideLayout" Target="../slideLayouts/slideLayout192.xml"/></Relationships>
</file>

<file path=ppt/slides/_rels/slide10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0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2.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8;&#1575;&#1576;%20&#1575;&#1590;&#1591;&#1585;&#1575;&#1576;&#1740;%20&#1705;&#1608;&#1583;&#1705;\&#1705;&#1578;&#1575;&#1576;%20&#1705;&#1575;&#1585;%20&#1711;&#1585;&#1576;&#1607;%20&#1587;&#1575;&#1586;&#1711;&#1575;&#1585;.pdf" TargetMode="External"/><Relationship Id="rId2" Type="http://schemas.openxmlformats.org/officeDocument/2006/relationships/image" Target="../media/image29.png"/><Relationship Id="rId1" Type="http://schemas.openxmlformats.org/officeDocument/2006/relationships/slideLayout" Target="../slideLayouts/slideLayout192.xml"/><Relationship Id="rId4"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8;&#1575;&#1576;%20&#1575;&#1590;&#1591;&#1585;&#1575;&#1576;&#1740;%20&#1705;&#1608;&#1583;&#1705;\&#1662;&#1585;&#1608;&#1578;&#1705;&#1604;%20&#1580;&#1604;&#1587;&#1575;&#1578;%20&#1711;&#1585;&#1576;&#1607;%20&#1587;&#1575;&#1586;&#1711;&#1575;&#1585;.pdf" TargetMode="External"/></Relationships>
</file>

<file path=ppt/slides/_rels/slide113.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0;&#1588;&#1606;&#1575;&#1740;&#1740;%20&#1576;&#1575;%20&#1576;&#1585;&#1606;&#1575;&#1605;&#1607;%20Friends%20for%20life.pdf" TargetMode="External"/><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1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98.xml"/></Relationships>
</file>

<file path=ppt/slides/_rels/slide120.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5;&#1590;&#1591;&#1585;&#1575;&#1576;%20&#1705;&#1608;&#1583;&#1705;&#1575;&#1606;%20&#1585;&#1575;&#1607;&#1606;&#1605;&#1575;&#1740;%20&#1605;&#1585;&#1576;&#1740;&#1575;&#1606;%20&#1608;%20&#1608;&#1575;&#1604;&#1583;&#1740;&#1606;.pdf" TargetMode="External"/><Relationship Id="rId2" Type="http://schemas.openxmlformats.org/officeDocument/2006/relationships/image" Target="../media/image42.jpg"/><Relationship Id="rId1" Type="http://schemas.openxmlformats.org/officeDocument/2006/relationships/slideLayout" Target="../slideLayouts/slideLayout269.xml"/></Relationships>
</file>

<file path=ppt/slides/_rels/slide121.xml.rels><?xml version="1.0" encoding="UTF-8" standalone="yes"?>
<Relationships xmlns="http://schemas.openxmlformats.org/package/2006/relationships"><Relationship Id="rId3" Type="http://schemas.openxmlformats.org/officeDocument/2006/relationships/hyperlink" Target="file:///D:\workshop\&#1575;&#1582;&#1578;&#1604;&#1575;&#1604;&#1575;&#1578;%20&#1608;%20&#1605;&#1588;&#1705;&#1604;&#1575;&#1578;%20&#1585;&#1601;&#1578;&#1575;&#1585;&#1740;%20&#1588;&#1575;&#1740;&#1593;%20&#1705;&#1608;&#1583;&#1705;&#1575;&#1606;\&#1575;&#1582;&#1578;&#1604;&#1575;&#1604;&#1575;&#1578;%20&#1575;&#1590;&#1591;&#1585;&#1575;&#1576;&#1740;%20&#1705;&#1608;&#1583;&#1705;&#1575;&#1606;\&#1705;&#1575;&#1585;&#1576;&#1585;&#1711;%20&#1608;%20&#1580;&#1586;&#1608;&#1575;&#1578;\&#1575;&#1601;&#1705;&#1575;&#1585;%20&#1605;&#1606;&#1601;&#1740;%20&#1608;%20&#1605;&#1579;&#1576;&#1578;%20&#1608;&#1575;&#1604;&#1583;&#1740;&#1606;.pdf" TargetMode="External"/><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2.xml"/></Relationships>
</file>

<file path=ppt/slides/_rels/slide124.xml.rels><?xml version="1.0" encoding="UTF-8" standalone="yes"?>
<Relationships xmlns="http://schemas.openxmlformats.org/package/2006/relationships"><Relationship Id="rId8" Type="http://schemas.openxmlformats.org/officeDocument/2006/relationships/image" Target="../media/image49.jpeg"/><Relationship Id="rId13" Type="http://schemas.openxmlformats.org/officeDocument/2006/relationships/image" Target="../media/image54.jpeg"/><Relationship Id="rId18" Type="http://schemas.openxmlformats.org/officeDocument/2006/relationships/image" Target="../media/image59.jpeg"/><Relationship Id="rId3" Type="http://schemas.openxmlformats.org/officeDocument/2006/relationships/image" Target="../media/image44.jpeg"/><Relationship Id="rId21" Type="http://schemas.openxmlformats.org/officeDocument/2006/relationships/image" Target="../media/image62.jpeg"/><Relationship Id="rId7" Type="http://schemas.openxmlformats.org/officeDocument/2006/relationships/image" Target="../media/image48.jpeg"/><Relationship Id="rId12" Type="http://schemas.openxmlformats.org/officeDocument/2006/relationships/image" Target="../media/image53.jpeg"/><Relationship Id="rId17" Type="http://schemas.openxmlformats.org/officeDocument/2006/relationships/image" Target="../media/image58.jpeg"/><Relationship Id="rId2" Type="http://schemas.openxmlformats.org/officeDocument/2006/relationships/image" Target="../media/image43.jpeg"/><Relationship Id="rId16" Type="http://schemas.openxmlformats.org/officeDocument/2006/relationships/image" Target="../media/image57.jpeg"/><Relationship Id="rId20" Type="http://schemas.openxmlformats.org/officeDocument/2006/relationships/image" Target="../media/image61.jpeg"/><Relationship Id="rId1" Type="http://schemas.openxmlformats.org/officeDocument/2006/relationships/slideLayout" Target="../slideLayouts/slideLayout209.xml"/><Relationship Id="rId6" Type="http://schemas.openxmlformats.org/officeDocument/2006/relationships/image" Target="../media/image47.jpeg"/><Relationship Id="rId11" Type="http://schemas.openxmlformats.org/officeDocument/2006/relationships/image" Target="../media/image52.jpeg"/><Relationship Id="rId24" Type="http://schemas.openxmlformats.org/officeDocument/2006/relationships/image" Target="../media/image65.jpeg"/><Relationship Id="rId5" Type="http://schemas.openxmlformats.org/officeDocument/2006/relationships/image" Target="../media/image46.jpeg"/><Relationship Id="rId15" Type="http://schemas.openxmlformats.org/officeDocument/2006/relationships/image" Target="../media/image56.jpeg"/><Relationship Id="rId23" Type="http://schemas.openxmlformats.org/officeDocument/2006/relationships/image" Target="../media/image64.jpeg"/><Relationship Id="rId10" Type="http://schemas.openxmlformats.org/officeDocument/2006/relationships/image" Target="../media/image51.jpeg"/><Relationship Id="rId19" Type="http://schemas.openxmlformats.org/officeDocument/2006/relationships/image" Target="../media/image60.jpeg"/><Relationship Id="rId4" Type="http://schemas.openxmlformats.org/officeDocument/2006/relationships/image" Target="../media/image45.jpeg"/><Relationship Id="rId9" Type="http://schemas.openxmlformats.org/officeDocument/2006/relationships/image" Target="../media/image50.jpeg"/><Relationship Id="rId14" Type="http://schemas.openxmlformats.org/officeDocument/2006/relationships/image" Target="../media/image55.jpeg"/><Relationship Id="rId22" Type="http://schemas.openxmlformats.org/officeDocument/2006/relationships/image" Target="../media/image63.jpeg"/></Relationships>
</file>

<file path=ppt/slides/_rels/slide12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209.xml"/><Relationship Id="rId5" Type="http://schemas.openxmlformats.org/officeDocument/2006/relationships/image" Target="../media/image69.jpeg"/><Relationship Id="rId4" Type="http://schemas.openxmlformats.org/officeDocument/2006/relationships/image" Target="../media/image68.jpeg"/></Relationships>
</file>

<file path=ppt/slides/_rels/slide12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209.xml"/><Relationship Id="rId5" Type="http://schemas.openxmlformats.org/officeDocument/2006/relationships/image" Target="../media/image73.jpeg"/><Relationship Id="rId4" Type="http://schemas.openxmlformats.org/officeDocument/2006/relationships/image" Target="../media/image72.jpg"/></Relationships>
</file>

<file path=ppt/slides/_rels/slide127.xml.rels><?xml version="1.0" encoding="UTF-8" standalone="yes"?>
<Relationships xmlns="http://schemas.openxmlformats.org/package/2006/relationships"><Relationship Id="rId3" Type="http://schemas.openxmlformats.org/officeDocument/2006/relationships/image" Target="../media/image75.jpg"/><Relationship Id="rId2" Type="http://schemas.openxmlformats.org/officeDocument/2006/relationships/image" Target="../media/image74.jpg"/><Relationship Id="rId1" Type="http://schemas.openxmlformats.org/officeDocument/2006/relationships/slideLayout" Target="../slideLayouts/slideLayout209.xml"/><Relationship Id="rId5" Type="http://schemas.openxmlformats.org/officeDocument/2006/relationships/image" Target="../media/image77.jpg"/><Relationship Id="rId4" Type="http://schemas.openxmlformats.org/officeDocument/2006/relationships/image" Target="../media/image76.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20.xml"/></Relationships>
</file>

<file path=ppt/slides/_rels/slide129.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231.xml"/></Relationships>
</file>

<file path=ppt/slides/_rels/slide130.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231.xml"/></Relationships>
</file>

<file path=ppt/slides/_rels/slide131.xml.rels><?xml version="1.0" encoding="UTF-8" standalone="yes"?>
<Relationships xmlns="http://schemas.openxmlformats.org/package/2006/relationships"><Relationship Id="rId3" Type="http://schemas.openxmlformats.org/officeDocument/2006/relationships/hyperlink" Target="file:///G:\workshop\&#1578;&#1585;&#1576;&#1740;&#1578;%20&#1605;&#1585;&#1576;&#1740;%20&#1601;&#1585;&#1586;&#1606;&#1583;&#1662;&#1585;&#1608;&#1585;&#1740;%20&#1583;&#1608;&#1585;&#1607;%20&#1705;&#1608;&#1583;&#1705;&#1740;\&#1705;&#1604;&#1740;&#1662;%20&#1662;&#1575;&#1608;&#1585;&#1662;&#1608;&#1740;&#1606;&#1578;\end.ppsx#-1,1,PowerPoint Presentation" TargetMode="External"/><Relationship Id="rId2" Type="http://schemas.openxmlformats.org/officeDocument/2006/relationships/image" Target="../media/image80.jpeg"/><Relationship Id="rId1" Type="http://schemas.openxmlformats.org/officeDocument/2006/relationships/slideLayout" Target="../slideLayouts/slideLayout242.xml"/><Relationship Id="rId4" Type="http://schemas.openxmlformats.org/officeDocument/2006/relationships/hyperlink" Target="file:///G:\-music%20for%20workshops\Music\Aroom_20Aroom_20_5BWikiSeda_5D.mp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15479" y="4936951"/>
            <a:ext cx="7772400" cy="1470025"/>
          </a:xfrm>
        </p:spPr>
        <p:txBody>
          <a:bodyPr>
            <a:normAutofit fontScale="90000"/>
          </a:bodyPr>
          <a:lstStyle/>
          <a:p>
            <a:r>
              <a:rPr lang="fa-IR" sz="4900" dirty="0" smtClean="0">
                <a:solidFill>
                  <a:schemeClr val="bg1"/>
                </a:solidFill>
                <a:effectLst>
                  <a:glow rad="228600">
                    <a:schemeClr val="accent2">
                      <a:satMod val="175000"/>
                      <a:alpha val="40000"/>
                    </a:schemeClr>
                  </a:glow>
                </a:effectLst>
                <a:cs typeface="B Tabassom" pitchFamily="2" charset="-78"/>
              </a:rPr>
              <a:t>درمان شناختی-رفتاری</a:t>
            </a:r>
            <a:r>
              <a:rPr lang="fa-IR" sz="8000" dirty="0" smtClean="0">
                <a:solidFill>
                  <a:schemeClr val="bg1"/>
                </a:solidFill>
                <a:effectLst>
                  <a:glow rad="228600">
                    <a:schemeClr val="accent3">
                      <a:satMod val="175000"/>
                      <a:alpha val="40000"/>
                    </a:schemeClr>
                  </a:glow>
                </a:effectLst>
                <a:cs typeface="B Tabassom" pitchFamily="2" charset="-78"/>
              </a:rPr>
              <a:t/>
            </a:r>
            <a:br>
              <a:rPr lang="fa-IR" sz="8000" dirty="0" smtClean="0">
                <a:solidFill>
                  <a:schemeClr val="bg1"/>
                </a:solidFill>
                <a:effectLst>
                  <a:glow rad="228600">
                    <a:schemeClr val="accent3">
                      <a:satMod val="175000"/>
                      <a:alpha val="40000"/>
                    </a:schemeClr>
                  </a:glow>
                </a:effectLst>
                <a:cs typeface="B Tabassom" pitchFamily="2" charset="-78"/>
              </a:rPr>
            </a:br>
            <a:r>
              <a:rPr lang="fa-IR" sz="8000" dirty="0" smtClean="0">
                <a:solidFill>
                  <a:schemeClr val="bg1"/>
                </a:solidFill>
                <a:effectLst>
                  <a:glow rad="228600">
                    <a:schemeClr val="accent4">
                      <a:satMod val="175000"/>
                      <a:alpha val="40000"/>
                    </a:schemeClr>
                  </a:glow>
                </a:effectLst>
                <a:cs typeface="B Tabassom" pitchFamily="2" charset="-78"/>
              </a:rPr>
              <a:t>اختلالات اضطرابی کودکان</a:t>
            </a:r>
            <a:r>
              <a:rPr lang="fa-IR" dirty="0" smtClean="0">
                <a:solidFill>
                  <a:schemeClr val="bg1"/>
                </a:solidFill>
                <a:cs typeface="B Tabassom" pitchFamily="2" charset="-78"/>
              </a:rPr>
              <a:t/>
            </a:r>
            <a:br>
              <a:rPr lang="fa-IR" dirty="0" smtClean="0">
                <a:solidFill>
                  <a:schemeClr val="bg1"/>
                </a:solidFill>
                <a:cs typeface="B Tabassom" pitchFamily="2" charset="-78"/>
              </a:rPr>
            </a:br>
            <a:r>
              <a:rPr lang="fa-IR" sz="4000" dirty="0" smtClean="0">
                <a:solidFill>
                  <a:schemeClr val="bg1"/>
                </a:solidFill>
                <a:cs typeface="B Kamran" pitchFamily="2" charset="-78"/>
              </a:rPr>
              <a:t>از تعریف تا درمان</a:t>
            </a:r>
            <a:r>
              <a:rPr lang="fa-IR" sz="4000" dirty="0">
                <a:solidFill>
                  <a:schemeClr val="bg1"/>
                </a:solidFill>
                <a:cs typeface="B Kamran" pitchFamily="2" charset="-78"/>
              </a:rPr>
              <a:t/>
            </a:r>
            <a:br>
              <a:rPr lang="fa-IR" sz="4000" dirty="0">
                <a:solidFill>
                  <a:schemeClr val="bg1"/>
                </a:solidFill>
                <a:cs typeface="B Kamran" pitchFamily="2" charset="-78"/>
              </a:rPr>
            </a:br>
            <a:r>
              <a:rPr lang="en-US" sz="4000" dirty="0" smtClean="0">
                <a:solidFill>
                  <a:schemeClr val="bg1"/>
                </a:solidFill>
                <a:cs typeface="B Kamran" pitchFamily="2" charset="-78"/>
              </a:rPr>
              <a:t>CBT for Anxiety Disorder</a:t>
            </a:r>
            <a:r>
              <a:rPr lang="fa-IR" sz="4000" dirty="0" smtClean="0">
                <a:solidFill>
                  <a:schemeClr val="bg1"/>
                </a:solidFill>
                <a:cs typeface="B Kamran" pitchFamily="2" charset="-78"/>
              </a:rPr>
              <a:t/>
            </a:r>
            <a:br>
              <a:rPr lang="fa-IR" sz="4000" dirty="0" smtClean="0">
                <a:solidFill>
                  <a:schemeClr val="bg1"/>
                </a:solidFill>
                <a:cs typeface="B Kamran" pitchFamily="2" charset="-78"/>
              </a:rPr>
            </a:br>
            <a:r>
              <a:rPr lang="fa-IR" dirty="0" smtClean="0">
                <a:solidFill>
                  <a:schemeClr val="bg1"/>
                </a:solidFill>
                <a:cs typeface="B Tabassom" pitchFamily="2" charset="-78"/>
              </a:rPr>
              <a:t/>
            </a:r>
            <a:br>
              <a:rPr lang="fa-IR" dirty="0" smtClean="0">
                <a:solidFill>
                  <a:schemeClr val="bg1"/>
                </a:solidFill>
                <a:cs typeface="B Tabassom" pitchFamily="2" charset="-78"/>
              </a:rPr>
            </a:br>
            <a:endParaRPr lang="fa-IR" dirty="0">
              <a:solidFill>
                <a:schemeClr val="bg1"/>
              </a:solidFill>
              <a:cs typeface="B Tabassom" pitchFamily="2" charset="-78"/>
            </a:endParaRPr>
          </a:p>
        </p:txBody>
      </p:sp>
      <p:sp>
        <p:nvSpPr>
          <p:cNvPr id="3" name="Subtitle 2"/>
          <p:cNvSpPr>
            <a:spLocks noGrp="1"/>
          </p:cNvSpPr>
          <p:nvPr>
            <p:ph type="subTitle" idx="1"/>
          </p:nvPr>
        </p:nvSpPr>
        <p:spPr>
          <a:xfrm>
            <a:off x="4860032" y="908720"/>
            <a:ext cx="6400800" cy="1752600"/>
          </a:xfrm>
        </p:spPr>
        <p:txBody>
          <a:bodyPr>
            <a:normAutofit/>
          </a:bodyPr>
          <a:lstStyle/>
          <a:p>
            <a:r>
              <a:rPr lang="fa-IR" sz="2400" dirty="0" smtClean="0">
                <a:solidFill>
                  <a:schemeClr val="tx1"/>
                </a:solidFill>
                <a:cs typeface="B Lotus" pitchFamily="2" charset="-78"/>
              </a:rPr>
              <a:t>محمد ترکمان</a:t>
            </a:r>
          </a:p>
          <a:p>
            <a:r>
              <a:rPr lang="fa-IR" sz="2400" dirty="0" smtClean="0">
                <a:solidFill>
                  <a:schemeClr val="tx1"/>
                </a:solidFill>
                <a:cs typeface="B Lotus" pitchFamily="2" charset="-78"/>
              </a:rPr>
              <a:t>09187131947</a:t>
            </a:r>
            <a:endParaRPr lang="en-US" sz="2400" dirty="0" smtClean="0">
              <a:solidFill>
                <a:schemeClr val="tx1"/>
              </a:solidFill>
              <a:cs typeface="B Lotus" pitchFamily="2" charset="-78"/>
            </a:endParaRPr>
          </a:p>
          <a:p>
            <a:r>
              <a:rPr lang="en-US" sz="1400" dirty="0" smtClean="0">
                <a:solidFill>
                  <a:schemeClr val="tx1"/>
                </a:solidFill>
                <a:cs typeface="B Lotus" pitchFamily="2" charset="-78"/>
              </a:rPr>
              <a:t>m.torkaman87@yahoo.com</a:t>
            </a:r>
            <a:endParaRPr lang="fa-IR" sz="1400" dirty="0">
              <a:solidFill>
                <a:schemeClr val="tx1"/>
              </a:solidFill>
              <a:cs typeface="B Lotus" pitchFamily="2" charset="-78"/>
            </a:endParaRPr>
          </a:p>
        </p:txBody>
      </p:sp>
      <p:sp>
        <p:nvSpPr>
          <p:cNvPr id="4" name="Rectangle 3">
            <a:hlinkClick r:id="rId3" action="ppaction://hlinkfile"/>
          </p:cNvPr>
          <p:cNvSpPr/>
          <p:nvPr/>
        </p:nvSpPr>
        <p:spPr>
          <a:xfrm>
            <a:off x="324186" y="5466523"/>
            <a:ext cx="782587" cy="41088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15000"/>
              </a:lnSpc>
              <a:spcAft>
                <a:spcPts val="1000"/>
              </a:spcAft>
            </a:pPr>
            <a:r>
              <a:rPr lang="fa-IR"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Calibri"/>
              </a:rPr>
              <a:t>موزیک</a:t>
            </a:r>
            <a:endParaRPr 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Calibri"/>
              <a:cs typeface="Arial"/>
            </a:endParaRPr>
          </a:p>
        </p:txBody>
      </p:sp>
      <p:sp>
        <p:nvSpPr>
          <p:cNvPr id="5" name="Rectangle 4">
            <a:hlinkClick r:id="rId4" action="ppaction://hlinkfile"/>
          </p:cNvPr>
          <p:cNvSpPr/>
          <p:nvPr/>
        </p:nvSpPr>
        <p:spPr>
          <a:xfrm>
            <a:off x="271421" y="6123352"/>
            <a:ext cx="1074333" cy="390363"/>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15000"/>
              </a:lnSpc>
              <a:spcAft>
                <a:spcPts val="1000"/>
              </a:spcAft>
            </a:pPr>
            <a:r>
              <a:rPr lang="fa-IR"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Calibri"/>
              </a:rPr>
              <a:t>قران سرود</a:t>
            </a:r>
            <a:endParaRPr lang="en-US"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Calibri"/>
              <a:cs typeface="Arial"/>
            </a:endParaRPr>
          </a:p>
        </p:txBody>
      </p:sp>
    </p:spTree>
    <p:extLst>
      <p:ext uri="{BB962C8B-B14F-4D97-AF65-F5344CB8AC3E}">
        <p14:creationId xmlns:p14="http://schemas.microsoft.com/office/powerpoint/2010/main" val="840316896"/>
      </p:ext>
    </p:extLst>
  </p:cSld>
  <p:clrMapOvr>
    <a:masterClrMapping/>
  </p:clrMapOvr>
  <mc:AlternateContent xmlns:mc="http://schemas.openxmlformats.org/markup-compatibility/2006" xmlns:p14="http://schemas.microsoft.com/office/powerpoint/2010/main">
    <mc:Choice Requires="p14">
      <p:transition spd="slow" p14:dur="3900">
        <p14:glitter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494184" y="1052740"/>
            <a:ext cx="8398296" cy="1826141"/>
          </a:xfrm>
          <a:prstGeom prst="rect">
            <a:avLst/>
          </a:prstGeom>
        </p:spPr>
        <p:txBody>
          <a:bodyPr>
            <a:spAutoFit/>
          </a:bodyPr>
          <a:lstStyle/>
          <a:p>
            <a:pPr>
              <a:spcAft>
                <a:spcPts val="1000"/>
              </a:spcAft>
              <a:defRPr/>
            </a:pPr>
            <a:r>
              <a:rPr lang="fa-IR" sz="320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Andalus" pitchFamily="18" charset="-78"/>
                <a:ea typeface="Calibri"/>
                <a:cs typeface="B Nazanin" pitchFamily="2" charset="-78"/>
              </a:rPr>
              <a:t>آشنا بشویم</a:t>
            </a:r>
          </a:p>
          <a:p>
            <a:pPr>
              <a:spcAft>
                <a:spcPts val="1000"/>
              </a:spcAft>
              <a:defRPr/>
            </a:pPr>
            <a:r>
              <a:rPr lang="fa-IR" sz="3200" dirty="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Andalus" pitchFamily="18" charset="-78"/>
                <a:ea typeface="Calibri"/>
                <a:cs typeface="B Nazanin" pitchFamily="2" charset="-78"/>
              </a:rPr>
              <a:t>و</a:t>
            </a:r>
            <a:endParaRPr lang="fa-IR" sz="320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Andalus" pitchFamily="18" charset="-78"/>
              <a:ea typeface="Calibri"/>
              <a:cs typeface="B Nazanin" pitchFamily="2" charset="-78"/>
            </a:endParaRPr>
          </a:p>
          <a:p>
            <a:pPr>
              <a:spcAft>
                <a:spcPts val="1000"/>
              </a:spcAft>
              <a:defRPr/>
            </a:pPr>
            <a:r>
              <a:rPr lang="fa-IR" sz="320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Andalus" pitchFamily="18" charset="-78"/>
                <a:ea typeface="Calibri"/>
                <a:cs typeface="B Nazanin" pitchFamily="2" charset="-78"/>
              </a:rPr>
              <a:t>در مورد قوانین و انتظارات کارگاه هم با هم بحث کنید</a:t>
            </a:r>
            <a:endParaRPr lang="en-US" sz="3200" dirty="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Andalus" pitchFamily="18" charset="-78"/>
              <a:ea typeface="Calibri"/>
              <a:cs typeface="B Nazanin" pitchFamily="2" charset="-78"/>
            </a:endParaRPr>
          </a:p>
        </p:txBody>
      </p:sp>
      <p:sp>
        <p:nvSpPr>
          <p:cNvPr id="5" name="Rectangle 4"/>
          <p:cNvSpPr/>
          <p:nvPr/>
        </p:nvSpPr>
        <p:spPr>
          <a:xfrm>
            <a:off x="0" y="5085204"/>
            <a:ext cx="8892480" cy="1200329"/>
          </a:xfrm>
          <a:prstGeom prst="rect">
            <a:avLst/>
          </a:prstGeom>
        </p:spPr>
        <p:txBody>
          <a:bodyPr>
            <a:spAutoFit/>
          </a:bodyPr>
          <a:lstStyle/>
          <a:p>
            <a:pPr algn="ctr">
              <a:defRPr/>
            </a:pPr>
            <a:r>
              <a:rPr lang="fa-IR" sz="3600" dirty="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ea typeface="Calibri"/>
                <a:cs typeface="B Traffic" pitchFamily="2" charset="-78"/>
              </a:rPr>
              <a:t>لطفا نام و نام خانوادگی خود را درشت بر روی یک برگه نوشته و </a:t>
            </a:r>
            <a:r>
              <a:rPr lang="fa-IR" sz="360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ea typeface="Calibri"/>
                <a:cs typeface="B Traffic" pitchFamily="2" charset="-78"/>
              </a:rPr>
              <a:t>روی میز قرار دهید</a:t>
            </a:r>
            <a:endParaRPr lang="fa-IR" sz="2000" dirty="0">
              <a:solidFill>
                <a:prstClr val="black"/>
              </a:solidFill>
              <a:cs typeface="B Traffic" pitchFamily="2" charset="-78"/>
            </a:endParaRPr>
          </a:p>
        </p:txBody>
      </p:sp>
      <p:sp>
        <p:nvSpPr>
          <p:cNvPr id="7" name="Rectangle 6"/>
          <p:cNvSpPr/>
          <p:nvPr/>
        </p:nvSpPr>
        <p:spPr>
          <a:xfrm>
            <a:off x="1331640" y="49611"/>
            <a:ext cx="8892480" cy="830997"/>
          </a:xfrm>
          <a:prstGeom prst="rect">
            <a:avLst/>
          </a:prstGeom>
        </p:spPr>
        <p:txBody>
          <a:bodyPr>
            <a:spAutoFit/>
          </a:bodyPr>
          <a:lstStyle/>
          <a:p>
            <a:pPr algn="ctr">
              <a:defRPr/>
            </a:pPr>
            <a:r>
              <a:rPr lang="fa-IR" sz="4800" b="1" dirty="0">
                <a:ln w="22225">
                  <a:solidFill>
                    <a:srgbClr val="C0504D"/>
                  </a:solidFill>
                  <a:prstDash val="solid"/>
                </a:ln>
                <a:solidFill>
                  <a:srgbClr val="C0504D">
                    <a:lumMod val="40000"/>
                    <a:lumOff val="60000"/>
                  </a:srgbClr>
                </a:solidFill>
                <a:effectLst>
                  <a:glow rad="228600">
                    <a:srgbClr val="8064A2">
                      <a:satMod val="175000"/>
                      <a:alpha val="40000"/>
                    </a:srgbClr>
                  </a:glow>
                </a:effectLst>
                <a:ea typeface="Calibri"/>
                <a:cs typeface="B Zar" pitchFamily="2" charset="-78"/>
              </a:rPr>
              <a:t>معارفه</a:t>
            </a:r>
            <a:endParaRPr lang="fa-IR" sz="3200" b="1" dirty="0">
              <a:ln w="22225">
                <a:solidFill>
                  <a:srgbClr val="C0504D"/>
                </a:solidFill>
                <a:prstDash val="solid"/>
              </a:ln>
              <a:solidFill>
                <a:srgbClr val="C0504D">
                  <a:lumMod val="40000"/>
                  <a:lumOff val="60000"/>
                </a:srgbClr>
              </a:solidFill>
              <a:effectLst>
                <a:glow rad="228600">
                  <a:srgbClr val="8064A2">
                    <a:satMod val="175000"/>
                    <a:alpha val="40000"/>
                  </a:srgbClr>
                </a:glow>
              </a:effectLst>
              <a:cs typeface="B Zar" pitchFamily="2" charset="-78"/>
            </a:endParaRPr>
          </a:p>
        </p:txBody>
      </p:sp>
      <p:sp>
        <p:nvSpPr>
          <p:cNvPr id="6" name="Rectangle 5">
            <a:hlinkClick r:id="rId3" action="ppaction://hlinkfile"/>
          </p:cNvPr>
          <p:cNvSpPr/>
          <p:nvPr/>
        </p:nvSpPr>
        <p:spPr>
          <a:xfrm>
            <a:off x="668461" y="6432171"/>
            <a:ext cx="782587" cy="41088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15000"/>
              </a:lnSpc>
              <a:spcAft>
                <a:spcPts val="1000"/>
              </a:spcAft>
              <a:defRPr/>
            </a:pPr>
            <a:r>
              <a:rPr lang="fa-IR"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Calibri"/>
              </a:rPr>
              <a:t>موزیک</a:t>
            </a:r>
            <a:endParaRPr lang="en-US"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Calibri"/>
              <a:cs typeface="Arial"/>
            </a:endParaRPr>
          </a:p>
        </p:txBody>
      </p:sp>
      <p:sp>
        <p:nvSpPr>
          <p:cNvPr id="9" name="Rectangle 8">
            <a:hlinkClick r:id="rId4" action="ppaction://hlinkfile"/>
          </p:cNvPr>
          <p:cNvSpPr/>
          <p:nvPr/>
        </p:nvSpPr>
        <p:spPr>
          <a:xfrm>
            <a:off x="5205264" y="1065244"/>
            <a:ext cx="1837362" cy="461665"/>
          </a:xfrm>
          <a:prstGeom prst="rect">
            <a:avLst/>
          </a:prstGeom>
        </p:spPr>
        <p:txBody>
          <a:bodyPr wrap="none">
            <a:spAutoFit/>
          </a:bodyPr>
          <a:lstStyle/>
          <a:p>
            <a:pPr>
              <a:defRPr/>
            </a:pPr>
            <a:r>
              <a:rPr lang="fa-IR" sz="2400" b="1" kern="0" dirty="0" smtClean="0">
                <a:solidFill>
                  <a:prstClr val="black"/>
                </a:solidFill>
                <a:cs typeface="B Nazanin" pitchFamily="2" charset="-78"/>
              </a:rPr>
              <a:t>معارفه جایگزین</a:t>
            </a:r>
            <a:endParaRPr lang="fa-IR" sz="2400" kern="0" dirty="0" smtClean="0">
              <a:solidFill>
                <a:sysClr val="windowText" lastClr="000000"/>
              </a:solidFill>
            </a:endParaRPr>
          </a:p>
        </p:txBody>
      </p:sp>
    </p:spTree>
    <p:extLst>
      <p:ext uri="{BB962C8B-B14F-4D97-AF65-F5344CB8AC3E}">
        <p14:creationId xmlns:p14="http://schemas.microsoft.com/office/powerpoint/2010/main" val="17498377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139952" y="228600"/>
            <a:ext cx="5004049" cy="838200"/>
          </a:xfrm>
          <a:noFill/>
        </p:spPr>
        <p:txBody>
          <a:bodyPr/>
          <a:lstStyle/>
          <a:p>
            <a:pPr algn="r" rtl="1" eaLnBrk="1" hangingPunct="1"/>
            <a:r>
              <a:rPr lang="fa-IR" altLang="en-US" sz="5200" dirty="0" smtClean="0">
                <a:solidFill>
                  <a:srgbClr val="FF0000"/>
                </a:solidFill>
                <a:cs typeface="B Typographer" panose="00000400000000000000" pitchFamily="2" charset="-78"/>
              </a:rPr>
              <a:t>اهداف كلي اين كارگاه</a:t>
            </a:r>
            <a:endParaRPr lang="en-US" altLang="en-US" sz="5200" dirty="0" smtClean="0">
              <a:solidFill>
                <a:srgbClr val="FF0000"/>
              </a:solidFill>
              <a:cs typeface="B Typographer" panose="00000400000000000000" pitchFamily="2" charset="-78"/>
            </a:endParaRPr>
          </a:p>
        </p:txBody>
      </p:sp>
      <p:sp>
        <p:nvSpPr>
          <p:cNvPr id="8195" name="Rectangle 3"/>
          <p:cNvSpPr>
            <a:spLocks noGrp="1" noChangeArrowheads="1"/>
          </p:cNvSpPr>
          <p:nvPr>
            <p:ph type="body" sz="half" idx="1"/>
          </p:nvPr>
        </p:nvSpPr>
        <p:spPr>
          <a:xfrm>
            <a:off x="4578200" y="2348880"/>
            <a:ext cx="4535487" cy="5000625"/>
          </a:xfrm>
          <a:noFill/>
        </p:spPr>
        <p:txBody>
          <a:bodyPr/>
          <a:lstStyle/>
          <a:p>
            <a:pPr marL="0" indent="0" algn="justLow" rtl="1" eaLnBrk="1" hangingPunct="1">
              <a:buSzPct val="75000"/>
              <a:buFontTx/>
              <a:buNone/>
            </a:pPr>
            <a:r>
              <a:rPr lang="fa-IR" altLang="en-US" sz="2400" dirty="0" smtClean="0">
                <a:solidFill>
                  <a:srgbClr val="FF0000"/>
                </a:solidFill>
                <a:cs typeface="B Typographer" panose="00000400000000000000" pitchFamily="2" charset="-78"/>
              </a:rPr>
              <a:t>دانشی</a:t>
            </a:r>
          </a:p>
          <a:p>
            <a:pPr marL="0" indent="0" algn="justLow" rtl="1" eaLnBrk="1" hangingPunct="1">
              <a:buSzPct val="75000"/>
              <a:buFontTx/>
              <a:buNone/>
            </a:pPr>
            <a:r>
              <a:rPr lang="ar-SA" altLang="en-US" sz="2400" dirty="0" smtClean="0">
                <a:cs typeface="B Typographer" panose="00000400000000000000" pitchFamily="2" charset="-78"/>
              </a:rPr>
              <a:t>کسب دانش درباره</a:t>
            </a:r>
            <a:r>
              <a:rPr lang="fa-IR" altLang="en-US" sz="2400" dirty="0" smtClean="0">
                <a:cs typeface="B Typographer" panose="00000400000000000000" pitchFamily="2" charset="-78"/>
              </a:rPr>
              <a:t> اختلالات و مشکلات اضطرای کودکی</a:t>
            </a:r>
          </a:p>
          <a:p>
            <a:pPr marL="0" indent="0" algn="justLow" rtl="1" eaLnBrk="1" hangingPunct="1">
              <a:buSzPct val="75000"/>
              <a:buFontTx/>
              <a:buNone/>
            </a:pPr>
            <a:r>
              <a:rPr lang="fa-IR" altLang="en-US" sz="2400" dirty="0" smtClean="0">
                <a:solidFill>
                  <a:srgbClr val="FF0000"/>
                </a:solidFill>
                <a:cs typeface="B Typographer" panose="00000400000000000000" pitchFamily="2" charset="-78"/>
              </a:rPr>
              <a:t>نگرشی</a:t>
            </a:r>
            <a:endParaRPr lang="ar-SA" altLang="en-US" sz="2400" dirty="0" smtClean="0">
              <a:solidFill>
                <a:srgbClr val="FF0000"/>
              </a:solidFill>
              <a:cs typeface="B Typographer" panose="00000400000000000000" pitchFamily="2" charset="-78"/>
            </a:endParaRPr>
          </a:p>
          <a:p>
            <a:pPr marL="0" indent="0" algn="justLow" rtl="1" eaLnBrk="1" hangingPunct="1">
              <a:buFontTx/>
              <a:buNone/>
            </a:pPr>
            <a:r>
              <a:rPr lang="fa-IR" altLang="en-US" sz="2400" dirty="0" smtClean="0">
                <a:cs typeface="B Typographer" panose="00000400000000000000" pitchFamily="2" charset="-78"/>
              </a:rPr>
              <a:t>ایجاد نگرش مثبت و احساس کارآمدی نسبت به درمان اختلالات اضطرابی کودکان</a:t>
            </a:r>
          </a:p>
          <a:p>
            <a:pPr marL="0" indent="0" algn="justLow" rtl="1" eaLnBrk="1" hangingPunct="1">
              <a:buFontTx/>
              <a:buNone/>
            </a:pPr>
            <a:r>
              <a:rPr lang="fa-IR" altLang="en-US" sz="2400" dirty="0" smtClean="0">
                <a:solidFill>
                  <a:srgbClr val="FF0000"/>
                </a:solidFill>
                <a:cs typeface="B Typographer" panose="00000400000000000000" pitchFamily="2" charset="-78"/>
              </a:rPr>
              <a:t>توانشی</a:t>
            </a:r>
            <a:endParaRPr lang="ar-SA" altLang="en-US" sz="2400" dirty="0" smtClean="0">
              <a:solidFill>
                <a:srgbClr val="FF0000"/>
              </a:solidFill>
              <a:cs typeface="B Typographer" panose="00000400000000000000" pitchFamily="2" charset="-78"/>
            </a:endParaRPr>
          </a:p>
          <a:p>
            <a:pPr marL="0" indent="0" algn="justLow" rtl="1" eaLnBrk="1" hangingPunct="1">
              <a:buFontTx/>
              <a:buNone/>
            </a:pPr>
            <a:r>
              <a:rPr lang="ar-SA" altLang="en-US" sz="2400" dirty="0" smtClean="0">
                <a:cs typeface="B Typographer" panose="00000400000000000000" pitchFamily="2" charset="-78"/>
              </a:rPr>
              <a:t>کسب مهارت در بکارگیری برخی تکنیک‌های </a:t>
            </a:r>
            <a:r>
              <a:rPr lang="fa-IR" altLang="en-US" sz="2400" dirty="0" smtClean="0">
                <a:cs typeface="B Typographer" panose="00000400000000000000" pitchFamily="2" charset="-78"/>
              </a:rPr>
              <a:t>درمانی و مداخله ای اختلالات اضطرایی کودکان</a:t>
            </a:r>
          </a:p>
          <a:p>
            <a:pPr marL="0" indent="0" algn="justLow" rtl="1" eaLnBrk="1" hangingPunct="1">
              <a:buFontTx/>
              <a:buNone/>
            </a:pPr>
            <a:endParaRPr lang="fa-IR" altLang="en-US" sz="2400" dirty="0" smtClean="0">
              <a:cs typeface="B Typographer" panose="00000400000000000000" pitchFamily="2" charset="-78"/>
            </a:endParaRPr>
          </a:p>
        </p:txBody>
      </p:sp>
      <p:pic>
        <p:nvPicPr>
          <p:cNvPr id="45060" name="Picture 4" descr="42-18377596"/>
          <p:cNvPicPr>
            <a:picLocks noChangeAspect="1" noChangeArrowheads="1"/>
          </p:cNvPicPr>
          <p:nvPr/>
        </p:nvPicPr>
        <p:blipFill>
          <a:blip r:embed="rId3">
            <a:extLst>
              <a:ext uri="{28A0092B-C50C-407E-A947-70E740481C1C}">
                <a14:useLocalDpi xmlns:a14="http://schemas.microsoft.com/office/drawing/2010/main" val="0"/>
              </a:ext>
            </a:extLst>
          </a:blip>
          <a:srcRect t="6580"/>
          <a:stretch>
            <a:fillRect/>
          </a:stretch>
        </p:blipFill>
        <p:spPr bwMode="auto">
          <a:xfrm>
            <a:off x="10" y="0"/>
            <a:ext cx="4500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B27DDBF-18B5-4826-AB04-8B1865E0C202}" type="slidenum">
              <a:rPr lang="ar-SA" altLang="en-US" sz="1400" smtClean="0">
                <a:solidFill>
                  <a:srgbClr val="000000"/>
                </a:solidFill>
              </a:rPr>
              <a:pPr>
                <a:spcBef>
                  <a:spcPct val="0"/>
                </a:spcBef>
                <a:buFontTx/>
                <a:buNone/>
              </a:pPr>
              <a:t>3</a:t>
            </a:fld>
            <a:endParaRPr lang="en-US" altLang="en-US" sz="1400" dirty="0" smtClean="0">
              <a:solidFill>
                <a:srgbClr val="000000"/>
              </a:solidFill>
            </a:endParaRPr>
          </a:p>
        </p:txBody>
      </p:sp>
      <p:sp>
        <p:nvSpPr>
          <p:cNvPr id="45062" name="Footer Placeholder 5"/>
          <p:cNvSpPr>
            <a:spLocks noGrp="1"/>
          </p:cNvSpPr>
          <p:nvPr>
            <p:ph type="ftr" sz="quarter" idx="11"/>
          </p:nvPr>
        </p:nvSpPr>
        <p:spPr>
          <a:xfrm>
            <a:off x="4357688" y="6381750"/>
            <a:ext cx="2895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ar-YE" altLang="en-US" sz="1400" smtClean="0">
                <a:solidFill>
                  <a:srgbClr val="000000"/>
                </a:solidFill>
              </a:rPr>
              <a:t>محمد ترکمان</a:t>
            </a:r>
            <a:endParaRPr lang="en-US" altLang="en-US" sz="1400" smtClean="0">
              <a:solidFill>
                <a:srgbClr val="000000"/>
              </a:solidFill>
            </a:endParaRPr>
          </a:p>
        </p:txBody>
      </p:sp>
    </p:spTree>
    <p:extLst>
      <p:ext uri="{BB962C8B-B14F-4D97-AF65-F5344CB8AC3E}">
        <p14:creationId xmlns:p14="http://schemas.microsoft.com/office/powerpoint/2010/main" val="29020992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alphaModFix amt="40000"/>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rot="20572662">
            <a:off x="84843" y="329243"/>
            <a:ext cx="2165978" cy="676339"/>
          </a:xfrm>
          <a:prstGeom prst="rect">
            <a:avLst/>
          </a:prstGeom>
        </p:spPr>
        <p:txBody>
          <a:bodyPr wrap="none">
            <a:spAutoFit/>
          </a:bodyPr>
          <a:lstStyle/>
          <a:p>
            <a:pPr marL="342900" indent="-342900" algn="just">
              <a:lnSpc>
                <a:spcPct val="115000"/>
              </a:lnSpc>
              <a:spcAft>
                <a:spcPts val="750"/>
              </a:spcAft>
              <a:buFont typeface="Wingdings" pitchFamily="2" charset="2"/>
              <a:buChar char="v"/>
              <a:defRPr/>
            </a:pPr>
            <a:r>
              <a:rPr lang="fa-IR" sz="3300" dirty="0">
                <a:ln w="18415" cmpd="sng">
                  <a:solidFill>
                    <a:srgbClr val="FFFFFF"/>
                  </a:solidFill>
                  <a:prstDash val="solid"/>
                </a:ln>
                <a:solidFill>
                  <a:srgbClr val="FFFFFF"/>
                </a:solidFill>
                <a:effectLst>
                  <a:glow rad="101600">
                    <a:srgbClr val="FF0000">
                      <a:alpha val="60000"/>
                    </a:srgbClr>
                  </a:glow>
                  <a:outerShdw blurRad="63500" dir="3600000" algn="tl" rotWithShape="0">
                    <a:srgbClr val="000000">
                      <a:alpha val="70000"/>
                    </a:srgbClr>
                  </a:outerShdw>
                </a:effectLst>
                <a:ea typeface="Calibri"/>
                <a:cs typeface="B Lotus"/>
              </a:rPr>
              <a:t>برنامه کارگاه</a:t>
            </a:r>
            <a:endParaRPr lang="en-US" sz="3000" dirty="0">
              <a:ln w="18415" cmpd="sng">
                <a:solidFill>
                  <a:srgbClr val="FFFFFF"/>
                </a:solidFill>
                <a:prstDash val="solid"/>
              </a:ln>
              <a:solidFill>
                <a:srgbClr val="FFFFFF"/>
              </a:solidFill>
              <a:effectLst>
                <a:glow rad="101600">
                  <a:srgbClr val="FF0000">
                    <a:alpha val="60000"/>
                  </a:srgbClr>
                </a:glow>
                <a:outerShdw blurRad="63500" dir="3600000" algn="tl" rotWithShape="0">
                  <a:srgbClr val="000000">
                    <a:alpha val="70000"/>
                  </a:srgbClr>
                </a:outerShdw>
              </a:effectLst>
              <a:ea typeface="Calibri"/>
              <a:cs typeface="Arial"/>
            </a:endParaRPr>
          </a:p>
        </p:txBody>
      </p:sp>
      <p:sp>
        <p:nvSpPr>
          <p:cNvPr id="4" name="Rectangle 3"/>
          <p:cNvSpPr/>
          <p:nvPr/>
        </p:nvSpPr>
        <p:spPr>
          <a:xfrm>
            <a:off x="755576" y="404664"/>
            <a:ext cx="8083208" cy="5858014"/>
          </a:xfrm>
          <a:prstGeom prst="rect">
            <a:avLst/>
          </a:prstGeom>
        </p:spPr>
        <p:txBody>
          <a:bodyPr wrap="square">
            <a:spAutoFit/>
          </a:bodyPr>
          <a:lstStyle/>
          <a:p>
            <a:pPr marL="457200" indent="-457200">
              <a:spcAft>
                <a:spcPts val="750"/>
              </a:spcAft>
              <a:buFont typeface="Wingdings" panose="05000000000000000000" pitchFamily="2" charset="2"/>
              <a:buChar char="ü"/>
              <a:defRPr/>
            </a:pP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آشنایی با مفهوم و نشانه های اضطراب در </a:t>
            </a: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کودکان</a:t>
            </a:r>
          </a:p>
          <a:p>
            <a:pPr>
              <a:spcAft>
                <a:spcPts val="750"/>
              </a:spcAft>
              <a:defRPr/>
            </a:pPr>
            <a:endPar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endParaRPr>
          </a:p>
          <a:p>
            <a:pPr marL="457200" indent="-457200">
              <a:spcAft>
                <a:spcPts val="750"/>
              </a:spcAft>
              <a:buFont typeface="Wingdings" panose="05000000000000000000" pitchFamily="2" charset="2"/>
              <a:buChar char="ü"/>
              <a:defRPr/>
            </a:pP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انواع اختلالات اضطرابی در کودکان (تعریف تا سبب شناسی</a:t>
            </a: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a:t>
            </a:r>
          </a:p>
          <a:p>
            <a:pPr>
              <a:spcAft>
                <a:spcPts val="750"/>
              </a:spcAft>
              <a:defRPr/>
            </a:pPr>
            <a:endPar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endParaRPr>
          </a:p>
          <a:p>
            <a:pPr marL="457200" indent="-457200">
              <a:spcAft>
                <a:spcPts val="750"/>
              </a:spcAft>
              <a:buFont typeface="Wingdings" panose="05000000000000000000" pitchFamily="2" charset="2"/>
              <a:buChar char="ü"/>
              <a:defRPr/>
            </a:pP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مداخلات درمانی اختلالات اضطرابی کودکان</a:t>
            </a:r>
          </a:p>
          <a:p>
            <a:pPr>
              <a:spcAft>
                <a:spcPts val="750"/>
              </a:spcAft>
              <a:defRPr/>
            </a:pP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					پروتکل </a:t>
            </a: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عمومی</a:t>
            </a:r>
          </a:p>
          <a:p>
            <a:pPr>
              <a:spcAft>
                <a:spcPts val="750"/>
              </a:spcAft>
              <a:defRPr/>
            </a:pP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					پروتکل </a:t>
            </a: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گربه سازگار</a:t>
            </a:r>
          </a:p>
          <a:p>
            <a:pPr>
              <a:spcAft>
                <a:spcPts val="750"/>
              </a:spcAft>
              <a:defRPr/>
            </a:pP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					پروتکل </a:t>
            </a: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دوستان برای </a:t>
            </a: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زندگی</a:t>
            </a:r>
          </a:p>
          <a:p>
            <a:pPr marL="457200" indent="-457200">
              <a:spcAft>
                <a:spcPts val="750"/>
              </a:spcAft>
              <a:buFont typeface="Wingdings" panose="05000000000000000000" pitchFamily="2" charset="2"/>
              <a:buChar char="ü"/>
              <a:defRPr/>
            </a:pP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مداخلات والدینی</a:t>
            </a:r>
            <a:endPar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endParaRPr>
          </a:p>
          <a:p>
            <a:pPr marL="457200" indent="-457200">
              <a:spcAft>
                <a:spcPts val="750"/>
              </a:spcAft>
              <a:buFont typeface="Wingdings" panose="05000000000000000000" pitchFamily="2" charset="2"/>
              <a:buChar char="ü"/>
              <a:defRPr/>
            </a:pP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پرسش و پاسخ</a:t>
            </a:r>
          </a:p>
          <a:p>
            <a:pPr marL="457200" indent="-457200">
              <a:spcAft>
                <a:spcPts val="750"/>
              </a:spcAft>
              <a:buFont typeface="Wingdings" panose="05000000000000000000" pitchFamily="2" charset="2"/>
              <a:buChar char="ü"/>
              <a:defRPr/>
            </a:pP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معرفی </a:t>
            </a:r>
            <a:r>
              <a:rPr lang="fa-IR" sz="28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منابع</a:t>
            </a:r>
            <a:r>
              <a:rPr lang="fa-IR" sz="28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Typographer" panose="00000400000000000000" pitchFamily="2" charset="-78"/>
              </a:rPr>
              <a:t>	</a:t>
            </a:r>
          </a:p>
        </p:txBody>
      </p:sp>
    </p:spTree>
    <p:extLst>
      <p:ext uri="{BB962C8B-B14F-4D97-AF65-F5344CB8AC3E}">
        <p14:creationId xmlns:p14="http://schemas.microsoft.com/office/powerpoint/2010/main" val="32642173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Rectangle 1"/>
          <p:cNvSpPr/>
          <p:nvPr/>
        </p:nvSpPr>
        <p:spPr>
          <a:xfrm>
            <a:off x="295925" y="117250"/>
            <a:ext cx="8710725" cy="2123658"/>
          </a:xfrm>
          <a:prstGeom prst="rect">
            <a:avLst/>
          </a:prstGeom>
        </p:spPr>
        <p:txBody>
          <a:bodyPr wrap="square">
            <a:spAutoFit/>
          </a:bodyPr>
          <a:lstStyle/>
          <a:p>
            <a:r>
              <a:rPr lang="fa-IR" sz="4400" dirty="0" smtClean="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ea typeface="Calibri"/>
                <a:cs typeface="B Lotus"/>
              </a:rPr>
              <a:t>فعال باشید و در ایفای نقش ها حضور یابید</a:t>
            </a:r>
          </a:p>
          <a:p>
            <a:r>
              <a:rPr lang="fa-IR" sz="4400" dirty="0" smtClean="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cs typeface="B Lotus"/>
              </a:rPr>
              <a:t>برای دریافت تکنیک ها صبور باشیم بگذارید ابتدا بشناسیم و سپس مداخله کنیم</a:t>
            </a:r>
            <a:endParaRPr lang="fa-IR" sz="2800" dirty="0">
              <a:ln w="18415" cmpd="sng">
                <a:solidFill>
                  <a:srgbClr val="FFFFFF"/>
                </a:solidFill>
                <a:prstDash val="solid"/>
              </a:ln>
              <a:solidFill>
                <a:srgbClr val="FFFFFF"/>
              </a:solidFill>
              <a:effectLst>
                <a:glow rad="228600">
                  <a:schemeClr val="accent4">
                    <a:satMod val="175000"/>
                    <a:alpha val="40000"/>
                  </a:schemeClr>
                </a:glow>
                <a:outerShdw blurRad="63500" dir="3600000" algn="tl" rotWithShape="0">
                  <a:srgbClr val="000000">
                    <a:alpha val="70000"/>
                  </a:srgbClr>
                </a:outerShdw>
              </a:effectLst>
            </a:endParaRPr>
          </a:p>
        </p:txBody>
      </p:sp>
      <p:sp>
        <p:nvSpPr>
          <p:cNvPr id="3" name="Rectangle 2">
            <a:hlinkClick r:id="rId3"/>
          </p:cNvPr>
          <p:cNvSpPr/>
          <p:nvPr/>
        </p:nvSpPr>
        <p:spPr>
          <a:xfrm>
            <a:off x="295933" y="5265384"/>
            <a:ext cx="2991525" cy="410882"/>
          </a:xfrm>
          <a:prstGeom prst="rect">
            <a:avLst/>
          </a:prstGeom>
        </p:spPr>
        <p:txBody>
          <a:bodyPr wrap="none">
            <a:spAutoFit/>
          </a:bodyPr>
          <a:lstStyle/>
          <a:p>
            <a:pPr algn="l" rtl="0">
              <a:lnSpc>
                <a:spcPct val="115000"/>
              </a:lnSpc>
              <a:spcAft>
                <a:spcPts val="750"/>
              </a:spcAft>
            </a:pPr>
            <a:r>
              <a:rPr lang="fa-IR" b="1" dirty="0" smtClean="0">
                <a:solidFill>
                  <a:prstClr val="black"/>
                </a:solidFill>
                <a:ea typeface="Calibri"/>
                <a:cs typeface="B Elham" panose="00000400000000000000" pitchFamily="2" charset="-78"/>
              </a:rPr>
              <a:t>محتوی که در انتهای کارگاه ارائه خواهد شد</a:t>
            </a:r>
            <a:endParaRPr lang="en-US" b="1" dirty="0">
              <a:solidFill>
                <a:prstClr val="black"/>
              </a:solidFill>
              <a:ea typeface="Calibri"/>
              <a:cs typeface="B Elham" panose="00000400000000000000" pitchFamily="2" charset="-78"/>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5</a:t>
            </a:fld>
            <a:endParaRPr lang="fa-IR">
              <a:solidFill>
                <a:prstClr val="black">
                  <a:tint val="75000"/>
                </a:prstClr>
              </a:solidFill>
            </a:endParaRPr>
          </a:p>
        </p:txBody>
      </p:sp>
      <p:sp>
        <p:nvSpPr>
          <p:cNvPr id="6" name="Rectangle 5">
            <a:hlinkClick r:id="rId4" action="ppaction://hlinkpres?slideindex=1&amp;slidetitle=یعنی می‎رسه اون زمانی که ..."/>
          </p:cNvPr>
          <p:cNvSpPr/>
          <p:nvPr/>
        </p:nvSpPr>
        <p:spPr>
          <a:xfrm>
            <a:off x="436897" y="6165304"/>
            <a:ext cx="655949" cy="410882"/>
          </a:xfrm>
          <a:prstGeom prst="rect">
            <a:avLst/>
          </a:prstGeom>
        </p:spPr>
        <p:txBody>
          <a:bodyPr wrap="none">
            <a:spAutoFit/>
          </a:bodyPr>
          <a:lstStyle/>
          <a:p>
            <a:pPr algn="l" rtl="0">
              <a:lnSpc>
                <a:spcPct val="115000"/>
              </a:lnSpc>
              <a:spcAft>
                <a:spcPts val="750"/>
              </a:spcAft>
            </a:pPr>
            <a:r>
              <a:rPr lang="fa-IR" b="1" dirty="0" smtClean="0">
                <a:solidFill>
                  <a:prstClr val="black"/>
                </a:solidFill>
                <a:ea typeface="Calibri"/>
                <a:cs typeface="B Elham" panose="00000400000000000000" pitchFamily="2" charset="-78"/>
              </a:rPr>
              <a:t>کلیپ </a:t>
            </a:r>
            <a:endParaRPr lang="en-US" b="1" dirty="0">
              <a:solidFill>
                <a:prstClr val="black"/>
              </a:solidFill>
              <a:ea typeface="Calibri"/>
              <a:cs typeface="B Elham" panose="00000400000000000000" pitchFamily="2" charset="-78"/>
            </a:endParaRPr>
          </a:p>
        </p:txBody>
      </p:sp>
    </p:spTree>
    <p:extLst>
      <p:ext uri="{BB962C8B-B14F-4D97-AF65-F5344CB8AC3E}">
        <p14:creationId xmlns:p14="http://schemas.microsoft.com/office/powerpoint/2010/main" val="19848113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194D52E-6C2F-4BB8-B1CD-AC9A57A22EE0}" type="slidenum">
              <a:rPr lang="ar-SA" sz="1400" smtClean="0">
                <a:solidFill>
                  <a:prstClr val="black"/>
                </a:solidFill>
              </a:rPr>
              <a:pPr rtl="0" fontAlgn="base">
                <a:spcBef>
                  <a:spcPct val="0"/>
                </a:spcBef>
                <a:spcAft>
                  <a:spcPct val="0"/>
                </a:spcAft>
              </a:pPr>
              <a:t>6</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638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6389" name="Group 4"/>
          <p:cNvGrpSpPr>
            <a:grpSpLocks/>
          </p:cNvGrpSpPr>
          <p:nvPr/>
        </p:nvGrpSpPr>
        <p:grpSpPr bwMode="auto">
          <a:xfrm>
            <a:off x="533400" y="101650"/>
            <a:ext cx="8229600" cy="87313"/>
            <a:chOff x="0" y="900"/>
            <a:chExt cx="5759" cy="96"/>
          </a:xfrm>
        </p:grpSpPr>
        <p:sp>
          <p:nvSpPr>
            <p:cNvPr id="1639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639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11" name="Text Box 9"/>
          <p:cNvSpPr txBox="1">
            <a:spLocks noChangeArrowheads="1"/>
          </p:cNvSpPr>
          <p:nvPr/>
        </p:nvSpPr>
        <p:spPr bwMode="auto">
          <a:xfrm>
            <a:off x="611213" y="1052540"/>
            <a:ext cx="7921625" cy="4154984"/>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dirty="0" smtClean="0">
                <a:solidFill>
                  <a:srgbClr val="C00000"/>
                </a:solidFill>
                <a:cs typeface="B Nazanin" pitchFamily="2" charset="-78"/>
              </a:rPr>
              <a:t>اضطراب</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اضطراب هشداری است که فرد را گوش به زنگ می کند (</a:t>
            </a:r>
            <a:r>
              <a:rPr lang="en-US" altLang="ar-SA" sz="2000" dirty="0" smtClean="0">
                <a:solidFill>
                  <a:srgbClr val="000066"/>
                </a:solidFill>
                <a:cs typeface="B Nazanin" pitchFamily="2" charset="-78"/>
              </a:rPr>
              <a:t>alerting signal</a:t>
            </a:r>
            <a:r>
              <a:rPr lang="fa-IR" altLang="ar-SA" sz="2000" dirty="0" smtClean="0">
                <a:solidFill>
                  <a:srgbClr val="000066"/>
                </a:solidFill>
                <a:cs typeface="B Nazanin" pitchFamily="2" charset="-78"/>
              </a:rPr>
              <a:t>)، یعنی به فرد هشدار می دهد که خطری در راه است و باعث می شود که فرد بتواند برای مقابله با خطر، اقداماتی به عمل آورد</a:t>
            </a: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r>
              <a:rPr lang="fa-IR" altLang="ar-SA" sz="2000" b="1" u="sng" dirty="0" smtClean="0">
                <a:solidFill>
                  <a:srgbClr val="C00000"/>
                </a:solidFill>
                <a:cs typeface="B Nazanin" pitchFamily="2" charset="-78"/>
              </a:rPr>
              <a:t>تفاوت اضطراب با ترس چیست؟</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ترس هم هشداری است که فرد را گوش به زنگ می کند، اما ترس در پاسخ به خطری معلوم، بیرونی، معین یا با منشأ غیرتعارضی ایجاد می شود، حال آنکه اضطراب در پاسخ به تهدیدی پیدا می شود که نامعلوم، درونی و مبهم است یا از تعارض منشأ می گیرد.</a:t>
            </a:r>
          </a:p>
          <a:p>
            <a:pPr algn="just" fontAlgn="base">
              <a:lnSpc>
                <a:spcPct val="110000"/>
              </a:lnSpc>
              <a:spcBef>
                <a:spcPct val="0"/>
              </a:spcBef>
              <a:spcAft>
                <a:spcPct val="0"/>
              </a:spcAft>
            </a:pPr>
            <a:endParaRPr lang="fa-IR" altLang="ar-SA" sz="2000" dirty="0">
              <a:solidFill>
                <a:srgbClr val="000066"/>
              </a:solidFill>
              <a:cs typeface="B Nazanin" pitchFamily="2" charset="-78"/>
            </a:endParaRPr>
          </a:p>
          <a:p>
            <a:pPr algn="just" fontAlgn="base">
              <a:lnSpc>
                <a:spcPct val="110000"/>
              </a:lnSpc>
              <a:spcBef>
                <a:spcPct val="0"/>
              </a:spcBef>
              <a:spcAft>
                <a:spcPct val="0"/>
              </a:spcAft>
            </a:pPr>
            <a:r>
              <a:rPr lang="fa-IR" altLang="ar-SA" sz="2000" dirty="0">
                <a:solidFill>
                  <a:srgbClr val="000066"/>
                </a:solidFill>
                <a:cs typeface="B Nazanin" pitchFamily="2" charset="-78"/>
              </a:rPr>
              <a:t>وجه تشابه اين دو، نشانه هاي فيزيولوژيك مشترك است.</a:t>
            </a: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p:txBody>
      </p:sp>
    </p:spTree>
    <p:extLst>
      <p:ext uri="{BB962C8B-B14F-4D97-AF65-F5344CB8AC3E}">
        <p14:creationId xmlns:p14="http://schemas.microsoft.com/office/powerpoint/2010/main" val="403286952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500"/>
                                        <p:tgtEl>
                                          <p:spTgt spid="11">
                                            <p:txEl>
                                              <p:pRg st="1" end="1"/>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 calcmode="lin" valueType="num">
                                      <p:cBhvr additive="base">
                                        <p:cTn id="10"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1">
                                            <p:txEl>
                                              <p:pRg st="4" end="4"/>
                                            </p:txEl>
                                          </p:spTgt>
                                        </p:tgtEl>
                                        <p:attrNameLst>
                                          <p:attrName>style.visibility</p:attrName>
                                        </p:attrNameLst>
                                      </p:cBhvr>
                                      <p:to>
                                        <p:strVal val="visible"/>
                                      </p:to>
                                    </p:set>
                                    <p:anim calcmode="lin" valueType="num">
                                      <p:cBhvr additive="base">
                                        <p:cTn id="16"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 calcmode="lin" valueType="num">
                                      <p:cBhvr additive="base">
                                        <p:cTn id="22"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37FACC20-F6C2-4B6D-AC47-DCA48B7E0077}" type="slidenum">
              <a:rPr lang="ar-SA" sz="1400" smtClean="0">
                <a:solidFill>
                  <a:prstClr val="black"/>
                </a:solidFill>
              </a:rPr>
              <a:pPr rtl="0" fontAlgn="base">
                <a:spcBef>
                  <a:spcPct val="0"/>
                </a:spcBef>
                <a:spcAft>
                  <a:spcPct val="0"/>
                </a:spcAft>
              </a:pPr>
              <a:t>7</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922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9221" name="Group 4"/>
          <p:cNvGrpSpPr>
            <a:grpSpLocks/>
          </p:cNvGrpSpPr>
          <p:nvPr/>
        </p:nvGrpSpPr>
        <p:grpSpPr bwMode="auto">
          <a:xfrm>
            <a:off x="533400" y="101650"/>
            <a:ext cx="8229600" cy="87313"/>
            <a:chOff x="0" y="900"/>
            <a:chExt cx="5759" cy="96"/>
          </a:xfrm>
        </p:grpSpPr>
        <p:sp>
          <p:nvSpPr>
            <p:cNvPr id="9226"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9227"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922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9223" name="Text Box 9"/>
          <p:cNvSpPr txBox="1">
            <a:spLocks noChangeArrowheads="1"/>
          </p:cNvSpPr>
          <p:nvPr/>
        </p:nvSpPr>
        <p:spPr bwMode="auto">
          <a:xfrm>
            <a:off x="536600" y="1858966"/>
            <a:ext cx="7921625" cy="3140075"/>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endParaRPr lang="fa-IR" altLang="ar-SA" sz="2000" b="1" u="sng" dirty="0" smtClean="0">
              <a:solidFill>
                <a:srgbClr val="C00000"/>
              </a:solidFill>
              <a:cs typeface="B Nazanin" pitchFamily="2" charset="-78"/>
            </a:endParaRPr>
          </a:p>
          <a:p>
            <a:pPr algn="just" fontAlgn="base">
              <a:lnSpc>
                <a:spcPct val="110000"/>
              </a:lnSpc>
              <a:spcBef>
                <a:spcPct val="0"/>
              </a:spcBef>
              <a:spcAft>
                <a:spcPct val="0"/>
              </a:spcAft>
            </a:pPr>
            <a:endParaRPr lang="fa-IR" altLang="ar-SA" sz="2000" b="1" u="sng" dirty="0" smtClean="0">
              <a:solidFill>
                <a:srgbClr val="C00000"/>
              </a:solidFill>
              <a:cs typeface="B Nazanin" pitchFamily="2" charset="-78"/>
            </a:endParaRPr>
          </a:p>
          <a:p>
            <a:pPr algn="just" fontAlgn="base">
              <a:lnSpc>
                <a:spcPct val="110000"/>
              </a:lnSpc>
              <a:spcBef>
                <a:spcPct val="0"/>
              </a:spcBef>
              <a:spcAft>
                <a:spcPct val="0"/>
              </a:spcAft>
            </a:pPr>
            <a:endParaRPr lang="fa-IR" altLang="ar-SA" sz="2000" b="1" u="sng" dirty="0" smtClean="0">
              <a:solidFill>
                <a:srgbClr val="C00000"/>
              </a:solidFill>
              <a:cs typeface="B Nazanin" pitchFamily="2" charset="-78"/>
            </a:endParaRPr>
          </a:p>
          <a:p>
            <a:pPr algn="just" fontAlgn="base">
              <a:lnSpc>
                <a:spcPct val="110000"/>
              </a:lnSpc>
              <a:spcBef>
                <a:spcPct val="0"/>
              </a:spcBef>
              <a:spcAft>
                <a:spcPct val="0"/>
              </a:spcAft>
            </a:pPr>
            <a:endParaRPr lang="fa-IR" altLang="ar-SA" sz="2000" b="1" u="sng" dirty="0" smtClean="0">
              <a:solidFill>
                <a:srgbClr val="C00000"/>
              </a:solidFill>
              <a:cs typeface="B Nazanin" pitchFamily="2" charset="-78"/>
            </a:endParaRPr>
          </a:p>
          <a:p>
            <a:pPr algn="just" fontAlgn="base">
              <a:lnSpc>
                <a:spcPct val="110000"/>
              </a:lnSpc>
              <a:spcBef>
                <a:spcPct val="0"/>
              </a:spcBef>
              <a:spcAft>
                <a:spcPct val="0"/>
              </a:spcAft>
            </a:pPr>
            <a:r>
              <a:rPr lang="fa-IR" altLang="ar-SA" sz="2000" b="1" u="sng" dirty="0" smtClean="0">
                <a:solidFill>
                  <a:srgbClr val="C00000"/>
                </a:solidFill>
                <a:cs typeface="B Nazanin" pitchFamily="2" charset="-78"/>
              </a:rPr>
              <a:t>نشانه های اضطراب چیست؟</a:t>
            </a: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r>
              <a:rPr lang="fa-IR" altLang="ar-SA" sz="2000" dirty="0" smtClean="0">
                <a:solidFill>
                  <a:srgbClr val="000066"/>
                </a:solidFill>
                <a:cs typeface="B Nazanin" pitchFamily="2" charset="-78"/>
              </a:rPr>
              <a:t>نشانه های اضطراب در یک دسته بندی کلی به نشانه های</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 جسمانی، شناختی و رفتاری قابل تقسیم است</a:t>
            </a:r>
            <a:endParaRPr lang="fa-IR" altLang="ar-SA" sz="2400" b="1" dirty="0" smtClean="0">
              <a:solidFill>
                <a:srgbClr val="000066"/>
              </a:solidFill>
              <a:cs typeface="B Kamra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pic>
        <p:nvPicPr>
          <p:cNvPr id="922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203514">
            <a:off x="1062038" y="1824038"/>
            <a:ext cx="2447925"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115617" y="6029593"/>
            <a:ext cx="4007828" cy="400110"/>
          </a:xfrm>
          <a:prstGeom prst="rect">
            <a:avLst/>
          </a:prstGeom>
        </p:spPr>
        <p:txBody>
          <a:bodyPr wrap="none">
            <a:spAutoFit/>
          </a:bodyPr>
          <a:lstStyle/>
          <a:p>
            <a:r>
              <a:rPr lang="fa-IR" altLang="ar-SA" sz="2000" dirty="0" smtClean="0">
                <a:solidFill>
                  <a:srgbClr val="000066"/>
                </a:solidFill>
                <a:cs typeface="B Nazanin" pitchFamily="2" charset="-78"/>
              </a:rPr>
              <a:t>گروه بندی میوه ای- روزنامه دیواری- پرزنت</a:t>
            </a:r>
            <a:endParaRPr lang="fa-IR" dirty="0"/>
          </a:p>
        </p:txBody>
      </p:sp>
      <p:sp>
        <p:nvSpPr>
          <p:cNvPr id="13" name="Rectangle 12">
            <a:hlinkClick r:id="rId3" action="ppaction://hlinkfile"/>
          </p:cNvPr>
          <p:cNvSpPr/>
          <p:nvPr/>
        </p:nvSpPr>
        <p:spPr>
          <a:xfrm>
            <a:off x="499353" y="5428775"/>
            <a:ext cx="928460" cy="461665"/>
          </a:xfrm>
          <a:prstGeom prst="rect">
            <a:avLst/>
          </a:prstGeom>
        </p:spPr>
        <p:txBody>
          <a:bodyPr wrap="none">
            <a:spAutoFit/>
          </a:bodyPr>
          <a:lstStyle/>
          <a:p>
            <a:pPr>
              <a:defRPr/>
            </a:pPr>
            <a:r>
              <a:rPr lang="fa-IR" sz="2400" b="1" kern="0" dirty="0" smtClean="0">
                <a:solidFill>
                  <a:prstClr val="black"/>
                </a:solidFill>
                <a:cs typeface="B Nazanin" pitchFamily="2" charset="-78"/>
              </a:rPr>
              <a:t>موزیک</a:t>
            </a:r>
            <a:endParaRPr lang="fa-IR" sz="2400" kern="0" dirty="0" smtClean="0">
              <a:solidFill>
                <a:sysClr val="windowText" lastClr="000000"/>
              </a:solidFill>
            </a:endParaRPr>
          </a:p>
        </p:txBody>
      </p:sp>
    </p:spTree>
    <p:extLst>
      <p:ext uri="{BB962C8B-B14F-4D97-AF65-F5344CB8AC3E}">
        <p14:creationId xmlns:p14="http://schemas.microsoft.com/office/powerpoint/2010/main" val="297664753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F7551635-EC94-409E-9DBB-7E0432F91988}" type="slidenum">
              <a:rPr lang="ar-SA" sz="1400" smtClean="0">
                <a:solidFill>
                  <a:prstClr val="black"/>
                </a:solidFill>
              </a:rPr>
              <a:pPr rtl="0" fontAlgn="base">
                <a:spcBef>
                  <a:spcPct val="0"/>
                </a:spcBef>
                <a:spcAft>
                  <a:spcPct val="0"/>
                </a:spcAft>
              </a:pPr>
              <a:t>8</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024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0245" name="Group 4"/>
          <p:cNvGrpSpPr>
            <a:grpSpLocks/>
          </p:cNvGrpSpPr>
          <p:nvPr/>
        </p:nvGrpSpPr>
        <p:grpSpPr bwMode="auto">
          <a:xfrm>
            <a:off x="533400" y="101650"/>
            <a:ext cx="8229600" cy="87313"/>
            <a:chOff x="0" y="900"/>
            <a:chExt cx="5759" cy="96"/>
          </a:xfrm>
        </p:grpSpPr>
        <p:sp>
          <p:nvSpPr>
            <p:cNvPr id="10250"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0251"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024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0247" name="Text Box 9"/>
          <p:cNvSpPr txBox="1">
            <a:spLocks noChangeArrowheads="1"/>
          </p:cNvSpPr>
          <p:nvPr/>
        </p:nvSpPr>
        <p:spPr bwMode="auto">
          <a:xfrm>
            <a:off x="611213" y="1052513"/>
            <a:ext cx="7921625" cy="5170487"/>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smtClean="0">
                <a:solidFill>
                  <a:srgbClr val="C00000"/>
                </a:solidFill>
                <a:cs typeface="B Nazanin" pitchFamily="2" charset="-78"/>
              </a:rPr>
              <a:t>نشانه های جسمانی اضطراب</a:t>
            </a:r>
          </a:p>
          <a:p>
            <a:pPr algn="just" fontAlgn="base">
              <a:lnSpc>
                <a:spcPct val="110000"/>
              </a:lnSpc>
              <a:spcBef>
                <a:spcPct val="0"/>
              </a:spcBef>
              <a:spcAft>
                <a:spcPct val="0"/>
              </a:spcAft>
            </a:pPr>
            <a:r>
              <a:rPr lang="fa-IR" altLang="ar-SA" sz="2000" smtClean="0">
                <a:solidFill>
                  <a:srgbClr val="000066"/>
                </a:solidFill>
                <a:cs typeface="B Nazanin" pitchFamily="2" charset="-78"/>
              </a:rPr>
              <a:t>افزایش میزان ضربان قلب</a:t>
            </a:r>
          </a:p>
          <a:p>
            <a:pPr algn="just" fontAlgn="base">
              <a:lnSpc>
                <a:spcPct val="110000"/>
              </a:lnSpc>
              <a:spcBef>
                <a:spcPct val="0"/>
              </a:spcBef>
              <a:spcAft>
                <a:spcPct val="0"/>
              </a:spcAft>
            </a:pPr>
            <a:r>
              <a:rPr lang="fa-IR" altLang="ar-SA" sz="2000" smtClean="0">
                <a:solidFill>
                  <a:srgbClr val="000066"/>
                </a:solidFill>
                <a:cs typeface="B Nazanin" pitchFamily="2" charset="-78"/>
              </a:rPr>
              <a:t>خستگی</a:t>
            </a:r>
          </a:p>
          <a:p>
            <a:pPr algn="just" fontAlgn="base">
              <a:lnSpc>
                <a:spcPct val="110000"/>
              </a:lnSpc>
              <a:spcBef>
                <a:spcPct val="0"/>
              </a:spcBef>
              <a:spcAft>
                <a:spcPct val="0"/>
              </a:spcAft>
            </a:pPr>
            <a:r>
              <a:rPr lang="fa-IR" altLang="ar-SA" sz="2000" smtClean="0">
                <a:solidFill>
                  <a:srgbClr val="000066"/>
                </a:solidFill>
                <a:cs typeface="B Nazanin" pitchFamily="2" charset="-78"/>
              </a:rPr>
              <a:t>افزایش تنفس</a:t>
            </a:r>
          </a:p>
          <a:p>
            <a:pPr algn="just" fontAlgn="base">
              <a:lnSpc>
                <a:spcPct val="110000"/>
              </a:lnSpc>
              <a:spcBef>
                <a:spcPct val="0"/>
              </a:spcBef>
              <a:spcAft>
                <a:spcPct val="0"/>
              </a:spcAft>
            </a:pPr>
            <a:r>
              <a:rPr lang="fa-IR" altLang="ar-SA" sz="2000" smtClean="0">
                <a:solidFill>
                  <a:srgbClr val="000066"/>
                </a:solidFill>
                <a:cs typeface="B Nazanin" pitchFamily="2" charset="-78"/>
              </a:rPr>
              <a:t>تهوع</a:t>
            </a:r>
          </a:p>
          <a:p>
            <a:pPr algn="just" fontAlgn="base">
              <a:lnSpc>
                <a:spcPct val="110000"/>
              </a:lnSpc>
              <a:spcBef>
                <a:spcPct val="0"/>
              </a:spcBef>
              <a:spcAft>
                <a:spcPct val="0"/>
              </a:spcAft>
            </a:pPr>
            <a:r>
              <a:rPr lang="fa-IR" altLang="ar-SA" sz="2000" smtClean="0">
                <a:solidFill>
                  <a:srgbClr val="000066"/>
                </a:solidFill>
                <a:cs typeface="B Nazanin" pitchFamily="2" charset="-78"/>
              </a:rPr>
              <a:t>دل آشوبه</a:t>
            </a:r>
          </a:p>
          <a:p>
            <a:pPr algn="just" fontAlgn="base">
              <a:lnSpc>
                <a:spcPct val="110000"/>
              </a:lnSpc>
              <a:spcBef>
                <a:spcPct val="0"/>
              </a:spcBef>
              <a:spcAft>
                <a:spcPct val="0"/>
              </a:spcAft>
            </a:pPr>
            <a:r>
              <a:rPr lang="fa-IR" altLang="ar-SA" sz="2000" smtClean="0">
                <a:solidFill>
                  <a:srgbClr val="000066"/>
                </a:solidFill>
                <a:cs typeface="B Nazanin" pitchFamily="2" charset="-78"/>
              </a:rPr>
              <a:t>گیجی</a:t>
            </a:r>
          </a:p>
          <a:p>
            <a:pPr algn="just" fontAlgn="base">
              <a:lnSpc>
                <a:spcPct val="110000"/>
              </a:lnSpc>
              <a:spcBef>
                <a:spcPct val="0"/>
              </a:spcBef>
              <a:spcAft>
                <a:spcPct val="0"/>
              </a:spcAft>
            </a:pPr>
            <a:r>
              <a:rPr lang="fa-IR" altLang="ar-SA" sz="2000" smtClean="0">
                <a:solidFill>
                  <a:srgbClr val="000066"/>
                </a:solidFill>
                <a:cs typeface="B Nazanin" pitchFamily="2" charset="-78"/>
              </a:rPr>
              <a:t>تاری دید</a:t>
            </a:r>
          </a:p>
          <a:p>
            <a:pPr algn="just" fontAlgn="base">
              <a:lnSpc>
                <a:spcPct val="110000"/>
              </a:lnSpc>
              <a:spcBef>
                <a:spcPct val="0"/>
              </a:spcBef>
              <a:spcAft>
                <a:spcPct val="0"/>
              </a:spcAft>
            </a:pPr>
            <a:r>
              <a:rPr lang="fa-IR" altLang="ar-SA" sz="2000" smtClean="0">
                <a:solidFill>
                  <a:srgbClr val="000066"/>
                </a:solidFill>
                <a:cs typeface="B Nazanin" pitchFamily="2" charset="-78"/>
              </a:rPr>
              <a:t>خشکی دهان</a:t>
            </a:r>
          </a:p>
          <a:p>
            <a:pPr algn="just" fontAlgn="base">
              <a:lnSpc>
                <a:spcPct val="110000"/>
              </a:lnSpc>
              <a:spcBef>
                <a:spcPct val="0"/>
              </a:spcBef>
              <a:spcAft>
                <a:spcPct val="0"/>
              </a:spcAft>
            </a:pPr>
            <a:r>
              <a:rPr lang="fa-IR" altLang="ar-SA" sz="2000" smtClean="0">
                <a:solidFill>
                  <a:srgbClr val="000066"/>
                </a:solidFill>
                <a:cs typeface="B Nazanin" pitchFamily="2" charset="-78"/>
              </a:rPr>
              <a:t>انقیاض ماهیچه ها</a:t>
            </a:r>
          </a:p>
          <a:p>
            <a:pPr algn="just" fontAlgn="base">
              <a:lnSpc>
                <a:spcPct val="110000"/>
              </a:lnSpc>
              <a:spcBef>
                <a:spcPct val="0"/>
              </a:spcBef>
              <a:spcAft>
                <a:spcPct val="0"/>
              </a:spcAft>
            </a:pPr>
            <a:r>
              <a:rPr lang="fa-IR" altLang="ar-SA" sz="2000" smtClean="0">
                <a:solidFill>
                  <a:srgbClr val="000066"/>
                </a:solidFill>
                <a:cs typeface="B Nazanin" pitchFamily="2" charset="-78"/>
              </a:rPr>
              <a:t>تپش قلب</a:t>
            </a:r>
          </a:p>
          <a:p>
            <a:pPr algn="just" fontAlgn="base">
              <a:lnSpc>
                <a:spcPct val="110000"/>
              </a:lnSpc>
              <a:spcBef>
                <a:spcPct val="0"/>
              </a:spcBef>
              <a:spcAft>
                <a:spcPct val="0"/>
              </a:spcAft>
            </a:pPr>
            <a:r>
              <a:rPr lang="fa-IR" altLang="ar-SA" sz="2000" smtClean="0">
                <a:solidFill>
                  <a:srgbClr val="000066"/>
                </a:solidFill>
                <a:cs typeface="B Nazanin" pitchFamily="2" charset="-78"/>
              </a:rPr>
              <a:t>سرخ شدن چهره</a:t>
            </a:r>
          </a:p>
          <a:p>
            <a:pPr algn="just" fontAlgn="base">
              <a:lnSpc>
                <a:spcPct val="110000"/>
              </a:lnSpc>
              <a:spcBef>
                <a:spcPct val="0"/>
              </a:spcBef>
              <a:spcAft>
                <a:spcPct val="0"/>
              </a:spcAft>
            </a:pPr>
            <a:r>
              <a:rPr lang="fa-IR" altLang="ar-SA" sz="2000" smtClean="0">
                <a:solidFill>
                  <a:srgbClr val="000066"/>
                </a:solidFill>
                <a:cs typeface="B Nazanin" pitchFamily="2" charset="-78"/>
              </a:rPr>
              <a:t>استفراغ</a:t>
            </a:r>
          </a:p>
          <a:p>
            <a:pPr algn="just" fontAlgn="base">
              <a:lnSpc>
                <a:spcPct val="110000"/>
              </a:lnSpc>
              <a:spcBef>
                <a:spcPct val="0"/>
              </a:spcBef>
              <a:spcAft>
                <a:spcPct val="0"/>
              </a:spcAft>
            </a:pPr>
            <a:r>
              <a:rPr lang="fa-IR" altLang="ar-SA" sz="2000" smtClean="0">
                <a:solidFill>
                  <a:srgbClr val="000066"/>
                </a:solidFill>
                <a:cs typeface="B Nazanin" pitchFamily="2" charset="-78"/>
              </a:rPr>
              <a:t>بی حسی</a:t>
            </a:r>
          </a:p>
          <a:p>
            <a:pPr algn="just" fontAlgn="base">
              <a:lnSpc>
                <a:spcPct val="110000"/>
              </a:lnSpc>
              <a:spcBef>
                <a:spcPct val="0"/>
              </a:spcBef>
              <a:spcAft>
                <a:spcPct val="0"/>
              </a:spcAft>
            </a:pPr>
            <a:r>
              <a:rPr lang="fa-IR" altLang="ar-SA" sz="2000" smtClean="0">
                <a:solidFill>
                  <a:srgbClr val="000066"/>
                </a:solidFill>
                <a:cs typeface="B Nazanin" pitchFamily="2" charset="-78"/>
              </a:rPr>
              <a:t>تعریق</a:t>
            </a: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pic>
        <p:nvPicPr>
          <p:cNvPr id="10249"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966940">
            <a:off x="1514477" y="1558925"/>
            <a:ext cx="3255963"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47582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7A345FBE-F85B-422C-AE9C-ED6666BD8DBF}" type="slidenum">
              <a:rPr lang="ar-SA" sz="1400" smtClean="0">
                <a:solidFill>
                  <a:prstClr val="black"/>
                </a:solidFill>
              </a:rPr>
              <a:pPr rtl="0" fontAlgn="base">
                <a:spcBef>
                  <a:spcPct val="0"/>
                </a:spcBef>
                <a:spcAft>
                  <a:spcPct val="0"/>
                </a:spcAft>
              </a:pPr>
              <a:t>9</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126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1269" name="Group 4"/>
          <p:cNvGrpSpPr>
            <a:grpSpLocks/>
          </p:cNvGrpSpPr>
          <p:nvPr/>
        </p:nvGrpSpPr>
        <p:grpSpPr bwMode="auto">
          <a:xfrm>
            <a:off x="533400" y="101650"/>
            <a:ext cx="8229600" cy="87313"/>
            <a:chOff x="0" y="900"/>
            <a:chExt cx="5759" cy="96"/>
          </a:xfrm>
        </p:grpSpPr>
        <p:sp>
          <p:nvSpPr>
            <p:cNvPr id="11274"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1275"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127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1271" name="Text Box 9"/>
          <p:cNvSpPr txBox="1">
            <a:spLocks noChangeArrowheads="1"/>
          </p:cNvSpPr>
          <p:nvPr/>
        </p:nvSpPr>
        <p:spPr bwMode="auto">
          <a:xfrm>
            <a:off x="611213" y="1052513"/>
            <a:ext cx="7921625" cy="4494212"/>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smtClean="0">
                <a:solidFill>
                  <a:srgbClr val="C00000"/>
                </a:solidFill>
                <a:cs typeface="B Nazanin" pitchFamily="2" charset="-78"/>
              </a:rPr>
              <a:t>نشانه های شناختی اضطراب</a:t>
            </a:r>
          </a:p>
          <a:p>
            <a:pPr algn="just" fontAlgn="base">
              <a:lnSpc>
                <a:spcPct val="110000"/>
              </a:lnSpc>
              <a:spcBef>
                <a:spcPct val="0"/>
              </a:spcBef>
              <a:spcAft>
                <a:spcPct val="0"/>
              </a:spcAft>
            </a:pPr>
            <a:endParaRPr lang="fa-IR" altLang="ar-SA" sz="2000" b="1" u="sng" smtClean="0">
              <a:solidFill>
                <a:srgbClr val="C00000"/>
              </a:solidFill>
              <a:cs typeface="B Nazanin" pitchFamily="2" charset="-78"/>
            </a:endParaRPr>
          </a:p>
          <a:p>
            <a:pPr algn="just" fontAlgn="base">
              <a:lnSpc>
                <a:spcPct val="110000"/>
              </a:lnSpc>
              <a:spcBef>
                <a:spcPct val="0"/>
              </a:spcBef>
              <a:spcAft>
                <a:spcPct val="0"/>
              </a:spcAft>
            </a:pPr>
            <a:r>
              <a:rPr lang="fa-IR" altLang="ar-SA" sz="2000" smtClean="0">
                <a:solidFill>
                  <a:srgbClr val="000066"/>
                </a:solidFill>
                <a:cs typeface="B Nazanin" pitchFamily="2" charset="-78"/>
              </a:rPr>
              <a:t>فکر وحشت یا ترس داشتن</a:t>
            </a:r>
          </a:p>
          <a:p>
            <a:pPr algn="just" fontAlgn="base">
              <a:lnSpc>
                <a:spcPct val="110000"/>
              </a:lnSpc>
              <a:spcBef>
                <a:spcPct val="0"/>
              </a:spcBef>
              <a:spcAft>
                <a:spcPct val="0"/>
              </a:spcAft>
            </a:pPr>
            <a:r>
              <a:rPr lang="fa-IR" altLang="ar-SA" sz="2000" smtClean="0">
                <a:solidFill>
                  <a:srgbClr val="000066"/>
                </a:solidFill>
                <a:cs typeface="B Nazanin" pitchFamily="2" charset="-78"/>
              </a:rPr>
              <a:t>فکر یا تصور جانوران وحشی یا هیولاها</a:t>
            </a:r>
          </a:p>
          <a:p>
            <a:pPr algn="just" fontAlgn="base">
              <a:lnSpc>
                <a:spcPct val="110000"/>
              </a:lnSpc>
              <a:spcBef>
                <a:spcPct val="0"/>
              </a:spcBef>
              <a:spcAft>
                <a:spcPct val="0"/>
              </a:spcAft>
            </a:pPr>
            <a:r>
              <a:rPr lang="fa-IR" altLang="ar-SA" sz="2000" smtClean="0">
                <a:solidFill>
                  <a:srgbClr val="000066"/>
                </a:solidFill>
                <a:cs typeface="B Nazanin" pitchFamily="2" charset="-78"/>
              </a:rPr>
              <a:t>فکر در مورد ملامت خود یا انتقاد از خود</a:t>
            </a:r>
          </a:p>
          <a:p>
            <a:pPr algn="just" fontAlgn="base">
              <a:lnSpc>
                <a:spcPct val="110000"/>
              </a:lnSpc>
              <a:spcBef>
                <a:spcPct val="0"/>
              </a:spcBef>
              <a:spcAft>
                <a:spcPct val="0"/>
              </a:spcAft>
            </a:pPr>
            <a:r>
              <a:rPr lang="fa-IR" altLang="ar-SA" sz="2000" smtClean="0">
                <a:solidFill>
                  <a:srgbClr val="000066"/>
                </a:solidFill>
                <a:cs typeface="B Nazanin" pitchFamily="2" charset="-78"/>
              </a:rPr>
              <a:t>فکر درباره بی کفایتی یا ناتوانی</a:t>
            </a:r>
          </a:p>
          <a:p>
            <a:pPr algn="just" fontAlgn="base">
              <a:lnSpc>
                <a:spcPct val="110000"/>
              </a:lnSpc>
              <a:spcBef>
                <a:spcPct val="0"/>
              </a:spcBef>
              <a:spcAft>
                <a:spcPct val="0"/>
              </a:spcAft>
            </a:pPr>
            <a:r>
              <a:rPr lang="fa-IR" altLang="ar-SA" sz="2000" smtClean="0">
                <a:solidFill>
                  <a:srgbClr val="000066"/>
                </a:solidFill>
                <a:cs typeface="B Nazanin" pitchFamily="2" charset="-78"/>
              </a:rPr>
              <a:t>ناتوانی از تمرکز یافتن</a:t>
            </a:r>
          </a:p>
          <a:p>
            <a:pPr algn="just" fontAlgn="base">
              <a:lnSpc>
                <a:spcPct val="110000"/>
              </a:lnSpc>
              <a:spcBef>
                <a:spcPct val="0"/>
              </a:spcBef>
              <a:spcAft>
                <a:spcPct val="0"/>
              </a:spcAft>
            </a:pPr>
            <a:r>
              <a:rPr lang="fa-IR" altLang="ar-SA" sz="2000" smtClean="0">
                <a:solidFill>
                  <a:srgbClr val="000066"/>
                </a:solidFill>
                <a:cs typeface="B Nazanin" pitchFamily="2" charset="-78"/>
              </a:rPr>
              <a:t>فراموشکاری یا فراموشی جزئی</a:t>
            </a:r>
          </a:p>
          <a:p>
            <a:pPr algn="just" fontAlgn="base">
              <a:lnSpc>
                <a:spcPct val="110000"/>
              </a:lnSpc>
              <a:spcBef>
                <a:spcPct val="0"/>
              </a:spcBef>
              <a:spcAft>
                <a:spcPct val="0"/>
              </a:spcAft>
            </a:pPr>
            <a:r>
              <a:rPr lang="fa-IR" altLang="ar-SA" sz="2000" smtClean="0">
                <a:solidFill>
                  <a:srgbClr val="000066"/>
                </a:solidFill>
                <a:cs typeface="B Nazanin" pitchFamily="2" charset="-78"/>
              </a:rPr>
              <a:t>فکر در مورد هالو به نظر رسیدن</a:t>
            </a:r>
          </a:p>
          <a:p>
            <a:pPr algn="just" fontAlgn="base">
              <a:lnSpc>
                <a:spcPct val="110000"/>
              </a:lnSpc>
              <a:spcBef>
                <a:spcPct val="0"/>
              </a:spcBef>
              <a:spcAft>
                <a:spcPct val="0"/>
              </a:spcAft>
            </a:pPr>
            <a:r>
              <a:rPr lang="fa-IR" altLang="ar-SA" sz="2000" smtClean="0">
                <a:solidFill>
                  <a:srgbClr val="000066"/>
                </a:solidFill>
                <a:cs typeface="B Nazanin" pitchFamily="2" charset="-78"/>
              </a:rPr>
              <a:t>فکر درباره آسیب بدنی</a:t>
            </a:r>
          </a:p>
          <a:p>
            <a:pPr algn="just" fontAlgn="base">
              <a:lnSpc>
                <a:spcPct val="110000"/>
              </a:lnSpc>
              <a:spcBef>
                <a:spcPct val="0"/>
              </a:spcBef>
              <a:spcAft>
                <a:spcPct val="0"/>
              </a:spcAft>
            </a:pPr>
            <a:r>
              <a:rPr lang="fa-IR" altLang="ar-SA" sz="2000" smtClean="0">
                <a:solidFill>
                  <a:srgbClr val="000066"/>
                </a:solidFill>
                <a:cs typeface="B Nazanin" pitchFamily="2" charset="-78"/>
              </a:rPr>
              <a:t>خیالاتی در مورد آسیب به یک دوست صمیمی</a:t>
            </a:r>
          </a:p>
          <a:p>
            <a:pPr algn="just" fontAlgn="base">
              <a:lnSpc>
                <a:spcPct val="110000"/>
              </a:lnSpc>
              <a:spcBef>
                <a:spcPct val="0"/>
              </a:spcBef>
              <a:spcAft>
                <a:spcPct val="0"/>
              </a:spcAft>
            </a:pPr>
            <a:r>
              <a:rPr lang="fa-IR" altLang="ar-SA" sz="2000" smtClean="0">
                <a:solidFill>
                  <a:srgbClr val="000066"/>
                </a:solidFill>
                <a:cs typeface="B Nazanin" pitchFamily="2" charset="-78"/>
              </a:rPr>
              <a:t>افکار در مورد دیوانه شدن</a:t>
            </a:r>
          </a:p>
          <a:p>
            <a:pPr algn="just" fontAlgn="base">
              <a:lnSpc>
                <a:spcPct val="110000"/>
              </a:lnSpc>
              <a:spcBef>
                <a:spcPct val="0"/>
              </a:spcBef>
              <a:spcAft>
                <a:spcPct val="0"/>
              </a:spcAft>
            </a:pPr>
            <a:r>
              <a:rPr lang="fa-IR" altLang="ar-SA" sz="2000" smtClean="0">
                <a:solidFill>
                  <a:srgbClr val="000066"/>
                </a:solidFill>
                <a:cs typeface="B Nazanin" pitchFamily="2" charset="-78"/>
              </a:rPr>
              <a:t>افکار در مورد آلوده و پلید بودن</a:t>
            </a: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pic>
        <p:nvPicPr>
          <p:cNvPr id="11273"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819867">
            <a:off x="1196975" y="2544766"/>
            <a:ext cx="28575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930183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C0293AD8-77EF-41B4-98CC-71B6A363E638}" type="slidenum">
              <a:rPr lang="ar-SA" sz="1400" smtClean="0">
                <a:solidFill>
                  <a:prstClr val="black"/>
                </a:solidFill>
              </a:rPr>
              <a:pPr rtl="0" fontAlgn="base">
                <a:spcBef>
                  <a:spcPct val="0"/>
                </a:spcBef>
                <a:spcAft>
                  <a:spcPct val="0"/>
                </a:spcAft>
              </a:pPr>
              <a:t>10</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2292"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2293" name="Group 4"/>
          <p:cNvGrpSpPr>
            <a:grpSpLocks/>
          </p:cNvGrpSpPr>
          <p:nvPr/>
        </p:nvGrpSpPr>
        <p:grpSpPr bwMode="auto">
          <a:xfrm>
            <a:off x="533400" y="101650"/>
            <a:ext cx="8229600" cy="87313"/>
            <a:chOff x="0" y="900"/>
            <a:chExt cx="5759" cy="96"/>
          </a:xfrm>
        </p:grpSpPr>
        <p:sp>
          <p:nvSpPr>
            <p:cNvPr id="12298"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2299"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2294"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2295" name="Text Box 9"/>
          <p:cNvSpPr txBox="1">
            <a:spLocks noChangeArrowheads="1"/>
          </p:cNvSpPr>
          <p:nvPr/>
        </p:nvSpPr>
        <p:spPr bwMode="auto">
          <a:xfrm>
            <a:off x="611213" y="1052513"/>
            <a:ext cx="7921625" cy="5170487"/>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smtClean="0">
                <a:solidFill>
                  <a:srgbClr val="C00000"/>
                </a:solidFill>
                <a:cs typeface="B Nazanin" pitchFamily="2" charset="-78"/>
              </a:rPr>
              <a:t>نشانه های رفتاری اضطراب</a:t>
            </a:r>
          </a:p>
          <a:p>
            <a:pPr algn="just" fontAlgn="base">
              <a:lnSpc>
                <a:spcPct val="110000"/>
              </a:lnSpc>
              <a:spcBef>
                <a:spcPct val="0"/>
              </a:spcBef>
              <a:spcAft>
                <a:spcPct val="0"/>
              </a:spcAft>
            </a:pPr>
            <a:r>
              <a:rPr lang="fa-IR" altLang="ar-SA" sz="2000" smtClean="0">
                <a:solidFill>
                  <a:srgbClr val="000066"/>
                </a:solidFill>
                <a:cs typeface="B Nazanin" pitchFamily="2" charset="-78"/>
              </a:rPr>
              <a:t>اجتناب و پرهیز</a:t>
            </a:r>
          </a:p>
          <a:p>
            <a:pPr algn="just" fontAlgn="base">
              <a:lnSpc>
                <a:spcPct val="110000"/>
              </a:lnSpc>
              <a:spcBef>
                <a:spcPct val="0"/>
              </a:spcBef>
              <a:spcAft>
                <a:spcPct val="0"/>
              </a:spcAft>
            </a:pPr>
            <a:r>
              <a:rPr lang="fa-IR" altLang="ar-SA" sz="2000" smtClean="0">
                <a:solidFill>
                  <a:srgbClr val="000066"/>
                </a:solidFill>
                <a:cs typeface="B Nazanin" pitchFamily="2" charset="-78"/>
              </a:rPr>
              <a:t>گریستن و جیغ زدن</a:t>
            </a:r>
          </a:p>
          <a:p>
            <a:pPr algn="just" fontAlgn="base">
              <a:lnSpc>
                <a:spcPct val="110000"/>
              </a:lnSpc>
              <a:spcBef>
                <a:spcPct val="0"/>
              </a:spcBef>
              <a:spcAft>
                <a:spcPct val="0"/>
              </a:spcAft>
            </a:pPr>
            <a:r>
              <a:rPr lang="fa-IR" altLang="ar-SA" sz="2000" smtClean="0">
                <a:solidFill>
                  <a:srgbClr val="000066"/>
                </a:solidFill>
                <a:cs typeface="B Nazanin" pitchFamily="2" charset="-78"/>
              </a:rPr>
              <a:t>ناخن جویدن</a:t>
            </a:r>
          </a:p>
          <a:p>
            <a:pPr algn="just" fontAlgn="base">
              <a:lnSpc>
                <a:spcPct val="110000"/>
              </a:lnSpc>
              <a:spcBef>
                <a:spcPct val="0"/>
              </a:spcBef>
              <a:spcAft>
                <a:spcPct val="0"/>
              </a:spcAft>
            </a:pPr>
            <a:r>
              <a:rPr lang="fa-IR" altLang="ar-SA" sz="2000" smtClean="0">
                <a:solidFill>
                  <a:srgbClr val="000066"/>
                </a:solidFill>
                <a:cs typeface="B Nazanin" pitchFamily="2" charset="-78"/>
              </a:rPr>
              <a:t>لرزش صدا</a:t>
            </a:r>
          </a:p>
          <a:p>
            <a:pPr algn="just" fontAlgn="base">
              <a:lnSpc>
                <a:spcPct val="110000"/>
              </a:lnSpc>
              <a:spcBef>
                <a:spcPct val="0"/>
              </a:spcBef>
              <a:spcAft>
                <a:spcPct val="0"/>
              </a:spcAft>
            </a:pPr>
            <a:r>
              <a:rPr lang="fa-IR" altLang="ar-SA" sz="2000" smtClean="0">
                <a:solidFill>
                  <a:srgbClr val="000066"/>
                </a:solidFill>
                <a:cs typeface="B Nazanin" pitchFamily="2" charset="-78"/>
              </a:rPr>
              <a:t>لکنت پیدا کردن</a:t>
            </a:r>
          </a:p>
          <a:p>
            <a:pPr algn="just" fontAlgn="base">
              <a:lnSpc>
                <a:spcPct val="110000"/>
              </a:lnSpc>
              <a:spcBef>
                <a:spcPct val="0"/>
              </a:spcBef>
              <a:spcAft>
                <a:spcPct val="0"/>
              </a:spcAft>
            </a:pPr>
            <a:r>
              <a:rPr lang="fa-IR" altLang="ar-SA" sz="2000" smtClean="0">
                <a:solidFill>
                  <a:srgbClr val="000066"/>
                </a:solidFill>
                <a:cs typeface="B Nazanin" pitchFamily="2" charset="-78"/>
              </a:rPr>
              <a:t>لرزیدن لب ها</a:t>
            </a:r>
          </a:p>
          <a:p>
            <a:pPr algn="just" fontAlgn="base">
              <a:lnSpc>
                <a:spcPct val="110000"/>
              </a:lnSpc>
              <a:spcBef>
                <a:spcPct val="0"/>
              </a:spcBef>
              <a:spcAft>
                <a:spcPct val="0"/>
              </a:spcAft>
            </a:pPr>
            <a:r>
              <a:rPr lang="fa-IR" altLang="ar-SA" sz="2000" smtClean="0">
                <a:solidFill>
                  <a:srgbClr val="000066"/>
                </a:solidFill>
                <a:cs typeface="B Nazanin" pitchFamily="2" charset="-78"/>
              </a:rPr>
              <a:t>فرودادن آب دهان</a:t>
            </a:r>
          </a:p>
          <a:p>
            <a:pPr algn="just" fontAlgn="base">
              <a:lnSpc>
                <a:spcPct val="110000"/>
              </a:lnSpc>
              <a:spcBef>
                <a:spcPct val="0"/>
              </a:spcBef>
              <a:spcAft>
                <a:spcPct val="0"/>
              </a:spcAft>
            </a:pPr>
            <a:r>
              <a:rPr lang="fa-IR" altLang="ar-SA" sz="2000" smtClean="0">
                <a:solidFill>
                  <a:srgbClr val="000066"/>
                </a:solidFill>
                <a:cs typeface="B Nazanin" pitchFamily="2" charset="-78"/>
              </a:rPr>
              <a:t>بی تحرکی</a:t>
            </a:r>
          </a:p>
          <a:p>
            <a:pPr algn="just" fontAlgn="base">
              <a:lnSpc>
                <a:spcPct val="110000"/>
              </a:lnSpc>
              <a:spcBef>
                <a:spcPct val="0"/>
              </a:spcBef>
              <a:spcAft>
                <a:spcPct val="0"/>
              </a:spcAft>
            </a:pPr>
            <a:r>
              <a:rPr lang="fa-IR" altLang="ar-SA" sz="2000" smtClean="0">
                <a:solidFill>
                  <a:srgbClr val="000066"/>
                </a:solidFill>
                <a:cs typeface="B Nazanin" pitchFamily="2" charset="-78"/>
              </a:rPr>
              <a:t>گرفتگی عضلانی</a:t>
            </a:r>
          </a:p>
          <a:p>
            <a:pPr algn="just" fontAlgn="base">
              <a:lnSpc>
                <a:spcPct val="110000"/>
              </a:lnSpc>
              <a:spcBef>
                <a:spcPct val="0"/>
              </a:spcBef>
              <a:spcAft>
                <a:spcPct val="0"/>
              </a:spcAft>
            </a:pPr>
            <a:r>
              <a:rPr lang="fa-IR" altLang="ar-SA" sz="2000" smtClean="0">
                <a:solidFill>
                  <a:srgbClr val="000066"/>
                </a:solidFill>
                <a:cs typeface="B Nazanin" pitchFamily="2" charset="-78"/>
              </a:rPr>
              <a:t>مکیدن شست</a:t>
            </a:r>
          </a:p>
          <a:p>
            <a:pPr algn="just" fontAlgn="base">
              <a:lnSpc>
                <a:spcPct val="110000"/>
              </a:lnSpc>
              <a:spcBef>
                <a:spcPct val="0"/>
              </a:spcBef>
              <a:spcAft>
                <a:spcPct val="0"/>
              </a:spcAft>
            </a:pPr>
            <a:r>
              <a:rPr lang="fa-IR" altLang="ar-SA" sz="2000" smtClean="0">
                <a:solidFill>
                  <a:srgbClr val="000066"/>
                </a:solidFill>
                <a:cs typeface="B Nazanin" pitchFamily="2" charset="-78"/>
              </a:rPr>
              <a:t>پرهیز از تماس چشمی</a:t>
            </a:r>
          </a:p>
          <a:p>
            <a:pPr algn="just" fontAlgn="base">
              <a:lnSpc>
                <a:spcPct val="110000"/>
              </a:lnSpc>
              <a:spcBef>
                <a:spcPct val="0"/>
              </a:spcBef>
              <a:spcAft>
                <a:spcPct val="0"/>
              </a:spcAft>
            </a:pPr>
            <a:r>
              <a:rPr lang="fa-IR" altLang="ar-SA" sz="2000" smtClean="0">
                <a:solidFill>
                  <a:srgbClr val="000066"/>
                </a:solidFill>
                <a:cs typeface="B Nazanin" pitchFamily="2" charset="-78"/>
              </a:rPr>
              <a:t>اجتناب از تماس بدنی</a:t>
            </a:r>
          </a:p>
          <a:p>
            <a:pPr algn="just" fontAlgn="base">
              <a:lnSpc>
                <a:spcPct val="110000"/>
              </a:lnSpc>
              <a:spcBef>
                <a:spcPct val="0"/>
              </a:spcBef>
              <a:spcAft>
                <a:spcPct val="0"/>
              </a:spcAft>
            </a:pPr>
            <a:r>
              <a:rPr lang="fa-IR" altLang="ar-SA" sz="2000" smtClean="0">
                <a:solidFill>
                  <a:srgbClr val="000066"/>
                </a:solidFill>
                <a:cs typeface="B Nazanin" pitchFamily="2" charset="-78"/>
              </a:rPr>
              <a:t>قفل شدن آرواره ها</a:t>
            </a:r>
          </a:p>
          <a:p>
            <a:pPr algn="just" fontAlgn="base">
              <a:lnSpc>
                <a:spcPct val="110000"/>
              </a:lnSpc>
              <a:spcBef>
                <a:spcPct val="0"/>
              </a:spcBef>
              <a:spcAft>
                <a:spcPct val="0"/>
              </a:spcAft>
            </a:pPr>
            <a:r>
              <a:rPr lang="fa-IR" altLang="ar-SA" sz="2000" smtClean="0">
                <a:solidFill>
                  <a:srgbClr val="000066"/>
                </a:solidFill>
                <a:cs typeface="B Nazanin" pitchFamily="2" charset="-78"/>
              </a:rPr>
              <a:t>بی قراری</a:t>
            </a: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pic>
        <p:nvPicPr>
          <p:cNvPr id="12297"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rot="-1850106">
            <a:off x="1495450" y="2630492"/>
            <a:ext cx="3757613"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526379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3BA5B496-D19E-4122-B5A0-2F4CEC85D3AF}" type="slidenum">
              <a:rPr lang="ar-SA" sz="1400" smtClean="0">
                <a:solidFill>
                  <a:prstClr val="black"/>
                </a:solidFill>
              </a:rPr>
              <a:pPr rtl="0" fontAlgn="base">
                <a:spcBef>
                  <a:spcPct val="0"/>
                </a:spcBef>
                <a:spcAft>
                  <a:spcPct val="0"/>
                </a:spcAft>
              </a:pPr>
              <a:t>11</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331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3317" name="Group 4"/>
          <p:cNvGrpSpPr>
            <a:grpSpLocks/>
          </p:cNvGrpSpPr>
          <p:nvPr/>
        </p:nvGrpSpPr>
        <p:grpSpPr bwMode="auto">
          <a:xfrm>
            <a:off x="533400" y="101650"/>
            <a:ext cx="8229600" cy="87313"/>
            <a:chOff x="0" y="900"/>
            <a:chExt cx="5759" cy="96"/>
          </a:xfrm>
        </p:grpSpPr>
        <p:sp>
          <p:nvSpPr>
            <p:cNvPr id="13322"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3323"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331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3319" name="Text Box 9"/>
          <p:cNvSpPr txBox="1">
            <a:spLocks noChangeArrowheads="1"/>
          </p:cNvSpPr>
          <p:nvPr/>
        </p:nvSpPr>
        <p:spPr bwMode="auto">
          <a:xfrm>
            <a:off x="611213" y="1052513"/>
            <a:ext cx="7921625" cy="430212"/>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smtClean="0">
                <a:solidFill>
                  <a:srgbClr val="C00000"/>
                </a:solidFill>
                <a:cs typeface="B Nazanin" pitchFamily="2" charset="-78"/>
              </a:rPr>
              <a:t>نمودار معروف اضطراب</a:t>
            </a: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pic>
        <p:nvPicPr>
          <p:cNvPr id="1332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3488" y="1651000"/>
            <a:ext cx="6829425"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038774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F1AE9CA9-CADC-4568-829B-BEF26B8CCEAA}" type="slidenum">
              <a:rPr lang="ar-SA" sz="1400" smtClean="0">
                <a:solidFill>
                  <a:prstClr val="black"/>
                </a:solidFill>
              </a:rPr>
              <a:pPr rtl="0" fontAlgn="base">
                <a:spcBef>
                  <a:spcPct val="0"/>
                </a:spcBef>
                <a:spcAft>
                  <a:spcPct val="0"/>
                </a:spcAft>
              </a:pPr>
              <a:t>12</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536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5365" name="Group 4"/>
          <p:cNvGrpSpPr>
            <a:grpSpLocks/>
          </p:cNvGrpSpPr>
          <p:nvPr/>
        </p:nvGrpSpPr>
        <p:grpSpPr bwMode="auto">
          <a:xfrm>
            <a:off x="533400" y="101650"/>
            <a:ext cx="8229600" cy="87313"/>
            <a:chOff x="0" y="900"/>
            <a:chExt cx="5759" cy="96"/>
          </a:xfrm>
        </p:grpSpPr>
        <p:sp>
          <p:nvSpPr>
            <p:cNvPr id="15369"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5370"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536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5367" name="Text Box 9"/>
          <p:cNvSpPr txBox="1">
            <a:spLocks noChangeArrowheads="1"/>
          </p:cNvSpPr>
          <p:nvPr/>
        </p:nvSpPr>
        <p:spPr bwMode="auto">
          <a:xfrm>
            <a:off x="611213" y="900141"/>
            <a:ext cx="7921625" cy="5238357"/>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fontAlgn="base">
              <a:lnSpc>
                <a:spcPct val="110000"/>
              </a:lnSpc>
              <a:spcBef>
                <a:spcPct val="0"/>
              </a:spcBef>
              <a:spcAft>
                <a:spcPct val="0"/>
              </a:spcAft>
            </a:pPr>
            <a:r>
              <a:rPr lang="fa-IR" altLang="ar-SA" sz="2000" b="1" u="sng" dirty="0" smtClean="0">
                <a:solidFill>
                  <a:srgbClr val="C00000"/>
                </a:solidFill>
                <a:cs typeface="B Nazanin" pitchFamily="2" charset="-78"/>
              </a:rPr>
              <a:t>ترس های رایج در دوران طفولیت، کودکی و نوجوانی</a:t>
            </a:r>
          </a:p>
          <a:p>
            <a:pPr algn="ctr" fontAlgn="base">
              <a:lnSpc>
                <a:spcPct val="110000"/>
              </a:lnSpc>
              <a:spcBef>
                <a:spcPct val="0"/>
              </a:spcBef>
              <a:spcAft>
                <a:spcPct val="0"/>
              </a:spcAft>
            </a:pPr>
            <a:r>
              <a:rPr lang="fa-IR" altLang="ar-SA" sz="2000" b="1" u="sng" dirty="0" smtClean="0">
                <a:solidFill>
                  <a:srgbClr val="C00000"/>
                </a:solidFill>
                <a:cs typeface="B Nazanin" pitchFamily="2" charset="-78"/>
              </a:rPr>
              <a:t>بحث گروهی</a:t>
            </a: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6 -0 ماهگی: </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12 - 7 ماهگی: </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1 سالگی:</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2 سالگی:</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3 سالگی:</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4 سالگی: </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5 سالگی:</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6 سالگی:</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8-7 سالگی: </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12-9 سالگی:</a:t>
            </a:r>
            <a:endParaRPr lang="fa-IR" altLang="ar-SA" sz="1050" b="1" dirty="0" smtClean="0">
              <a:solidFill>
                <a:srgbClr val="000066"/>
              </a:solidFill>
              <a:cs typeface="B Nazanin" pitchFamily="2" charset="-78"/>
            </a:endParaRPr>
          </a:p>
          <a:p>
            <a:pPr algn="just" fontAlgn="base">
              <a:lnSpc>
                <a:spcPct val="110000"/>
              </a:lnSpc>
              <a:spcBef>
                <a:spcPct val="0"/>
              </a:spcBef>
              <a:spcAft>
                <a:spcPct val="0"/>
              </a:spcAft>
            </a:pPr>
            <a:r>
              <a:rPr lang="fa-IR" altLang="ar-SA" sz="2400" b="1" i="1" u="sng" dirty="0" smtClean="0">
                <a:solidFill>
                  <a:srgbClr val="FF0000"/>
                </a:solidFill>
                <a:cs typeface="B Nazanin" pitchFamily="2" charset="-78"/>
              </a:rPr>
              <a:t>نوجوانی:</a:t>
            </a:r>
            <a:endParaRPr lang="fa-IR" altLang="ar-SA" sz="2400" b="1" dirty="0" smtClean="0">
              <a:solidFill>
                <a:srgbClr val="000066"/>
              </a:solidFill>
              <a:cs typeface="B Nazani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12" name="Rectangle 11">
            <a:hlinkClick r:id="rId2" action="ppaction://hlinkfile"/>
          </p:cNvPr>
          <p:cNvSpPr/>
          <p:nvPr/>
        </p:nvSpPr>
        <p:spPr>
          <a:xfrm>
            <a:off x="499353" y="5428775"/>
            <a:ext cx="928460" cy="461665"/>
          </a:xfrm>
          <a:prstGeom prst="rect">
            <a:avLst/>
          </a:prstGeom>
        </p:spPr>
        <p:txBody>
          <a:bodyPr wrap="none">
            <a:spAutoFit/>
          </a:bodyPr>
          <a:lstStyle/>
          <a:p>
            <a:pPr>
              <a:defRPr/>
            </a:pPr>
            <a:r>
              <a:rPr lang="fa-IR" sz="2400" b="1" kern="0" dirty="0" smtClean="0">
                <a:solidFill>
                  <a:prstClr val="black"/>
                </a:solidFill>
                <a:cs typeface="B Nazanin" pitchFamily="2" charset="-78"/>
              </a:rPr>
              <a:t>موزیک</a:t>
            </a:r>
            <a:endParaRPr lang="fa-IR" sz="2400" kern="0" dirty="0" smtClean="0">
              <a:solidFill>
                <a:sysClr val="windowText" lastClr="000000"/>
              </a:solidFill>
            </a:endParaRPr>
          </a:p>
        </p:txBody>
      </p:sp>
    </p:spTree>
    <p:extLst>
      <p:ext uri="{BB962C8B-B14F-4D97-AF65-F5344CB8AC3E}">
        <p14:creationId xmlns:p14="http://schemas.microsoft.com/office/powerpoint/2010/main" val="291352295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F1AE9CA9-CADC-4568-829B-BEF26B8CCEAA}" type="slidenum">
              <a:rPr lang="ar-SA" sz="1400" smtClean="0">
                <a:solidFill>
                  <a:prstClr val="black"/>
                </a:solidFill>
              </a:rPr>
              <a:pPr rtl="0" fontAlgn="base">
                <a:spcBef>
                  <a:spcPct val="0"/>
                </a:spcBef>
                <a:spcAft>
                  <a:spcPct val="0"/>
                </a:spcAft>
              </a:pPr>
              <a:t>13</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536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5365" name="Group 4"/>
          <p:cNvGrpSpPr>
            <a:grpSpLocks/>
          </p:cNvGrpSpPr>
          <p:nvPr/>
        </p:nvGrpSpPr>
        <p:grpSpPr bwMode="auto">
          <a:xfrm>
            <a:off x="533400" y="101650"/>
            <a:ext cx="8229600" cy="87313"/>
            <a:chOff x="0" y="900"/>
            <a:chExt cx="5759" cy="96"/>
          </a:xfrm>
        </p:grpSpPr>
        <p:sp>
          <p:nvSpPr>
            <p:cNvPr id="15369"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5370"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536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5367" name="Text Box 9"/>
          <p:cNvSpPr txBox="1">
            <a:spLocks noChangeArrowheads="1"/>
          </p:cNvSpPr>
          <p:nvPr/>
        </p:nvSpPr>
        <p:spPr bwMode="auto">
          <a:xfrm>
            <a:off x="611213" y="900155"/>
            <a:ext cx="7921625" cy="5576911"/>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fontAlgn="base">
              <a:lnSpc>
                <a:spcPct val="110000"/>
              </a:lnSpc>
              <a:spcBef>
                <a:spcPct val="0"/>
              </a:spcBef>
              <a:spcAft>
                <a:spcPct val="0"/>
              </a:spcAft>
            </a:pPr>
            <a:r>
              <a:rPr lang="fa-IR" altLang="ar-SA" sz="2000" b="1" u="sng" dirty="0" smtClean="0">
                <a:solidFill>
                  <a:srgbClr val="C00000"/>
                </a:solidFill>
                <a:cs typeface="B Nazanin" pitchFamily="2" charset="-78"/>
              </a:rPr>
              <a:t>ترس های رایج در دوران طفولیت، کودکی و نوجوانی</a:t>
            </a: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6 -0 ماهگی: </a:t>
            </a:r>
            <a:r>
              <a:rPr lang="fa-IR" altLang="ar-SA" sz="1600" b="1" dirty="0" smtClean="0">
                <a:solidFill>
                  <a:srgbClr val="000066"/>
                </a:solidFill>
                <a:cs typeface="B Nazanin" pitchFamily="2" charset="-78"/>
              </a:rPr>
              <a:t>از دست دادن حمایت بدنی / صدای بلند</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12 - 7 ماهگی: </a:t>
            </a:r>
            <a:r>
              <a:rPr lang="fa-IR" altLang="ar-SA" sz="1600" b="1" dirty="0" smtClean="0">
                <a:solidFill>
                  <a:srgbClr val="000066"/>
                </a:solidFill>
                <a:cs typeface="B Nazanin" pitchFamily="2" charset="-78"/>
              </a:rPr>
              <a:t>غریبه ها / چیزهای ناگهانی، غیر منتظره و ترسناک</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1 سالگی: </a:t>
            </a:r>
            <a:r>
              <a:rPr lang="fa-IR" altLang="ar-SA" sz="1600" b="1" dirty="0" smtClean="0">
                <a:solidFill>
                  <a:srgbClr val="000066"/>
                </a:solidFill>
                <a:cs typeface="B Nazanin" pitchFamily="2" charset="-78"/>
              </a:rPr>
              <a:t>جدایی از والدین / آسیب دیدگی والدین / توالت رفتن / غریبه ها</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2 سالگی: </a:t>
            </a:r>
            <a:r>
              <a:rPr lang="fa-IR" altLang="ar-SA" sz="1600" b="1" dirty="0" smtClean="0">
                <a:solidFill>
                  <a:srgbClr val="000066"/>
                </a:solidFill>
                <a:cs typeface="B Nazanin" pitchFamily="2" charset="-78"/>
              </a:rPr>
              <a:t>صداهای بلند / حیوانات / اتاق تاریک / جدایی از والدین / اشیاء یا ماشین های بزرگ / تغییر در محیط شخصی</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3 سالگی: </a:t>
            </a:r>
            <a:r>
              <a:rPr lang="fa-IR" altLang="ar-SA" sz="1600" b="1" dirty="0" smtClean="0">
                <a:solidFill>
                  <a:srgbClr val="000066"/>
                </a:solidFill>
                <a:cs typeface="B Nazanin" pitchFamily="2" charset="-78"/>
              </a:rPr>
              <a:t>ماسک ها / تاریکی / حیوانات / جدایی از والدین</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4 سالگی: </a:t>
            </a:r>
            <a:r>
              <a:rPr lang="fa-IR" altLang="ar-SA" sz="1600" b="1" dirty="0" smtClean="0">
                <a:solidFill>
                  <a:srgbClr val="000066"/>
                </a:solidFill>
                <a:cs typeface="B Nazanin" pitchFamily="2" charset="-78"/>
              </a:rPr>
              <a:t>جدایی از والدین / حیوانات / تاریکی / صداها</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5 سالگی: </a:t>
            </a:r>
            <a:r>
              <a:rPr lang="fa-IR" altLang="ar-SA" sz="1600" b="1" dirty="0" smtClean="0">
                <a:solidFill>
                  <a:srgbClr val="000066"/>
                </a:solidFill>
                <a:cs typeface="B Nazanin" pitchFamily="2" charset="-78"/>
              </a:rPr>
              <a:t>حیوانات / آدم های «بد» / تاریکی / جدایی از والدین / آسیب بدنی</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6 سالگی: </a:t>
            </a:r>
            <a:r>
              <a:rPr lang="fa-IR" altLang="ar-SA" sz="1600" b="1" dirty="0" smtClean="0">
                <a:solidFill>
                  <a:srgbClr val="000066"/>
                </a:solidFill>
                <a:cs typeface="B Nazanin" pitchFamily="2" charset="-78"/>
              </a:rPr>
              <a:t>موجودات فوق طبیعی (ارواح و جادوگران) / صدمات بدنی / رعد و برق / تنها خوابیدن و تنها ماندن در خانه / جدایی از والدین</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8-7 سالگی: </a:t>
            </a:r>
            <a:r>
              <a:rPr lang="fa-IR" altLang="ar-SA" sz="1600" b="1" dirty="0" smtClean="0">
                <a:solidFill>
                  <a:srgbClr val="000066"/>
                </a:solidFill>
                <a:cs typeface="B Nazanin" pitchFamily="2" charset="-78"/>
              </a:rPr>
              <a:t>موجودات فوق طبیعی / تاریک / احضار روح / تنها ماندن در خانه / آسیب بدنی</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12-9 سالگی: </a:t>
            </a:r>
            <a:r>
              <a:rPr lang="fa-IR" altLang="ar-SA" sz="1600" b="1" dirty="0" smtClean="0">
                <a:solidFill>
                  <a:srgbClr val="000066"/>
                </a:solidFill>
                <a:cs typeface="B Nazanin" pitchFamily="2" charset="-78"/>
              </a:rPr>
              <a:t>آزمون ها و امتحانات در مدرسه / عملکرد تحصیلی / آسیب بدنی / ظاهر جسمی / رعد و برق / مرگ</a:t>
            </a:r>
          </a:p>
          <a:p>
            <a:pPr algn="just" fontAlgn="base">
              <a:lnSpc>
                <a:spcPct val="110000"/>
              </a:lnSpc>
              <a:spcBef>
                <a:spcPct val="0"/>
              </a:spcBef>
              <a:spcAft>
                <a:spcPct val="0"/>
              </a:spcAft>
            </a:pPr>
            <a:endParaRPr lang="fa-IR" altLang="ar-SA" sz="8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i="1" u="sng" dirty="0" smtClean="0">
                <a:solidFill>
                  <a:srgbClr val="FF0000"/>
                </a:solidFill>
                <a:cs typeface="B Nazanin" pitchFamily="2" charset="-78"/>
              </a:rPr>
              <a:t>نوجوانی: </a:t>
            </a:r>
            <a:r>
              <a:rPr lang="fa-IR" altLang="ar-SA" sz="1600" b="1" dirty="0" smtClean="0">
                <a:solidFill>
                  <a:srgbClr val="000066"/>
                </a:solidFill>
                <a:cs typeface="B Nazanin" pitchFamily="2" charset="-78"/>
              </a:rPr>
              <a:t>روابط شخصی / ظاهر شخصی / مدرسه / پیامدهای سیاسی / آینده / حیوانات / پدیده های فوق طبیعی / بلایا طبیعی / ایمنی</a:t>
            </a: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11" name="Rectangle 10">
            <a:hlinkClick r:id="rId2" action="ppaction://hlinkfile"/>
          </p:cNvPr>
          <p:cNvSpPr/>
          <p:nvPr/>
        </p:nvSpPr>
        <p:spPr>
          <a:xfrm>
            <a:off x="559961" y="1556792"/>
            <a:ext cx="2079415"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effectLst/>
                <a:uLnTx/>
                <a:uFillTx/>
                <a:cs typeface="B Nazanin" pitchFamily="2" charset="-78"/>
              </a:rPr>
              <a:t>پخش کاربرگ</a:t>
            </a:r>
            <a:endParaRPr kumimoji="0" lang="fa-IR" sz="3200" b="0" i="0" u="none" strike="noStrike" kern="0" cap="none" spc="0" normalizeH="0" baseline="0" noProof="0" dirty="0" smtClean="0">
              <a:ln>
                <a:noFill/>
              </a:ln>
              <a:effectLst/>
              <a:uLnTx/>
              <a:uFillTx/>
            </a:endParaRPr>
          </a:p>
        </p:txBody>
      </p:sp>
    </p:spTree>
    <p:extLst>
      <p:ext uri="{BB962C8B-B14F-4D97-AF65-F5344CB8AC3E}">
        <p14:creationId xmlns:p14="http://schemas.microsoft.com/office/powerpoint/2010/main" val="166547520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9F1C1115-8A4F-4C76-98DF-CC1D92C1EA8B}" type="slidenum">
              <a:rPr lang="ar-SA" sz="1400" smtClean="0">
                <a:solidFill>
                  <a:prstClr val="black"/>
                </a:solidFill>
              </a:rPr>
              <a:pPr rtl="0" fontAlgn="base">
                <a:spcBef>
                  <a:spcPct val="0"/>
                </a:spcBef>
                <a:spcAft>
                  <a:spcPct val="0"/>
                </a:spcAft>
              </a:pPr>
              <a:t>14</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434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4341" name="Group 4"/>
          <p:cNvGrpSpPr>
            <a:grpSpLocks/>
          </p:cNvGrpSpPr>
          <p:nvPr/>
        </p:nvGrpSpPr>
        <p:grpSpPr bwMode="auto">
          <a:xfrm>
            <a:off x="533400" y="101650"/>
            <a:ext cx="8229600" cy="87313"/>
            <a:chOff x="0" y="900"/>
            <a:chExt cx="5759" cy="96"/>
          </a:xfrm>
        </p:grpSpPr>
        <p:sp>
          <p:nvSpPr>
            <p:cNvPr id="1434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434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434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4343" name="Text Box 9"/>
          <p:cNvSpPr txBox="1">
            <a:spLocks noChangeArrowheads="1"/>
          </p:cNvSpPr>
          <p:nvPr/>
        </p:nvSpPr>
        <p:spPr bwMode="auto">
          <a:xfrm>
            <a:off x="611213" y="1052538"/>
            <a:ext cx="7921625" cy="4899803"/>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dirty="0" smtClean="0">
                <a:solidFill>
                  <a:srgbClr val="C00000"/>
                </a:solidFill>
                <a:cs typeface="B Nazanin" pitchFamily="2" charset="-78"/>
              </a:rPr>
              <a:t>اضطراب در کودکان چه موقع غیرطبیعی است؟</a:t>
            </a:r>
          </a:p>
          <a:p>
            <a:pPr algn="just" fontAlgn="base">
              <a:lnSpc>
                <a:spcPct val="110000"/>
              </a:lnSpc>
              <a:spcBef>
                <a:spcPct val="0"/>
              </a:spcBef>
              <a:spcAft>
                <a:spcPct val="0"/>
              </a:spcAft>
            </a:pPr>
            <a:endParaRPr lang="fa-IR" altLang="ar-SA" sz="2000" b="1" u="sng" dirty="0" smtClean="0">
              <a:solidFill>
                <a:srgbClr val="C00000"/>
              </a:solidFill>
              <a:cs typeface="B Nazanin" pitchFamily="2" charset="-78"/>
            </a:endParaRPr>
          </a:p>
          <a:p>
            <a:pPr algn="just" fontAlgn="base">
              <a:lnSpc>
                <a:spcPct val="110000"/>
              </a:lnSpc>
              <a:spcBef>
                <a:spcPct val="0"/>
              </a:spcBef>
              <a:spcAft>
                <a:spcPct val="0"/>
              </a:spcAft>
            </a:pPr>
            <a:r>
              <a:rPr lang="fa-IR" altLang="ar-SA" sz="2000" dirty="0" smtClean="0">
                <a:solidFill>
                  <a:srgbClr val="000066"/>
                </a:solidFill>
                <a:cs typeface="B Nazanin" pitchFamily="2" charset="-78"/>
              </a:rPr>
              <a:t>1- جز اضطراب و ترس های رایج در سنین خاص نباشد.</a:t>
            </a: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r>
              <a:rPr lang="fa-IR" altLang="ar-SA" sz="2000" dirty="0" smtClean="0">
                <a:solidFill>
                  <a:srgbClr val="000066"/>
                </a:solidFill>
                <a:cs typeface="B Nazanin" pitchFamily="2" charset="-78"/>
              </a:rPr>
              <a:t>2- شدت، فراوانی و مدت ان به حدی است که کودک دچار آشفتگی مفرط شود که به طور جدی، مانع از فعالیت های روزانه از قبیل رفتن به مدرسه و یا برقراری دوستی با کسی شود.</a:t>
            </a: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r>
              <a:rPr lang="fa-IR" altLang="ar-SA" sz="2000" dirty="0" smtClean="0">
                <a:solidFill>
                  <a:srgbClr val="000066"/>
                </a:solidFill>
                <a:cs typeface="B Nazanin" pitchFamily="2" charset="-78"/>
              </a:rPr>
              <a:t>3- مشکلات جدی در پی آن به وجود آید.</a:t>
            </a: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a:p>
            <a:pPr algn="just" fontAlgn="base">
              <a:lnSpc>
                <a:spcPct val="110000"/>
              </a:lnSpc>
              <a:spcBef>
                <a:spcPct val="0"/>
              </a:spcBef>
              <a:spcAft>
                <a:spcPct val="0"/>
              </a:spcAft>
            </a:pPr>
            <a:r>
              <a:rPr lang="fa-IR" altLang="ar-SA" sz="2000" dirty="0" smtClean="0">
                <a:solidFill>
                  <a:srgbClr val="000066"/>
                </a:solidFill>
                <a:cs typeface="B Nazanin" pitchFamily="2" charset="-78"/>
              </a:rPr>
              <a:t>4- قادر نیستند رفتارهای خودویرانگرانه خویش را متوقف سازند. یعنی در واقع خود را مجبور به مضطرب بودن می دانند.</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5- علیرغم اطمینان طلبی و توضیح لازم ادامه می یابد</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6- متناسب با شرابط و موقعیت و محتوی قابل درک نیست</a:t>
            </a:r>
          </a:p>
          <a:p>
            <a:pPr algn="just" fontAlgn="base">
              <a:lnSpc>
                <a:spcPct val="110000"/>
              </a:lnSpc>
              <a:spcBef>
                <a:spcPct val="0"/>
              </a:spcBef>
              <a:spcAft>
                <a:spcPct val="0"/>
              </a:spcAft>
            </a:pPr>
            <a:endParaRPr lang="fa-IR" altLang="ar-SA" sz="2400" b="1" dirty="0" smtClean="0">
              <a:solidFill>
                <a:srgbClr val="000066"/>
              </a:solidFill>
              <a:cs typeface="B Kamra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Tree>
    <p:extLst>
      <p:ext uri="{BB962C8B-B14F-4D97-AF65-F5344CB8AC3E}">
        <p14:creationId xmlns:p14="http://schemas.microsoft.com/office/powerpoint/2010/main" val="408473108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343">
                                            <p:txEl>
                                              <p:pRg st="2" end="2"/>
                                            </p:txEl>
                                          </p:spTgt>
                                        </p:tgtEl>
                                        <p:attrNameLst>
                                          <p:attrName>style.visibility</p:attrName>
                                        </p:attrNameLst>
                                      </p:cBhvr>
                                      <p:to>
                                        <p:strVal val="visible"/>
                                      </p:to>
                                    </p:set>
                                    <p:animEffect transition="in" filter="barn(inVertical)">
                                      <p:cBhvr>
                                        <p:cTn id="7" dur="500"/>
                                        <p:tgtEl>
                                          <p:spTgt spid="1434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4343">
                                            <p:txEl>
                                              <p:pRg st="4" end="4"/>
                                            </p:txEl>
                                          </p:spTgt>
                                        </p:tgtEl>
                                        <p:attrNameLst>
                                          <p:attrName>style.visibility</p:attrName>
                                        </p:attrNameLst>
                                      </p:cBhvr>
                                      <p:to>
                                        <p:strVal val="visible"/>
                                      </p:to>
                                    </p:set>
                                    <p:animEffect transition="in" filter="barn(inVertical)">
                                      <p:cBhvr>
                                        <p:cTn id="10" dur="500"/>
                                        <p:tgtEl>
                                          <p:spTgt spid="1434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4343">
                                            <p:txEl>
                                              <p:pRg st="6" end="6"/>
                                            </p:txEl>
                                          </p:spTgt>
                                        </p:tgtEl>
                                        <p:attrNameLst>
                                          <p:attrName>style.visibility</p:attrName>
                                        </p:attrNameLst>
                                      </p:cBhvr>
                                      <p:to>
                                        <p:strVal val="visible"/>
                                      </p:to>
                                    </p:set>
                                    <p:animEffect transition="in" filter="barn(inVertical)">
                                      <p:cBhvr>
                                        <p:cTn id="13" dur="500"/>
                                        <p:tgtEl>
                                          <p:spTgt spid="1434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14343">
                                            <p:txEl>
                                              <p:pRg st="8" end="8"/>
                                            </p:txEl>
                                          </p:spTgt>
                                        </p:tgtEl>
                                        <p:attrNameLst>
                                          <p:attrName>style.visibility</p:attrName>
                                        </p:attrNameLst>
                                      </p:cBhvr>
                                      <p:to>
                                        <p:strVal val="visible"/>
                                      </p:to>
                                    </p:set>
                                    <p:animEffect transition="in" filter="barn(inVertical)">
                                      <p:cBhvr>
                                        <p:cTn id="16" dur="500"/>
                                        <p:tgtEl>
                                          <p:spTgt spid="14343">
                                            <p:txEl>
                                              <p:pRg st="8" end="8"/>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14343">
                                            <p:txEl>
                                              <p:pRg st="9" end="9"/>
                                            </p:txEl>
                                          </p:spTgt>
                                        </p:tgtEl>
                                        <p:attrNameLst>
                                          <p:attrName>style.visibility</p:attrName>
                                        </p:attrNameLst>
                                      </p:cBhvr>
                                      <p:to>
                                        <p:strVal val="visible"/>
                                      </p:to>
                                    </p:set>
                                    <p:animEffect transition="in" filter="barn(inVertical)">
                                      <p:cBhvr>
                                        <p:cTn id="19" dur="500"/>
                                        <p:tgtEl>
                                          <p:spTgt spid="14343">
                                            <p:txEl>
                                              <p:pRg st="9" end="9"/>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14343">
                                            <p:txEl>
                                              <p:pRg st="10" end="10"/>
                                            </p:txEl>
                                          </p:spTgt>
                                        </p:tgtEl>
                                        <p:attrNameLst>
                                          <p:attrName>style.visibility</p:attrName>
                                        </p:attrNameLst>
                                      </p:cBhvr>
                                      <p:to>
                                        <p:strVal val="visible"/>
                                      </p:to>
                                    </p:set>
                                    <p:animEffect transition="in" filter="barn(inVertical)">
                                      <p:cBhvr>
                                        <p:cTn id="22" dur="500"/>
                                        <p:tgtEl>
                                          <p:spTgt spid="1434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194D52E-6C2F-4BB8-B1CD-AC9A57A22EE0}" type="slidenum">
              <a:rPr lang="ar-SA" sz="1400" smtClean="0">
                <a:solidFill>
                  <a:prstClr val="black"/>
                </a:solidFill>
              </a:rPr>
              <a:pPr rtl="0" fontAlgn="base">
                <a:spcBef>
                  <a:spcPct val="0"/>
                </a:spcBef>
                <a:spcAft>
                  <a:spcPct val="0"/>
                </a:spcAft>
              </a:pPr>
              <a:t>15</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638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6389" name="Group 4"/>
          <p:cNvGrpSpPr>
            <a:grpSpLocks/>
          </p:cNvGrpSpPr>
          <p:nvPr/>
        </p:nvGrpSpPr>
        <p:grpSpPr bwMode="auto">
          <a:xfrm>
            <a:off x="533400" y="101650"/>
            <a:ext cx="8229600" cy="87313"/>
            <a:chOff x="0" y="900"/>
            <a:chExt cx="5759" cy="96"/>
          </a:xfrm>
        </p:grpSpPr>
        <p:sp>
          <p:nvSpPr>
            <p:cNvPr id="1639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639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11" name="Text Box 9"/>
          <p:cNvSpPr txBox="1">
            <a:spLocks noChangeArrowheads="1"/>
          </p:cNvSpPr>
          <p:nvPr/>
        </p:nvSpPr>
        <p:spPr bwMode="auto">
          <a:xfrm>
            <a:off x="611213" y="1052540"/>
            <a:ext cx="7921625" cy="3139321"/>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2000" b="1" u="sng" dirty="0" smtClean="0">
                <a:solidFill>
                  <a:srgbClr val="C00000"/>
                </a:solidFill>
                <a:cs typeface="B Nazanin" pitchFamily="2" charset="-78"/>
              </a:rPr>
              <a:t>اختلال اضطرابی</a:t>
            </a:r>
          </a:p>
          <a:p>
            <a:pPr algn="just" fontAlgn="base">
              <a:lnSpc>
                <a:spcPct val="110000"/>
              </a:lnSpc>
              <a:spcBef>
                <a:spcPct val="0"/>
              </a:spcBef>
              <a:spcAft>
                <a:spcPct val="0"/>
              </a:spcAft>
            </a:pPr>
            <a:r>
              <a:rPr lang="fa-IR" altLang="ar-SA" sz="2000" dirty="0">
                <a:solidFill>
                  <a:srgbClr val="000066"/>
                </a:solidFill>
                <a:cs typeface="B Nazanin" pitchFamily="2" charset="-78"/>
              </a:rPr>
              <a:t>اختلال اضطرابی عبارت است از يك حالت رواني يا بر انگيختگي شديد كه ويژگي¬هاي اصلي آن عبارتند از ترس، ترديد و نگراني مفرط. در افرادي كه به اختلال اضطرابي مبتلا هستند:</a:t>
            </a:r>
          </a:p>
          <a:p>
            <a:pPr algn="just" fontAlgn="base">
              <a:lnSpc>
                <a:spcPct val="110000"/>
              </a:lnSpc>
              <a:spcBef>
                <a:spcPct val="0"/>
              </a:spcBef>
              <a:spcAft>
                <a:spcPct val="0"/>
              </a:spcAft>
            </a:pPr>
            <a:r>
              <a:rPr lang="fa-IR" altLang="ar-SA" sz="2000" dirty="0">
                <a:solidFill>
                  <a:srgbClr val="000066"/>
                </a:solidFill>
                <a:cs typeface="B Nazanin" pitchFamily="2" charset="-78"/>
              </a:rPr>
              <a:t>•	ميزان ترس بسيار بيشتر از ميزان تهديد يا خطر است.</a:t>
            </a:r>
          </a:p>
          <a:p>
            <a:pPr algn="just" fontAlgn="base">
              <a:lnSpc>
                <a:spcPct val="110000"/>
              </a:lnSpc>
              <a:spcBef>
                <a:spcPct val="0"/>
              </a:spcBef>
              <a:spcAft>
                <a:spcPct val="0"/>
              </a:spcAft>
            </a:pPr>
            <a:r>
              <a:rPr lang="fa-IR" altLang="ar-SA" sz="2000" dirty="0">
                <a:solidFill>
                  <a:srgbClr val="000066"/>
                </a:solidFill>
                <a:cs typeface="B Nazanin" pitchFamily="2" charset="-78"/>
              </a:rPr>
              <a:t>•	افراد دايما خود را در حالت ترس و نگراني ميبيند بدون آنكه علت آن مشخص باشد)مثلا، در اختلال اضطراب تعميم يافته يا بعضي اختلالات وحشت زدگی)</a:t>
            </a:r>
          </a:p>
          <a:p>
            <a:pPr algn="just" fontAlgn="base">
              <a:lnSpc>
                <a:spcPct val="110000"/>
              </a:lnSpc>
              <a:spcBef>
                <a:spcPct val="0"/>
              </a:spcBef>
              <a:spcAft>
                <a:spcPct val="0"/>
              </a:spcAft>
            </a:pPr>
            <a:r>
              <a:rPr lang="fa-IR" altLang="ar-SA" sz="2000" dirty="0">
                <a:solidFill>
                  <a:srgbClr val="000066"/>
                </a:solidFill>
                <a:cs typeface="B Nazanin" pitchFamily="2" charset="-78"/>
              </a:rPr>
              <a:t>•	ترس و نگراني به طور مزمن وجود دارند و دايما فرد را رنج مي دهند، تا جايي كه نمي تواند زندگي روزمره ي خود را با حالت عادي پيش ببرد.</a:t>
            </a:r>
          </a:p>
          <a:p>
            <a:pPr algn="just" fontAlgn="base">
              <a:lnSpc>
                <a:spcPct val="110000"/>
              </a:lnSpc>
              <a:spcBef>
                <a:spcPct val="0"/>
              </a:spcBef>
              <a:spcAft>
                <a:spcPct val="0"/>
              </a:spcAft>
            </a:pPr>
            <a:endParaRPr lang="fa-IR" altLang="ar-SA" sz="2000" dirty="0" smtClean="0">
              <a:solidFill>
                <a:srgbClr val="000066"/>
              </a:solidFill>
              <a:cs typeface="B Nazanin" pitchFamily="2" charset="-78"/>
            </a:endParaRPr>
          </a:p>
        </p:txBody>
      </p:sp>
    </p:spTree>
    <p:extLst>
      <p:ext uri="{BB962C8B-B14F-4D97-AF65-F5344CB8AC3E}">
        <p14:creationId xmlns:p14="http://schemas.microsoft.com/office/powerpoint/2010/main" val="258617971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194D52E-6C2F-4BB8-B1CD-AC9A57A22EE0}" type="slidenum">
              <a:rPr lang="ar-SA" sz="1400" smtClean="0">
                <a:solidFill>
                  <a:prstClr val="black"/>
                </a:solidFill>
              </a:rPr>
              <a:pPr rtl="0" fontAlgn="base">
                <a:spcBef>
                  <a:spcPct val="0"/>
                </a:spcBef>
                <a:spcAft>
                  <a:spcPct val="0"/>
                </a:spcAft>
              </a:pPr>
              <a:t>16</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638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6389" name="Group 4"/>
          <p:cNvGrpSpPr>
            <a:grpSpLocks/>
          </p:cNvGrpSpPr>
          <p:nvPr/>
        </p:nvGrpSpPr>
        <p:grpSpPr bwMode="auto">
          <a:xfrm>
            <a:off x="533400" y="101650"/>
            <a:ext cx="8229600" cy="87313"/>
            <a:chOff x="0" y="900"/>
            <a:chExt cx="5759" cy="96"/>
          </a:xfrm>
        </p:grpSpPr>
        <p:sp>
          <p:nvSpPr>
            <p:cNvPr id="1639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639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1" name="Text Box 9"/>
          <p:cNvSpPr txBox="1">
            <a:spLocks noChangeArrowheads="1"/>
          </p:cNvSpPr>
          <p:nvPr/>
        </p:nvSpPr>
        <p:spPr bwMode="auto">
          <a:xfrm>
            <a:off x="611213" y="1052524"/>
            <a:ext cx="7921625" cy="300389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800" dirty="0" smtClean="0">
                <a:solidFill>
                  <a:srgbClr val="000066"/>
                </a:solidFill>
                <a:cs typeface="B Nazanin" pitchFamily="2" charset="-78"/>
              </a:rPr>
              <a:t>اختلال های اضطرابی رایج ترین مشکلات بهداشتی روانی در میان کودکان و نوجوانان محسوب می شود</a:t>
            </a:r>
          </a:p>
          <a:p>
            <a:pPr algn="just" fontAlgn="base">
              <a:lnSpc>
                <a:spcPct val="110000"/>
              </a:lnSpc>
              <a:spcBef>
                <a:spcPct val="0"/>
              </a:spcBef>
              <a:spcAft>
                <a:spcPct val="0"/>
              </a:spcAft>
              <a:buFont typeface="Wingdings" pitchFamily="2" charset="2"/>
              <a:buChar char="ü"/>
            </a:pPr>
            <a:r>
              <a:rPr lang="fa-IR" altLang="ar-SA" sz="2800" dirty="0">
                <a:solidFill>
                  <a:srgbClr val="000066"/>
                </a:solidFill>
                <a:cs typeface="B Nazanin" pitchFamily="2" charset="-78"/>
              </a:rPr>
              <a:t>بصورت میانگین از هر 5 کودک 1 کودک به اختلالات اضطرابی مبتلا است </a:t>
            </a:r>
            <a:endParaRPr lang="fa-IR" altLang="ar-SA" sz="2800" dirty="0" smtClean="0">
              <a:solidFill>
                <a:srgbClr val="000066"/>
              </a:solidFill>
              <a:cs typeface="B Nazanin" pitchFamily="2" charset="-78"/>
            </a:endParaRPr>
          </a:p>
          <a:p>
            <a:pPr algn="just" fontAlgn="base">
              <a:lnSpc>
                <a:spcPct val="110000"/>
              </a:lnSpc>
              <a:spcBef>
                <a:spcPct val="0"/>
              </a:spcBef>
              <a:spcAft>
                <a:spcPct val="0"/>
              </a:spcAft>
              <a:buFont typeface="Wingdings" pitchFamily="2" charset="2"/>
              <a:buChar char="ü"/>
            </a:pPr>
            <a:r>
              <a:rPr lang="fa-IR" altLang="ar-SA" sz="2800" dirty="0" smtClean="0">
                <a:solidFill>
                  <a:srgbClr val="000066"/>
                </a:solidFill>
                <a:cs typeface="B Nazanin" pitchFamily="2" charset="-78"/>
              </a:rPr>
              <a:t>که اغلب به آنها توجه نمی شود و درمان نمی گردد</a:t>
            </a:r>
          </a:p>
          <a:p>
            <a:pPr algn="just" fontAlgn="base">
              <a:lnSpc>
                <a:spcPct val="110000"/>
              </a:lnSpc>
              <a:spcBef>
                <a:spcPct val="0"/>
              </a:spcBef>
              <a:spcAft>
                <a:spcPct val="0"/>
              </a:spcAft>
              <a:buFont typeface="Wingdings" pitchFamily="2" charset="2"/>
              <a:buChar char="ü"/>
            </a:pPr>
            <a:endParaRPr lang="fa-IR" altLang="ar-SA" sz="1600" dirty="0" smtClean="0">
              <a:solidFill>
                <a:srgbClr val="000066"/>
              </a:solidFill>
              <a:cs typeface="B Nazanin" pitchFamily="2" charset="-78"/>
            </a:endParaRPr>
          </a:p>
          <a:p>
            <a:pPr algn="just" fontAlgn="base">
              <a:lnSpc>
                <a:spcPct val="110000"/>
              </a:lnSpc>
              <a:spcBef>
                <a:spcPct val="0"/>
              </a:spcBef>
              <a:spcAft>
                <a:spcPct val="0"/>
              </a:spcAft>
              <a:buFont typeface="Wingdings" pitchFamily="2" charset="2"/>
              <a:buChar char="ü"/>
            </a:pPr>
            <a:endParaRPr lang="fa-IR" altLang="ar-SA" sz="1600" dirty="0" smtClean="0">
              <a:solidFill>
                <a:srgbClr val="000066"/>
              </a:solidFill>
              <a:cs typeface="B Nazani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Tree>
    <p:extLst>
      <p:ext uri="{BB962C8B-B14F-4D97-AF65-F5344CB8AC3E}">
        <p14:creationId xmlns:p14="http://schemas.microsoft.com/office/powerpoint/2010/main" val="336116192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194D52E-6C2F-4BB8-B1CD-AC9A57A22EE0}" type="slidenum">
              <a:rPr lang="ar-SA" sz="1400" smtClean="0">
                <a:solidFill>
                  <a:prstClr val="black"/>
                </a:solidFill>
              </a:rPr>
              <a:pPr rtl="0" fontAlgn="base">
                <a:spcBef>
                  <a:spcPct val="0"/>
                </a:spcBef>
                <a:spcAft>
                  <a:spcPct val="0"/>
                </a:spcAft>
              </a:pPr>
              <a:t>17</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638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6389" name="Group 4"/>
          <p:cNvGrpSpPr>
            <a:grpSpLocks/>
          </p:cNvGrpSpPr>
          <p:nvPr/>
        </p:nvGrpSpPr>
        <p:grpSpPr bwMode="auto">
          <a:xfrm>
            <a:off x="533400" y="101650"/>
            <a:ext cx="8229600" cy="87313"/>
            <a:chOff x="0" y="900"/>
            <a:chExt cx="5759" cy="96"/>
          </a:xfrm>
        </p:grpSpPr>
        <p:sp>
          <p:nvSpPr>
            <p:cNvPr id="1639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639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12" name="Content Placeholder 2"/>
          <p:cNvSpPr txBox="1">
            <a:spLocks/>
          </p:cNvSpPr>
          <p:nvPr/>
        </p:nvSpPr>
        <p:spPr>
          <a:xfrm>
            <a:off x="533400" y="2348880"/>
            <a:ext cx="8229600" cy="4846320"/>
          </a:xfrm>
          <a:prstGeom prst="rect">
            <a:avLst/>
          </a:prstGeom>
        </p:spPr>
        <p:txBody>
          <a:bodyPr>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fa-IR" sz="2400" dirty="0" smtClean="0">
                <a:solidFill>
                  <a:prstClr val="black"/>
                </a:solidFill>
                <a:cs typeface="B Typographer" panose="00000400000000000000" pitchFamily="2" charset="-78"/>
              </a:rPr>
              <a:t>جزء اختلالات درون زاد هستند</a:t>
            </a:r>
          </a:p>
          <a:p>
            <a:pPr algn="just"/>
            <a:r>
              <a:rPr lang="fa-IR" sz="2400" dirty="0" smtClean="0">
                <a:solidFill>
                  <a:prstClr val="black"/>
                </a:solidFill>
                <a:cs typeface="B Typographer" panose="00000400000000000000" pitchFamily="2" charset="-78"/>
              </a:rPr>
              <a:t>کودک قادر به بیان آن نیست</a:t>
            </a:r>
          </a:p>
          <a:p>
            <a:pPr algn="just"/>
            <a:r>
              <a:rPr lang="fa-IR" sz="2400" dirty="0" smtClean="0">
                <a:solidFill>
                  <a:prstClr val="black"/>
                </a:solidFill>
                <a:cs typeface="B Typographer" panose="00000400000000000000" pitchFamily="2" charset="-78"/>
              </a:rPr>
              <a:t>الگوی مشابه در والدین باعث میشود غیرطبیعی بنظر نیاید و یا حتی تقویت شود</a:t>
            </a:r>
          </a:p>
          <a:p>
            <a:pPr algn="just"/>
            <a:r>
              <a:rPr lang="fa-IR" sz="2400" dirty="0" smtClean="0">
                <a:solidFill>
                  <a:prstClr val="black"/>
                </a:solidFill>
                <a:cs typeface="B Typographer" panose="00000400000000000000" pitchFamily="2" charset="-78"/>
              </a:rPr>
              <a:t>اغلب بدلیل آنکه کودک آرام است تحسین هم میشود</a:t>
            </a:r>
          </a:p>
          <a:p>
            <a:pPr algn="just"/>
            <a:r>
              <a:rPr lang="fa-IR" sz="2400" dirty="0" smtClean="0">
                <a:solidFill>
                  <a:prstClr val="black"/>
                </a:solidFill>
                <a:cs typeface="B Typographer" panose="00000400000000000000" pitchFamily="2" charset="-78"/>
              </a:rPr>
              <a:t>گمان بر این است که خود به خود برطرف میشود و متناسب با سن است</a:t>
            </a:r>
          </a:p>
          <a:p>
            <a:pPr algn="just"/>
            <a:r>
              <a:rPr lang="fa-IR" sz="2400" dirty="0" smtClean="0">
                <a:solidFill>
                  <a:prstClr val="black"/>
                </a:solidFill>
                <a:cs typeface="B Typographer" panose="00000400000000000000" pitchFamily="2" charset="-78"/>
              </a:rPr>
              <a:t>شاید تا زمانی که کودک به مهد یا مدرسه نرود مشکل جدی نشان داده نشود</a:t>
            </a:r>
            <a:endParaRPr lang="fa-IR" sz="2400" dirty="0">
              <a:solidFill>
                <a:prstClr val="black"/>
              </a:solidFill>
              <a:cs typeface="B Typographer" panose="00000400000000000000" pitchFamily="2" charset="-78"/>
            </a:endParaRPr>
          </a:p>
        </p:txBody>
      </p:sp>
      <p:sp>
        <p:nvSpPr>
          <p:cNvPr id="13" name="Title 1"/>
          <p:cNvSpPr txBox="1">
            <a:spLocks/>
          </p:cNvSpPr>
          <p:nvPr/>
        </p:nvSpPr>
        <p:spPr>
          <a:xfrm>
            <a:off x="858838" y="411523"/>
            <a:ext cx="8285162" cy="1098598"/>
          </a:xfrm>
          <a:prstGeom prst="rect">
            <a:avLst/>
          </a:prstGeom>
        </p:spPr>
        <p:txBody>
          <a:bodyPr vert="horz" lIns="45720" tIns="0" rIns="45720" bIns="0" anchor="b" anchorCtr="0">
            <a:normAutofit/>
          </a:bodyPr>
          <a:lstStyle>
            <a:lvl1pPr algn="l" rtl="1"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fa-IR" sz="3200" dirty="0" smtClean="0">
                <a:ln w="500">
                  <a:solidFill>
                    <a:srgbClr val="1F497D">
                      <a:shade val="20000"/>
                      <a:satMod val="120000"/>
                    </a:srgbClr>
                  </a:solidFill>
                </a:ln>
                <a:gradFill>
                  <a:gsLst>
                    <a:gs pos="0">
                      <a:srgbClr val="8064A2">
                        <a:tint val="13000"/>
                      </a:srgbClr>
                    </a:gs>
                    <a:gs pos="10000">
                      <a:srgbClr val="8064A2">
                        <a:tint val="20000"/>
                      </a:srgbClr>
                    </a:gs>
                    <a:gs pos="49000">
                      <a:srgbClr val="8064A2">
                        <a:tint val="70000"/>
                      </a:srgbClr>
                    </a:gs>
                    <a:gs pos="50000">
                      <a:srgbClr val="8064A2">
                        <a:tint val="97000"/>
                      </a:srgbClr>
                    </a:gs>
                    <a:gs pos="100000">
                      <a:srgbClr val="8064A2">
                        <a:tint val="20000"/>
                      </a:srgbClr>
                    </a:gs>
                  </a:gsLst>
                  <a:lin ang="5400000" scaled="1"/>
                </a:gradFill>
                <a:cs typeface="B Kamran" pitchFamily="2" charset="-78"/>
              </a:rPr>
              <a:t>به چه دلایلی اختلالات اضطرابی کودکان  کمتر مورد توجه قرار می گیرند؟</a:t>
            </a:r>
            <a:endParaRPr lang="fa-IR" sz="3200" dirty="0">
              <a:ln w="500">
                <a:solidFill>
                  <a:srgbClr val="1F497D">
                    <a:shade val="20000"/>
                    <a:satMod val="120000"/>
                  </a:srgbClr>
                </a:solidFill>
              </a:ln>
              <a:gradFill>
                <a:gsLst>
                  <a:gs pos="0">
                    <a:srgbClr val="8064A2">
                      <a:tint val="13000"/>
                    </a:srgbClr>
                  </a:gs>
                  <a:gs pos="10000">
                    <a:srgbClr val="8064A2">
                      <a:tint val="20000"/>
                    </a:srgbClr>
                  </a:gs>
                  <a:gs pos="49000">
                    <a:srgbClr val="8064A2">
                      <a:tint val="70000"/>
                    </a:srgbClr>
                  </a:gs>
                  <a:gs pos="50000">
                    <a:srgbClr val="8064A2">
                      <a:tint val="97000"/>
                    </a:srgbClr>
                  </a:gs>
                  <a:gs pos="100000">
                    <a:srgbClr val="8064A2">
                      <a:tint val="20000"/>
                    </a:srgbClr>
                  </a:gs>
                </a:gsLst>
                <a:lin ang="5400000" scaled="1"/>
              </a:gradFill>
              <a:cs typeface="B Kamran" pitchFamily="2" charset="-78"/>
            </a:endParaRPr>
          </a:p>
        </p:txBody>
      </p:sp>
    </p:spTree>
    <p:extLst>
      <p:ext uri="{BB962C8B-B14F-4D97-AF65-F5344CB8AC3E}">
        <p14:creationId xmlns:p14="http://schemas.microsoft.com/office/powerpoint/2010/main" val="177082390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194D52E-6C2F-4BB8-B1CD-AC9A57A22EE0}" type="slidenum">
              <a:rPr lang="ar-SA" sz="1400" smtClean="0">
                <a:solidFill>
                  <a:prstClr val="black"/>
                </a:solidFill>
              </a:rPr>
              <a:pPr rtl="0" fontAlgn="base">
                <a:spcBef>
                  <a:spcPct val="0"/>
                </a:spcBef>
                <a:spcAft>
                  <a:spcPct val="0"/>
                </a:spcAft>
              </a:pPr>
              <a:t>18</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638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6389" name="Group 4"/>
          <p:cNvGrpSpPr>
            <a:grpSpLocks/>
          </p:cNvGrpSpPr>
          <p:nvPr/>
        </p:nvGrpSpPr>
        <p:grpSpPr bwMode="auto">
          <a:xfrm>
            <a:off x="533400" y="101650"/>
            <a:ext cx="8229600" cy="87313"/>
            <a:chOff x="0" y="900"/>
            <a:chExt cx="5759" cy="96"/>
          </a:xfrm>
        </p:grpSpPr>
        <p:sp>
          <p:nvSpPr>
            <p:cNvPr id="1639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639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12" name="Content Placeholder 2"/>
          <p:cNvSpPr txBox="1">
            <a:spLocks/>
          </p:cNvSpPr>
          <p:nvPr/>
        </p:nvSpPr>
        <p:spPr>
          <a:xfrm>
            <a:off x="484981" y="2023049"/>
            <a:ext cx="8229600" cy="4846320"/>
          </a:xfrm>
          <a:prstGeom prst="rect">
            <a:avLst/>
          </a:prstGeom>
        </p:spPr>
        <p:txBody>
          <a:bodyPr>
            <a:normAutofit fontScale="92500" lnSpcReduction="2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fa-IR" sz="2800" dirty="0">
                <a:solidFill>
                  <a:prstClr val="black"/>
                </a:solidFill>
                <a:cs typeface="B Typographer" panose="00000400000000000000" pitchFamily="2" charset="-78"/>
              </a:rPr>
              <a:t>همیشه پیشگیری مقدم بر درمان است و در کودکی به درمان خوب جواب میدهند</a:t>
            </a:r>
          </a:p>
          <a:p>
            <a:pPr algn="just"/>
            <a:r>
              <a:rPr lang="fa-IR" sz="2800" dirty="0">
                <a:solidFill>
                  <a:prstClr val="black"/>
                </a:solidFill>
                <a:cs typeface="B Typographer" panose="00000400000000000000" pitchFamily="2" charset="-78"/>
              </a:rPr>
              <a:t>عدم درمان این اختلال باعث بروز اختلالات بزرگسالی میشود</a:t>
            </a:r>
          </a:p>
          <a:p>
            <a:pPr algn="just"/>
            <a:r>
              <a:rPr lang="fa-IR" sz="2800" dirty="0">
                <a:solidFill>
                  <a:prstClr val="black"/>
                </a:solidFill>
                <a:cs typeface="B Typographer" panose="00000400000000000000" pitchFamily="2" charset="-78"/>
              </a:rPr>
              <a:t>اختلالات دیگر مانند اختلالات خلقی را به همراه می آورد</a:t>
            </a:r>
          </a:p>
          <a:p>
            <a:pPr algn="just"/>
            <a:r>
              <a:rPr lang="fa-IR" sz="2800" dirty="0">
                <a:solidFill>
                  <a:prstClr val="black"/>
                </a:solidFill>
                <a:cs typeface="B Typographer" panose="00000400000000000000" pitchFamily="2" charset="-78"/>
              </a:rPr>
              <a:t>مشکلات رفتاری مانند گرایش به مواد را در نوجوانی دامن می زند</a:t>
            </a:r>
          </a:p>
          <a:p>
            <a:pPr algn="just"/>
            <a:r>
              <a:rPr lang="fa-IR" sz="2800" dirty="0">
                <a:solidFill>
                  <a:prstClr val="black"/>
                </a:solidFill>
                <a:cs typeface="B Typographer" panose="00000400000000000000" pitchFamily="2" charset="-78"/>
              </a:rPr>
              <a:t>در آینده مشکلات و نقص مهارتی مانند کمبود مهارتهای اجتماعی و.. را به دنبال دارد</a:t>
            </a:r>
          </a:p>
          <a:p>
            <a:pPr algn="just"/>
            <a:r>
              <a:rPr lang="fa-IR" sz="2800" dirty="0">
                <a:solidFill>
                  <a:prstClr val="black"/>
                </a:solidFill>
                <a:cs typeface="B Typographer" panose="00000400000000000000" pitchFamily="2" charset="-78"/>
              </a:rPr>
              <a:t>مشکلات عملکردی در مدرسه  و روابط را ایجاد میکند</a:t>
            </a:r>
          </a:p>
          <a:p>
            <a:pPr algn="just"/>
            <a:r>
              <a:rPr lang="fa-IR" sz="2800" dirty="0">
                <a:solidFill>
                  <a:prstClr val="black"/>
                </a:solidFill>
                <a:cs typeface="B Typographer" panose="00000400000000000000" pitchFamily="2" charset="-78"/>
              </a:rPr>
              <a:t>باقت و کارکردهای خانواده را مختل میکند</a:t>
            </a:r>
          </a:p>
          <a:p>
            <a:pPr algn="just"/>
            <a:r>
              <a:rPr lang="fa-IR" sz="2800" dirty="0">
                <a:solidFill>
                  <a:prstClr val="black"/>
                </a:solidFill>
                <a:cs typeface="B Typographer" panose="00000400000000000000" pitchFamily="2" charset="-78"/>
              </a:rPr>
              <a:t>روابط والد-فرزند را تحت تاثیر قرار میدهد</a:t>
            </a:r>
          </a:p>
          <a:p>
            <a:pPr algn="just"/>
            <a:r>
              <a:rPr lang="fa-IR" sz="2800" dirty="0" smtClean="0">
                <a:solidFill>
                  <a:prstClr val="black"/>
                </a:solidFill>
                <a:cs typeface="B Typographer" panose="00000400000000000000" pitchFamily="2" charset="-78"/>
              </a:rPr>
              <a:t>معمولا خود بخود رفع نمیشود بلکه تغییر شکل میدهد و در شکل گیری شخصیت کودک تاثیر بسزایی دارد</a:t>
            </a:r>
          </a:p>
        </p:txBody>
      </p:sp>
      <p:sp>
        <p:nvSpPr>
          <p:cNvPr id="13" name="Title 1"/>
          <p:cNvSpPr txBox="1">
            <a:spLocks/>
          </p:cNvSpPr>
          <p:nvPr/>
        </p:nvSpPr>
        <p:spPr>
          <a:xfrm>
            <a:off x="429419" y="814362"/>
            <a:ext cx="8285162" cy="1098598"/>
          </a:xfrm>
          <a:prstGeom prst="rect">
            <a:avLst/>
          </a:prstGeom>
        </p:spPr>
        <p:txBody>
          <a:bodyPr vert="horz" lIns="45720" tIns="0" rIns="45720" bIns="0" anchor="b" anchorCtr="0">
            <a:normAutofit/>
          </a:bodyPr>
          <a:lstStyle>
            <a:lvl1pPr algn="l" rtl="1"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fa-IR" sz="3200" dirty="0" smtClean="0">
                <a:ln w="500">
                  <a:solidFill>
                    <a:srgbClr val="1F497D">
                      <a:shade val="20000"/>
                      <a:satMod val="120000"/>
                    </a:srgbClr>
                  </a:solidFill>
                </a:ln>
                <a:gradFill>
                  <a:gsLst>
                    <a:gs pos="0">
                      <a:srgbClr val="8064A2">
                        <a:tint val="13000"/>
                      </a:srgbClr>
                    </a:gs>
                    <a:gs pos="10000">
                      <a:srgbClr val="8064A2">
                        <a:tint val="20000"/>
                      </a:srgbClr>
                    </a:gs>
                    <a:gs pos="49000">
                      <a:srgbClr val="8064A2">
                        <a:tint val="70000"/>
                      </a:srgbClr>
                    </a:gs>
                    <a:gs pos="50000">
                      <a:srgbClr val="8064A2">
                        <a:tint val="97000"/>
                      </a:srgbClr>
                    </a:gs>
                    <a:gs pos="100000">
                      <a:srgbClr val="8064A2">
                        <a:tint val="20000"/>
                      </a:srgbClr>
                    </a:gs>
                  </a:gsLst>
                  <a:lin ang="5400000" scaled="1"/>
                </a:gradFill>
                <a:cs typeface="B Kamran" pitchFamily="2" charset="-78"/>
              </a:rPr>
              <a:t>اهمیت پرداختن به اختلالات اضطرابی در کودکان بصورت زودهنگام چیست؟</a:t>
            </a:r>
            <a:endParaRPr lang="fa-IR" sz="3200" dirty="0">
              <a:ln w="500">
                <a:solidFill>
                  <a:srgbClr val="1F497D">
                    <a:shade val="20000"/>
                    <a:satMod val="120000"/>
                  </a:srgbClr>
                </a:solidFill>
              </a:ln>
              <a:gradFill>
                <a:gsLst>
                  <a:gs pos="0">
                    <a:srgbClr val="8064A2">
                      <a:tint val="13000"/>
                    </a:srgbClr>
                  </a:gs>
                  <a:gs pos="10000">
                    <a:srgbClr val="8064A2">
                      <a:tint val="20000"/>
                    </a:srgbClr>
                  </a:gs>
                  <a:gs pos="49000">
                    <a:srgbClr val="8064A2">
                      <a:tint val="70000"/>
                    </a:srgbClr>
                  </a:gs>
                  <a:gs pos="50000">
                    <a:srgbClr val="8064A2">
                      <a:tint val="97000"/>
                    </a:srgbClr>
                  </a:gs>
                  <a:gs pos="100000">
                    <a:srgbClr val="8064A2">
                      <a:tint val="20000"/>
                    </a:srgbClr>
                  </a:gs>
                </a:gsLst>
                <a:lin ang="5400000" scaled="1"/>
              </a:gradFill>
              <a:cs typeface="B Kamran" pitchFamily="2" charset="-78"/>
            </a:endParaRPr>
          </a:p>
        </p:txBody>
      </p:sp>
    </p:spTree>
    <p:extLst>
      <p:ext uri="{BB962C8B-B14F-4D97-AF65-F5344CB8AC3E}">
        <p14:creationId xmlns:p14="http://schemas.microsoft.com/office/powerpoint/2010/main" val="404393949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Rectangle 1">
            <a:hlinkClick r:id="rId3" action="ppaction://hlinkfile"/>
          </p:cNvPr>
          <p:cNvSpPr/>
          <p:nvPr/>
        </p:nvSpPr>
        <p:spPr>
          <a:xfrm>
            <a:off x="1043608" y="5085184"/>
            <a:ext cx="4572000" cy="1015663"/>
          </a:xfrm>
          <a:prstGeom prst="rect">
            <a:avLst/>
          </a:prstGeom>
        </p:spPr>
        <p:txBody>
          <a:bodyPr>
            <a:spAutoFit/>
          </a:bodyPr>
          <a:lstStyle/>
          <a:p>
            <a:pPr marL="0" marR="0" lvl="0" indent="0" algn="just" defTabSz="914400" rtl="1" eaLnBrk="1" fontAlgn="auto" latinLnBrk="0" hangingPunct="1">
              <a:lnSpc>
                <a:spcPct val="150000"/>
              </a:lnSpc>
              <a:spcBef>
                <a:spcPts val="0"/>
              </a:spcBef>
              <a:spcAft>
                <a:spcPts val="0"/>
              </a:spcAft>
              <a:buClrTx/>
              <a:buSzTx/>
              <a:buFontTx/>
              <a:buNone/>
              <a:tabLst>
                <a:tab pos="4140200" algn="ctr"/>
              </a:tabLst>
              <a:defRPr/>
            </a:pPr>
            <a:r>
              <a:rPr kumimoji="0" lang="fa-IR" sz="4000" b="0" i="0" u="none" strike="noStrike" kern="1200" cap="none" spc="0" normalizeH="0" baseline="0" noProof="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uLnTx/>
                <a:uFillTx/>
                <a:latin typeface="Times New Roman"/>
                <a:ea typeface="Times New Roman"/>
                <a:cs typeface="B Compset" pitchFamily="2" charset="-78"/>
              </a:rPr>
              <a:t>استراحت</a:t>
            </a:r>
            <a:endParaRPr kumimoji="0" lang="fa-IR" sz="4000" b="0" i="0" u="none" strike="noStrike" kern="1200" cap="none" spc="0" normalizeH="0" baseline="0" noProof="0" dirty="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uLnTx/>
              <a:uFillTx/>
              <a:latin typeface="Times New Roman"/>
              <a:ea typeface="Times New Roman"/>
              <a:cs typeface="B Compset" pitchFamily="2" charset="-78"/>
            </a:endParaRPr>
          </a:p>
        </p:txBody>
      </p:sp>
    </p:spTree>
    <p:extLst>
      <p:ext uri="{BB962C8B-B14F-4D97-AF65-F5344CB8AC3E}">
        <p14:creationId xmlns:p14="http://schemas.microsoft.com/office/powerpoint/2010/main" val="371243591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512" y="2708920"/>
            <a:ext cx="7668344" cy="769441"/>
          </a:xfrm>
          <a:prstGeom prst="rect">
            <a:avLst/>
          </a:prstGeom>
        </p:spPr>
        <p:txBody>
          <a:bodyPr wrap="square">
            <a:spAutoFit/>
          </a:bodyPr>
          <a:lstStyle/>
          <a:p>
            <a:pPr algn="just"/>
            <a:r>
              <a:rPr lang="fa-IR" sz="4400" dirty="0" smtClean="0">
                <a:solidFill>
                  <a:srgbClr val="FF0000"/>
                </a:solidFill>
                <a:cs typeface="B Lotus" panose="00000400000000000000" pitchFamily="2" charset="-78"/>
              </a:rPr>
              <a:t>اختلالات </a:t>
            </a:r>
            <a:r>
              <a:rPr lang="fa-IR" sz="4400" dirty="0">
                <a:solidFill>
                  <a:srgbClr val="FF0000"/>
                </a:solidFill>
                <a:cs typeface="B Lotus" panose="00000400000000000000" pitchFamily="2" charset="-78"/>
              </a:rPr>
              <a:t>اضطرابی در </a:t>
            </a:r>
            <a:r>
              <a:rPr lang="en-US" sz="4400" dirty="0" smtClean="0">
                <a:solidFill>
                  <a:srgbClr val="FF0000"/>
                </a:solidFill>
                <a:cs typeface="B Lotus" panose="00000400000000000000" pitchFamily="2" charset="-78"/>
              </a:rPr>
              <a:t>DSM-5</a:t>
            </a:r>
            <a:endParaRPr lang="fa-IR" sz="4400" dirty="0">
              <a:solidFill>
                <a:srgbClr val="FF0000"/>
              </a:solidFill>
              <a:cs typeface="B Lotus" panose="00000400000000000000" pitchFamily="2" charset="-78"/>
            </a:endParaRPr>
          </a:p>
        </p:txBody>
      </p:sp>
    </p:spTree>
    <p:extLst>
      <p:ext uri="{BB962C8B-B14F-4D97-AF65-F5344CB8AC3E}">
        <p14:creationId xmlns:p14="http://schemas.microsoft.com/office/powerpoint/2010/main" val="10646685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539552" y="1124744"/>
          <a:ext cx="8208912" cy="5319896"/>
        </p:xfrm>
        <a:graphic>
          <a:graphicData uri="http://schemas.openxmlformats.org/drawingml/2006/table">
            <a:tbl>
              <a:tblPr rtl="1" firstRow="1" firstCol="1" bandRow="1"/>
              <a:tblGrid>
                <a:gridCol w="3335370">
                  <a:extLst>
                    <a:ext uri="{9D8B030D-6E8A-4147-A177-3AD203B41FA5}">
                      <a16:colId xmlns:a16="http://schemas.microsoft.com/office/drawing/2014/main" val="20000"/>
                    </a:ext>
                  </a:extLst>
                </a:gridCol>
                <a:gridCol w="4873542">
                  <a:extLst>
                    <a:ext uri="{9D8B030D-6E8A-4147-A177-3AD203B41FA5}">
                      <a16:colId xmlns:a16="http://schemas.microsoft.com/office/drawing/2014/main" val="20001"/>
                    </a:ext>
                  </a:extLst>
                </a:gridCol>
              </a:tblGrid>
              <a:tr h="5319896">
                <a:tc>
                  <a:txBody>
                    <a:bodyPr/>
                    <a:lstStyle/>
                    <a:p>
                      <a:pPr marR="284480" algn="ctr" rtl="1">
                        <a:spcBef>
                          <a:spcPts val="1200"/>
                        </a:spcBef>
                        <a:spcAft>
                          <a:spcPts val="0"/>
                        </a:spcAft>
                      </a:pPr>
                      <a:r>
                        <a:rPr lang="fa-IR" sz="1800" b="1">
                          <a:solidFill>
                            <a:srgbClr val="000000"/>
                          </a:solidFill>
                          <a:effectLst/>
                          <a:latin typeface="Calibri" panose="020F0502020204030204" pitchFamily="34" charset="0"/>
                          <a:ea typeface="Calibri" panose="020F0502020204030204" pitchFamily="34" charset="0"/>
                          <a:cs typeface="B Lotus" panose="00000400000000000000" pitchFamily="2" charset="-78"/>
                        </a:rPr>
                        <a:t> </a:t>
                      </a:r>
                      <a:endParaRPr lang="en-US" sz="16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ctr" rtl="1">
                        <a:spcBef>
                          <a:spcPts val="1200"/>
                        </a:spcBef>
                        <a:spcAft>
                          <a:spcPts val="0"/>
                        </a:spcAft>
                      </a:pPr>
                      <a:r>
                        <a:rPr lang="fa-IR" sz="1800" b="1">
                          <a:solidFill>
                            <a:srgbClr val="000000"/>
                          </a:solidFill>
                          <a:effectLst/>
                          <a:latin typeface="Calibri" panose="020F0502020204030204" pitchFamily="34" charset="0"/>
                          <a:ea typeface="Calibri" panose="020F0502020204030204" pitchFamily="34" charset="0"/>
                          <a:cs typeface="B Lotus" panose="00000400000000000000" pitchFamily="2" charset="-78"/>
                        </a:rPr>
                        <a:t> </a:t>
                      </a:r>
                      <a:endParaRPr lang="en-US" sz="16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ctr" rtl="1">
                        <a:spcBef>
                          <a:spcPts val="1200"/>
                        </a:spcBef>
                        <a:spcAft>
                          <a:spcPts val="0"/>
                        </a:spcAft>
                      </a:pPr>
                      <a:r>
                        <a:rPr lang="fa-IR" sz="1800" b="1">
                          <a:solidFill>
                            <a:srgbClr val="000000"/>
                          </a:solidFill>
                          <a:effectLst/>
                          <a:latin typeface="Calibri" panose="020F0502020204030204" pitchFamily="34" charset="0"/>
                          <a:ea typeface="Calibri" panose="020F0502020204030204" pitchFamily="34" charset="0"/>
                          <a:cs typeface="B Lotus" panose="00000400000000000000" pitchFamily="2" charset="-78"/>
                        </a:rPr>
                        <a:t> </a:t>
                      </a:r>
                      <a:endParaRPr lang="en-US" sz="16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ctr" rtl="1">
                        <a:spcBef>
                          <a:spcPts val="1200"/>
                        </a:spcBef>
                        <a:spcAft>
                          <a:spcPts val="0"/>
                        </a:spcAft>
                      </a:pPr>
                      <a:r>
                        <a:rPr lang="fa-IR" sz="1800" b="1">
                          <a:solidFill>
                            <a:srgbClr val="000000"/>
                          </a:solidFill>
                          <a:effectLst/>
                          <a:latin typeface="Calibri" panose="020F0502020204030204" pitchFamily="34" charset="0"/>
                          <a:ea typeface="Calibri" panose="020F0502020204030204" pitchFamily="34" charset="0"/>
                          <a:cs typeface="B Lotus" panose="00000400000000000000" pitchFamily="2" charset="-78"/>
                        </a:rPr>
                        <a:t> </a:t>
                      </a:r>
                      <a:endParaRPr lang="en-US" sz="16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ctr" rtl="1">
                        <a:spcBef>
                          <a:spcPts val="1200"/>
                        </a:spcBef>
                        <a:spcAft>
                          <a:spcPts val="0"/>
                        </a:spcAft>
                      </a:pPr>
                      <a:r>
                        <a:rPr lang="fa-IR" sz="1800" b="1">
                          <a:solidFill>
                            <a:srgbClr val="000000"/>
                          </a:solidFill>
                          <a:effectLst/>
                          <a:latin typeface="Calibri" panose="020F0502020204030204" pitchFamily="34" charset="0"/>
                          <a:ea typeface="Calibri" panose="020F0502020204030204" pitchFamily="34" charset="0"/>
                          <a:cs typeface="B Lotus" panose="00000400000000000000" pitchFamily="2" charset="-78"/>
                        </a:rPr>
                        <a:t>اختلالات اضطرابی</a:t>
                      </a:r>
                      <a:endParaRPr lang="en-US" sz="16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ctr" rtl="1">
                        <a:spcBef>
                          <a:spcPts val="1200"/>
                        </a:spcBef>
                        <a:spcAft>
                          <a:spcPts val="0"/>
                        </a:spcAft>
                      </a:pPr>
                      <a:r>
                        <a:rPr lang="en-US" sz="1800" b="1">
                          <a:solidFill>
                            <a:srgbClr val="000000"/>
                          </a:solidFill>
                          <a:effectLst/>
                          <a:latin typeface="Calibri" panose="020F0502020204030204" pitchFamily="34" charset="0"/>
                          <a:ea typeface="Calibri" panose="020F0502020204030204" pitchFamily="34" charset="0"/>
                          <a:cs typeface="B Lotus" panose="00000400000000000000" pitchFamily="2" charset="-78"/>
                        </a:rPr>
                        <a:t>Anxiety   Disorder</a:t>
                      </a:r>
                      <a:endParaRPr lang="en-US" sz="16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اضطراب جدایی</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گنگی انتخابی یا لالی انتخابی</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هراس اختصاصی</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ترس خون-آسیب-تزریق</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اضطراب اجتماعی(جمعیت هراسی)</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پانیک (وحشت زدگی)</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گذر هراسی (آگوروفوبیا)</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اضطراب فراگیر</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اضطراب ناشی از مصرف دارو /مواد</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اضطراب ناشی از بیماری طبی دیگر</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p>
                      <a:pPr marR="284480" algn="r" rtl="1">
                        <a:spcBef>
                          <a:spcPts val="1200"/>
                        </a:spcBef>
                        <a:spcAft>
                          <a:spcPts val="0"/>
                        </a:spcAft>
                      </a:pP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سایر اختلالات اضطرابی معین</a:t>
                      </a:r>
                      <a:r>
                        <a:rPr lang="fa-IR" sz="1800" b="1" dirty="0">
                          <a:solidFill>
                            <a:srgbClr val="000000"/>
                          </a:solidFill>
                          <a:effectLst/>
                          <a:latin typeface="Arial" panose="020B0604020202020204" pitchFamily="34" charset="0"/>
                          <a:ea typeface="Times New Roman" panose="02020603050405020304" pitchFamily="18" charset="0"/>
                          <a:cs typeface="B Lotus" panose="00000400000000000000" pitchFamily="2" charset="-78"/>
                        </a:rPr>
                        <a:t>/ </a:t>
                      </a:r>
                      <a:r>
                        <a:rPr lang="fa-IR" sz="1800" b="1" kern="1200" dirty="0">
                          <a:solidFill>
                            <a:srgbClr val="000000"/>
                          </a:solidFill>
                          <a:effectLst/>
                          <a:latin typeface="Century Gothic"/>
                          <a:ea typeface="Times New Roman" panose="02020603050405020304" pitchFamily="18" charset="0"/>
                          <a:cs typeface="B Lotus" panose="00000400000000000000" pitchFamily="2" charset="-78"/>
                        </a:rPr>
                        <a:t>اختلال اضطرابی نا معین</a:t>
                      </a:r>
                      <a:endParaRPr lang="en-US" sz="16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3" name="Rectangle 2"/>
          <p:cNvSpPr/>
          <p:nvPr/>
        </p:nvSpPr>
        <p:spPr>
          <a:xfrm>
            <a:off x="1115616" y="404664"/>
            <a:ext cx="7668344" cy="523220"/>
          </a:xfrm>
          <a:prstGeom prst="rect">
            <a:avLst/>
          </a:prstGeom>
        </p:spPr>
        <p:txBody>
          <a:bodyPr wrap="square">
            <a:spAutoFit/>
          </a:bodyPr>
          <a:lstStyle/>
          <a:p>
            <a:pPr algn="just"/>
            <a:r>
              <a:rPr lang="fa-IR" sz="2800" dirty="0" smtClean="0">
                <a:solidFill>
                  <a:srgbClr val="FF0000"/>
                </a:solidFill>
                <a:cs typeface="B Lotus" panose="00000400000000000000" pitchFamily="2" charset="-78"/>
              </a:rPr>
              <a:t>اختلالات </a:t>
            </a:r>
            <a:r>
              <a:rPr lang="fa-IR" sz="2800" dirty="0">
                <a:solidFill>
                  <a:srgbClr val="FF0000"/>
                </a:solidFill>
                <a:cs typeface="B Lotus" panose="00000400000000000000" pitchFamily="2" charset="-78"/>
              </a:rPr>
              <a:t>اضطرابی در </a:t>
            </a:r>
            <a:r>
              <a:rPr lang="en-US" sz="2800" dirty="0" smtClean="0">
                <a:solidFill>
                  <a:srgbClr val="FF0000"/>
                </a:solidFill>
                <a:cs typeface="B Lotus" panose="00000400000000000000" pitchFamily="2" charset="-78"/>
              </a:rPr>
              <a:t>DSM-5</a:t>
            </a:r>
            <a:endParaRPr lang="fa-IR" sz="2800" dirty="0">
              <a:solidFill>
                <a:srgbClr val="FF0000"/>
              </a:solidFill>
              <a:cs typeface="B Lotus" panose="00000400000000000000" pitchFamily="2" charset="-78"/>
            </a:endParaRPr>
          </a:p>
        </p:txBody>
      </p:sp>
    </p:spTree>
    <p:extLst>
      <p:ext uri="{BB962C8B-B14F-4D97-AF65-F5344CB8AC3E}">
        <p14:creationId xmlns:p14="http://schemas.microsoft.com/office/powerpoint/2010/main" val="12941686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927884"/>
            <a:ext cx="8316416" cy="3785652"/>
          </a:xfrm>
          <a:prstGeom prst="rect">
            <a:avLst/>
          </a:prstGeom>
        </p:spPr>
        <p:txBody>
          <a:bodyPr wrap="square">
            <a:spAutoFit/>
          </a:bodyPr>
          <a:lstStyle/>
          <a:p>
            <a:pPr algn="just">
              <a:lnSpc>
                <a:spcPct val="200000"/>
              </a:lnSpc>
            </a:pPr>
            <a:r>
              <a:rPr lang="ar-SA" sz="2400" dirty="0">
                <a:solidFill>
                  <a:prstClr val="black"/>
                </a:solidFill>
                <a:cs typeface="B Lotus" panose="00000400000000000000" pitchFamily="2" charset="-78"/>
              </a:rPr>
              <a:t>اختلالات </a:t>
            </a:r>
            <a:r>
              <a:rPr lang="ar-SA" sz="2400" dirty="0" smtClean="0">
                <a:solidFill>
                  <a:prstClr val="black"/>
                </a:solidFill>
                <a:cs typeface="B Lotus" panose="00000400000000000000" pitchFamily="2" charset="-78"/>
              </a:rPr>
              <a:t>اضطرابی</a:t>
            </a:r>
            <a:r>
              <a:rPr lang="fa-IR" sz="2400" dirty="0" smtClean="0">
                <a:solidFill>
                  <a:prstClr val="black"/>
                </a:solidFill>
                <a:cs typeface="B Lotus" panose="00000400000000000000" pitchFamily="2" charset="-78"/>
              </a:rPr>
              <a:t> </a:t>
            </a:r>
            <a:r>
              <a:rPr lang="ar-SA"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 </a:t>
            </a:r>
            <a:r>
              <a:rPr lang="en-US" sz="2400" dirty="0">
                <a:solidFill>
                  <a:prstClr val="black"/>
                </a:solidFill>
                <a:cs typeface="B Lotus" panose="00000400000000000000" pitchFamily="2" charset="-78"/>
              </a:rPr>
              <a:t>DSM-IV </a:t>
            </a:r>
            <a:r>
              <a:rPr lang="ar-SA" sz="2400" dirty="0">
                <a:solidFill>
                  <a:prstClr val="black"/>
                </a:solidFill>
                <a:cs typeface="B Lotus" panose="00000400000000000000" pitchFamily="2" charset="-78"/>
              </a:rPr>
              <a:t>نیز با همین نام قرار دارد. </a:t>
            </a:r>
            <a:endParaRPr lang="fa-IR" sz="2400" dirty="0">
              <a:solidFill>
                <a:prstClr val="black"/>
              </a:solidFill>
              <a:cs typeface="B Lotus" panose="00000400000000000000" pitchFamily="2" charset="-78"/>
            </a:endParaRPr>
          </a:p>
          <a:p>
            <a:pPr marR="284480" algn="just">
              <a:lnSpc>
                <a:spcPct val="200000"/>
              </a:lnSpc>
            </a:pPr>
            <a:r>
              <a:rPr lang="ar-SA" sz="2400" dirty="0" smtClean="0">
                <a:solidFill>
                  <a:prstClr val="black"/>
                </a:solidFill>
                <a:cs typeface="B Lotus" panose="00000400000000000000" pitchFamily="2" charset="-78"/>
              </a:rPr>
              <a:t>تفاوتی </a:t>
            </a:r>
            <a:r>
              <a:rPr lang="ar-SA" sz="2400" dirty="0">
                <a:solidFill>
                  <a:prstClr val="black"/>
                </a:solidFill>
                <a:cs typeface="B Lotus" panose="00000400000000000000" pitchFamily="2" charset="-78"/>
              </a:rPr>
              <a:t>که وجود دارد این است که بسیاری از اختلالاتی که در</a:t>
            </a:r>
            <a:r>
              <a:rPr lang="en-US" sz="2400" dirty="0">
                <a:solidFill>
                  <a:prstClr val="black"/>
                </a:solidFill>
                <a:cs typeface="B Lotus" panose="00000400000000000000" pitchFamily="2" charset="-78"/>
              </a:rPr>
              <a:t> DSM-IV </a:t>
            </a:r>
            <a:r>
              <a:rPr lang="ar-SA" sz="2400" dirty="0">
                <a:solidFill>
                  <a:prstClr val="black"/>
                </a:solidFill>
                <a:cs typeface="B Lotus" panose="00000400000000000000" pitchFamily="2" charset="-78"/>
              </a:rPr>
              <a:t>تحت عنوان اختلالات اضطرابی مطرح شده‌اند در راهنمای جدید در بین طبقات مجزای اختلالات اضطرابی، اختلالات وسواسی- عملی و اختلالات مرتبط با آن، اختلالات مرتبط با سانحه و عوامل تنش‌زا ، توزیع شده‌اند</a:t>
            </a:r>
            <a:r>
              <a:rPr lang="ar-SA" sz="1200" dirty="0">
                <a:solidFill>
                  <a:prstClr val="black"/>
                </a:solidFill>
                <a:latin typeface="Calibri" panose="020F0502020204030204" pitchFamily="34" charset="0"/>
                <a:ea typeface="Calibri" panose="020F0502020204030204" pitchFamily="34" charset="0"/>
                <a:cs typeface="B Lotus" panose="00000400000000000000" pitchFamily="2" charset="-78"/>
              </a:rPr>
              <a:t>. </a:t>
            </a:r>
            <a:endParaRPr lang="en-US" sz="1000" dirty="0">
              <a:solidFill>
                <a:prstClr val="black"/>
              </a:solidFill>
              <a:latin typeface="Calibri" panose="020F0502020204030204" pitchFamily="34" charset="0"/>
              <a:ea typeface="Calibri" panose="020F0502020204030204" pitchFamily="34" charset="0"/>
              <a:cs typeface="Arial" panose="020B0604020202020204" pitchFamily="34" charset="0"/>
            </a:endParaRPr>
          </a:p>
        </p:txBody>
      </p:sp>
      <p:sp>
        <p:nvSpPr>
          <p:cNvPr id="3" name="Rectangle 2"/>
          <p:cNvSpPr/>
          <p:nvPr/>
        </p:nvSpPr>
        <p:spPr>
          <a:xfrm>
            <a:off x="1115616" y="404664"/>
            <a:ext cx="7668344" cy="523220"/>
          </a:xfrm>
          <a:prstGeom prst="rect">
            <a:avLst/>
          </a:prstGeom>
        </p:spPr>
        <p:txBody>
          <a:bodyPr wrap="square">
            <a:spAutoFit/>
          </a:bodyPr>
          <a:lstStyle/>
          <a:p>
            <a:pPr algn="just"/>
            <a:r>
              <a:rPr lang="fa-IR" sz="2800" dirty="0">
                <a:solidFill>
                  <a:srgbClr val="FF0000"/>
                </a:solidFill>
                <a:cs typeface="B Lotus" panose="00000400000000000000" pitchFamily="2" charset="-78"/>
              </a:rPr>
              <a:t>تفاوتهای اختلالات اضطرابی در </a:t>
            </a:r>
            <a:r>
              <a:rPr lang="en-US" sz="2800" dirty="0">
                <a:solidFill>
                  <a:srgbClr val="FF0000"/>
                </a:solidFill>
                <a:cs typeface="B Lotus" panose="00000400000000000000" pitchFamily="2" charset="-78"/>
              </a:rPr>
              <a:t>DSM-IV </a:t>
            </a:r>
            <a:r>
              <a:rPr lang="fa-IR" sz="2800" dirty="0">
                <a:solidFill>
                  <a:srgbClr val="FF0000"/>
                </a:solidFill>
                <a:cs typeface="B Lotus" panose="00000400000000000000" pitchFamily="2" charset="-78"/>
              </a:rPr>
              <a:t>و </a:t>
            </a:r>
            <a:r>
              <a:rPr lang="en-US" sz="2800" dirty="0">
                <a:solidFill>
                  <a:srgbClr val="FF0000"/>
                </a:solidFill>
                <a:cs typeface="B Lotus" panose="00000400000000000000" pitchFamily="2" charset="-78"/>
              </a:rPr>
              <a:t>DSM-5</a:t>
            </a:r>
            <a:endParaRPr lang="fa-IR" sz="2800" dirty="0">
              <a:solidFill>
                <a:srgbClr val="FF0000"/>
              </a:solidFill>
              <a:cs typeface="B Lotus" panose="00000400000000000000" pitchFamily="2" charset="-78"/>
            </a:endParaRPr>
          </a:p>
        </p:txBody>
      </p:sp>
    </p:spTree>
    <p:extLst>
      <p:ext uri="{BB962C8B-B14F-4D97-AF65-F5344CB8AC3E}">
        <p14:creationId xmlns:p14="http://schemas.microsoft.com/office/powerpoint/2010/main" val="16323084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620688"/>
            <a:ext cx="8352928" cy="5324535"/>
          </a:xfrm>
          <a:prstGeom prst="rect">
            <a:avLst/>
          </a:prstGeom>
        </p:spPr>
        <p:txBody>
          <a:bodyPr wrap="square">
            <a:spAutoFit/>
          </a:bodyPr>
          <a:lstStyle/>
          <a:p>
            <a:pPr algn="just"/>
            <a:r>
              <a:rPr lang="fa-IR" sz="2800" dirty="0">
                <a:solidFill>
                  <a:srgbClr val="FF0000"/>
                </a:solidFill>
                <a:cs typeface="B Lotus" panose="00000400000000000000" pitchFamily="2" charset="-78"/>
              </a:rPr>
              <a:t>تفاوتهای اختلالات اضطرابی در </a:t>
            </a:r>
            <a:r>
              <a:rPr lang="en-US" sz="2800" dirty="0">
                <a:solidFill>
                  <a:srgbClr val="FF0000"/>
                </a:solidFill>
                <a:cs typeface="B Lotus" panose="00000400000000000000" pitchFamily="2" charset="-78"/>
              </a:rPr>
              <a:t>DSM-IV </a:t>
            </a:r>
            <a:r>
              <a:rPr lang="fa-IR" sz="2800" dirty="0">
                <a:solidFill>
                  <a:srgbClr val="FF0000"/>
                </a:solidFill>
                <a:cs typeface="B Lotus" panose="00000400000000000000" pitchFamily="2" charset="-78"/>
              </a:rPr>
              <a:t>و </a:t>
            </a:r>
            <a:r>
              <a:rPr lang="en-US" sz="2800" dirty="0" smtClean="0">
                <a:solidFill>
                  <a:srgbClr val="FF0000"/>
                </a:solidFill>
                <a:cs typeface="B Lotus" panose="00000400000000000000" pitchFamily="2" charset="-78"/>
              </a:rPr>
              <a:t>DSM-5</a:t>
            </a:r>
            <a:endParaRPr lang="fa-IR" sz="2800" dirty="0" smtClean="0">
              <a:solidFill>
                <a:srgbClr val="FF0000"/>
              </a:solidFill>
              <a:cs typeface="B Lotus" panose="00000400000000000000" pitchFamily="2" charset="-78"/>
            </a:endParaRPr>
          </a:p>
          <a:p>
            <a:pPr algn="just"/>
            <a:endParaRPr lang="fa-IR" sz="2400" dirty="0" smtClean="0">
              <a:solidFill>
                <a:prstClr val="black"/>
              </a:solidFill>
              <a:cs typeface="B Lotus" panose="00000400000000000000" pitchFamily="2" charset="-78"/>
            </a:endParaRPr>
          </a:p>
          <a:p>
            <a:pPr algn="just"/>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DSM-IV</a:t>
            </a:r>
            <a:r>
              <a:rPr lang="fa-IR" sz="2400" dirty="0" smtClean="0">
                <a:solidFill>
                  <a:prstClr val="black"/>
                </a:solidFill>
                <a:cs typeface="B Lotus" panose="00000400000000000000" pitchFamily="2" charset="-78"/>
              </a:rPr>
              <a:t> اختلال </a:t>
            </a:r>
            <a:r>
              <a:rPr lang="fa-IR" sz="2400" dirty="0">
                <a:solidFill>
                  <a:prstClr val="black"/>
                </a:solidFill>
                <a:cs typeface="B Lotus" panose="00000400000000000000" pitchFamily="2" charset="-78"/>
              </a:rPr>
              <a:t>وسواسي-اجباري و اختلال استرس پس از انحه، در </a:t>
            </a:r>
            <a:r>
              <a:rPr lang="fa-IR" sz="2400" dirty="0" smtClean="0">
                <a:solidFill>
                  <a:prstClr val="black"/>
                </a:solidFill>
                <a:cs typeface="B Lotus" panose="00000400000000000000" pitchFamily="2" charset="-78"/>
              </a:rPr>
              <a:t>طبقه تشخیصی </a:t>
            </a:r>
            <a:r>
              <a:rPr lang="fa-IR" sz="2400" dirty="0">
                <a:solidFill>
                  <a:prstClr val="black"/>
                </a:solidFill>
                <a:cs typeface="B Lotus" panose="00000400000000000000" pitchFamily="2" charset="-78"/>
              </a:rPr>
              <a:t>يا تشخيصي "اختلالات اضطرابي" قرار داده شده بود. اما </a:t>
            </a:r>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DSM-5 </a:t>
            </a:r>
            <a:r>
              <a:rPr lang="fa-IR" sz="2400" dirty="0" smtClean="0">
                <a:solidFill>
                  <a:prstClr val="black"/>
                </a:solidFill>
                <a:cs typeface="B Lotus" panose="00000400000000000000" pitchFamily="2" charset="-78"/>
              </a:rPr>
              <a:t> براي </a:t>
            </a:r>
            <a:r>
              <a:rPr lang="fa-IR" sz="2400" dirty="0">
                <a:solidFill>
                  <a:prstClr val="black"/>
                </a:solidFill>
                <a:cs typeface="B Lotus" panose="00000400000000000000" pitchFamily="2" charset="-78"/>
              </a:rPr>
              <a:t>هريك از اين دو نوع اختلال طبقه ي تشخیصی جداگانه اي تدارك ديده شده است: اختلالات وسواسي-اجباري و اختلالات مربوط به آن؛ اختلالات مرتبط با استرس و تروما.</a:t>
            </a:r>
          </a:p>
          <a:p>
            <a:pPr algn="just"/>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DSM-IV </a:t>
            </a:r>
            <a:r>
              <a:rPr lang="fa-IR" sz="2400" dirty="0" smtClean="0">
                <a:solidFill>
                  <a:prstClr val="black"/>
                </a:solidFill>
                <a:cs typeface="B Lotus" panose="00000400000000000000" pitchFamily="2" charset="-78"/>
              </a:rPr>
              <a:t> اختلال </a:t>
            </a:r>
            <a:r>
              <a:rPr lang="fa-IR" sz="2400" dirty="0">
                <a:solidFill>
                  <a:prstClr val="black"/>
                </a:solidFill>
                <a:cs typeface="B Lotus" panose="00000400000000000000" pitchFamily="2" charset="-78"/>
              </a:rPr>
              <a:t>وحشتزدگي و آگورافوبيا يك اختلال محسوب ميشدند، اما در </a:t>
            </a:r>
            <a:r>
              <a:rPr lang="en-US" sz="2400" dirty="0">
                <a:solidFill>
                  <a:prstClr val="black"/>
                </a:solidFill>
                <a:cs typeface="B Lotus" panose="00000400000000000000" pitchFamily="2" charset="-78"/>
              </a:rPr>
              <a:t>DSM-5 </a:t>
            </a:r>
            <a:r>
              <a:rPr lang="fa-IR" sz="2400" dirty="0" smtClean="0">
                <a:solidFill>
                  <a:prstClr val="black"/>
                </a:solidFill>
                <a:cs typeface="B Lotus" panose="00000400000000000000" pitchFamily="2" charset="-78"/>
              </a:rPr>
              <a:t> اين </a:t>
            </a:r>
            <a:r>
              <a:rPr lang="fa-IR" sz="2400" dirty="0">
                <a:solidFill>
                  <a:prstClr val="black"/>
                </a:solidFill>
                <a:cs typeface="B Lotus" panose="00000400000000000000" pitchFamily="2" charset="-78"/>
              </a:rPr>
              <a:t>دو از هم جدا شده-اند.</a:t>
            </a:r>
          </a:p>
          <a:p>
            <a:pPr algn="just"/>
            <a:r>
              <a:rPr lang="fa-IR" sz="2400" dirty="0">
                <a:solidFill>
                  <a:prstClr val="black"/>
                </a:solidFill>
                <a:cs typeface="B Lotus" panose="00000400000000000000" pitchFamily="2" charset="-78"/>
              </a:rPr>
              <a:t>اختلال فوبي اجتماعي </a:t>
            </a:r>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DSM-5 </a:t>
            </a:r>
            <a:r>
              <a:rPr lang="fa-IR" sz="2400" dirty="0">
                <a:solidFill>
                  <a:prstClr val="black"/>
                </a:solidFill>
                <a:cs typeface="B Lotus" panose="00000400000000000000" pitchFamily="2" charset="-78"/>
              </a:rPr>
              <a:t>به اختلال "اضطراب اجتماعي" تغيير نام داده است.</a:t>
            </a:r>
          </a:p>
          <a:p>
            <a:pPr algn="just"/>
            <a:r>
              <a:rPr lang="fa-IR" sz="2400" dirty="0">
                <a:solidFill>
                  <a:prstClr val="black"/>
                </a:solidFill>
                <a:cs typeface="B Lotus" panose="00000400000000000000" pitchFamily="2" charset="-78"/>
              </a:rPr>
              <a:t>سه اختلال به اختلالات اضطرابي </a:t>
            </a:r>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DSM-5 </a:t>
            </a:r>
            <a:r>
              <a:rPr lang="fa-IR" sz="2400" dirty="0" smtClean="0">
                <a:solidFill>
                  <a:prstClr val="black"/>
                </a:solidFill>
                <a:cs typeface="B Lotus" panose="00000400000000000000" pitchFamily="2" charset="-78"/>
              </a:rPr>
              <a:t> اضافه </a:t>
            </a:r>
            <a:r>
              <a:rPr lang="fa-IR" sz="2400" dirty="0">
                <a:solidFill>
                  <a:prstClr val="black"/>
                </a:solidFill>
                <a:cs typeface="B Lotus" panose="00000400000000000000" pitchFamily="2" charset="-78"/>
              </a:rPr>
              <a:t>شده است: ١) اختلال لالي انتخابي؛ ٢) اختلال اضطراب جدايي؛ ٣) اختلال اضطراب ناشي از مواد.</a:t>
            </a:r>
          </a:p>
          <a:p>
            <a:pPr algn="just"/>
            <a:r>
              <a:rPr lang="fa-IR" sz="2400" dirty="0">
                <a:solidFill>
                  <a:prstClr val="black"/>
                </a:solidFill>
                <a:cs typeface="B Lotus" panose="00000400000000000000" pitchFamily="2" charset="-78"/>
              </a:rPr>
              <a:t>اختلال استرس حاد كه </a:t>
            </a:r>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DSM-IV </a:t>
            </a:r>
            <a:r>
              <a:rPr lang="fa-IR" sz="2400" dirty="0" smtClean="0">
                <a:solidFill>
                  <a:prstClr val="black"/>
                </a:solidFill>
                <a:cs typeface="B Lotus" panose="00000400000000000000" pitchFamily="2" charset="-78"/>
              </a:rPr>
              <a:t> جزء </a:t>
            </a:r>
            <a:r>
              <a:rPr lang="fa-IR" sz="2400" dirty="0">
                <a:solidFill>
                  <a:prstClr val="black"/>
                </a:solidFill>
                <a:cs typeface="B Lotus" panose="00000400000000000000" pitchFamily="2" charset="-78"/>
              </a:rPr>
              <a:t>اختلالات اضطرابي بود </a:t>
            </a:r>
            <a:r>
              <a:rPr lang="fa-IR" sz="2400" dirty="0" smtClean="0">
                <a:solidFill>
                  <a:prstClr val="black"/>
                </a:solidFill>
                <a:cs typeface="B Lotus" panose="00000400000000000000" pitchFamily="2" charset="-78"/>
              </a:rPr>
              <a:t>در</a:t>
            </a:r>
            <a:r>
              <a:rPr lang="en-US" sz="2400" dirty="0" smtClean="0">
                <a:solidFill>
                  <a:prstClr val="black"/>
                </a:solidFill>
                <a:cs typeface="B Lotus" panose="00000400000000000000" pitchFamily="2" charset="-78"/>
              </a:rPr>
              <a:t>DSM-5 </a:t>
            </a:r>
            <a:r>
              <a:rPr lang="fa-IR" sz="2400" dirty="0" smtClean="0">
                <a:solidFill>
                  <a:prstClr val="black"/>
                </a:solidFill>
                <a:cs typeface="B Lotus" panose="00000400000000000000" pitchFamily="2" charset="-78"/>
              </a:rPr>
              <a:t> ديگر </a:t>
            </a:r>
            <a:r>
              <a:rPr lang="fa-IR" sz="2400" dirty="0">
                <a:solidFill>
                  <a:prstClr val="black"/>
                </a:solidFill>
                <a:cs typeface="B Lotus" panose="00000400000000000000" pitchFamily="2" charset="-78"/>
              </a:rPr>
              <a:t>جزء اين طبقه نيست و به طبقه اختلالات مرتبط به استرس و تروما رفته است.</a:t>
            </a:r>
          </a:p>
        </p:txBody>
      </p:sp>
    </p:spTree>
    <p:extLst>
      <p:ext uri="{BB962C8B-B14F-4D97-AF65-F5344CB8AC3E}">
        <p14:creationId xmlns:p14="http://schemas.microsoft.com/office/powerpoint/2010/main" val="33856729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7000" b="-7000"/>
          </a:stretch>
        </a:blipFill>
        <a:effectLst/>
      </p:bgPr>
    </p:bg>
    <p:spTree>
      <p:nvGrpSpPr>
        <p:cNvPr id="1" name=""/>
        <p:cNvGrpSpPr/>
        <p:nvPr/>
      </p:nvGrpSpPr>
      <p:grpSpPr>
        <a:xfrm>
          <a:off x="0" y="0"/>
          <a:ext cx="0" cy="0"/>
          <a:chOff x="0" y="0"/>
          <a:chExt cx="0" cy="0"/>
        </a:xfrm>
      </p:grpSpPr>
      <p:sp>
        <p:nvSpPr>
          <p:cNvPr id="2" name="Rectangle 1">
            <a:hlinkClick r:id="rId3" action="ppaction://hlinkfile"/>
          </p:cNvPr>
          <p:cNvSpPr/>
          <p:nvPr/>
        </p:nvSpPr>
        <p:spPr>
          <a:xfrm>
            <a:off x="1403648" y="836712"/>
            <a:ext cx="7092280" cy="2585323"/>
          </a:xfrm>
          <a:prstGeom prst="rect">
            <a:avLst/>
          </a:prstGeom>
        </p:spPr>
        <p:txBody>
          <a:bodyPr wrap="square">
            <a:spAutoFit/>
          </a:bodyPr>
          <a:lstStyle/>
          <a:p>
            <a:pPr algn="just">
              <a:lnSpc>
                <a:spcPct val="150000"/>
              </a:lnSpc>
              <a:tabLst>
                <a:tab pos="4140200" algn="ctr"/>
              </a:tabLst>
            </a:pPr>
            <a:r>
              <a:rPr lang="fa-IR" sz="540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Times New Roman"/>
                <a:ea typeface="Times New Roman"/>
                <a:cs typeface="B Compset" pitchFamily="2" charset="-78"/>
              </a:rPr>
              <a:t>انواع اختلالات </a:t>
            </a:r>
          </a:p>
          <a:p>
            <a:pPr algn="just">
              <a:lnSpc>
                <a:spcPct val="150000"/>
              </a:lnSpc>
              <a:tabLst>
                <a:tab pos="4140200" algn="ctr"/>
              </a:tabLst>
            </a:pPr>
            <a:r>
              <a:rPr lang="fa-IR" sz="5400" dirty="0" smtClean="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Times New Roman"/>
                <a:ea typeface="Times New Roman"/>
                <a:cs typeface="B Compset" pitchFamily="2" charset="-78"/>
              </a:rPr>
              <a:t>اضطرابی کودکان</a:t>
            </a:r>
            <a:endParaRPr lang="fa-IR" sz="5400" dirty="0">
              <a:ln w="18415" cmpd="sng">
                <a:solidFill>
                  <a:srgbClr val="FFFFFF"/>
                </a:solidFill>
                <a:prstDash val="solid"/>
              </a:ln>
              <a:solidFill>
                <a:srgbClr val="FFFFFF"/>
              </a:solidFill>
              <a:effectLst>
                <a:glow rad="101600">
                  <a:srgbClr val="002060">
                    <a:alpha val="60000"/>
                  </a:srgbClr>
                </a:glow>
                <a:outerShdw blurRad="63500" dir="3600000" algn="tl" rotWithShape="0">
                  <a:srgbClr val="000000">
                    <a:alpha val="70000"/>
                  </a:srgbClr>
                </a:outerShdw>
              </a:effectLst>
              <a:latin typeface="Times New Roman"/>
              <a:ea typeface="Times New Roman"/>
              <a:cs typeface="B Compset" pitchFamily="2" charset="-78"/>
            </a:endParaRPr>
          </a:p>
        </p:txBody>
      </p:sp>
      <p:sp>
        <p:nvSpPr>
          <p:cNvPr id="3" name="Rectangle 2">
            <a:hlinkClick r:id="rId4" action="ppaction://hlinkpres?slideindex=1&amp;slidetitle=یعنی می‎رسه اون زمانی که ..."/>
          </p:cNvPr>
          <p:cNvSpPr/>
          <p:nvPr/>
        </p:nvSpPr>
        <p:spPr>
          <a:xfrm>
            <a:off x="251520" y="5803465"/>
            <a:ext cx="1063112" cy="729430"/>
          </a:xfrm>
          <a:prstGeom prst="rect">
            <a:avLst/>
          </a:prstGeom>
        </p:spPr>
        <p:txBody>
          <a:bodyPr wrap="none">
            <a:spAutoFit/>
          </a:bodyPr>
          <a:lstStyle/>
          <a:p>
            <a:pPr algn="l" rtl="0">
              <a:lnSpc>
                <a:spcPct val="115000"/>
              </a:lnSpc>
              <a:spcAft>
                <a:spcPts val="750"/>
              </a:spcAft>
            </a:pPr>
            <a:r>
              <a:rPr lang="fa-IR" sz="3600" b="1" dirty="0" smtClean="0">
                <a:solidFill>
                  <a:prstClr val="white"/>
                </a:solidFill>
                <a:ea typeface="Calibri"/>
                <a:cs typeface="B Elham" panose="00000400000000000000" pitchFamily="2" charset="-78"/>
              </a:rPr>
              <a:t>کلیپ</a:t>
            </a:r>
            <a:endParaRPr lang="en-US" sz="3600" b="1" dirty="0">
              <a:solidFill>
                <a:prstClr val="white"/>
              </a:solidFill>
              <a:ea typeface="Calibri"/>
              <a:cs typeface="B Elham" panose="00000400000000000000" pitchFamily="2" charset="-78"/>
            </a:endParaRPr>
          </a:p>
        </p:txBody>
      </p:sp>
    </p:spTree>
    <p:extLst>
      <p:ext uri="{BB962C8B-B14F-4D97-AF65-F5344CB8AC3E}">
        <p14:creationId xmlns:p14="http://schemas.microsoft.com/office/powerpoint/2010/main" val="2593781423"/>
      </p:ext>
    </p:extLst>
  </p:cSld>
  <p:clrMapOvr>
    <a:masterClrMapping/>
  </p:clrMapOvr>
  <p:transition spd="slow">
    <p:randomBar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194D52E-6C2F-4BB8-B1CD-AC9A57A22EE0}" type="slidenum">
              <a:rPr lang="ar-SA" sz="1400" smtClean="0">
                <a:solidFill>
                  <a:prstClr val="black"/>
                </a:solidFill>
              </a:rPr>
              <a:pPr rtl="0" fontAlgn="base">
                <a:spcBef>
                  <a:spcPct val="0"/>
                </a:spcBef>
                <a:spcAft>
                  <a:spcPct val="0"/>
                </a:spcAft>
              </a:pPr>
              <a:t>25</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638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6389" name="Group 4"/>
          <p:cNvGrpSpPr>
            <a:grpSpLocks/>
          </p:cNvGrpSpPr>
          <p:nvPr/>
        </p:nvGrpSpPr>
        <p:grpSpPr bwMode="auto">
          <a:xfrm>
            <a:off x="533400" y="101650"/>
            <a:ext cx="8229600" cy="87313"/>
            <a:chOff x="0" y="900"/>
            <a:chExt cx="5759" cy="96"/>
          </a:xfrm>
        </p:grpSpPr>
        <p:sp>
          <p:nvSpPr>
            <p:cNvPr id="1639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639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6391" name="Text Box 9"/>
          <p:cNvSpPr txBox="1">
            <a:spLocks noChangeArrowheads="1"/>
          </p:cNvSpPr>
          <p:nvPr/>
        </p:nvSpPr>
        <p:spPr bwMode="auto">
          <a:xfrm>
            <a:off x="499353" y="1348800"/>
            <a:ext cx="7921625" cy="5509200"/>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اختلال اضطراب جدایی</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اختلال اضطراب تعمیم یافته</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ترس مرضی (فوبی)</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اضطراب اجتماعی</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وسواس</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وحشت زدگی (پنیک)</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گذر هراسی</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استرس پس از سانحه روانی</a:t>
            </a:r>
          </a:p>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استرس </a:t>
            </a:r>
            <a:r>
              <a:rPr lang="fa-IR" altLang="ar-SA" dirty="0" smtClean="0">
                <a:solidFill>
                  <a:srgbClr val="000066"/>
                </a:solidFill>
                <a:cs typeface="B Nazanin" pitchFamily="2" charset="-78"/>
              </a:rPr>
              <a:t>حاد</a:t>
            </a:r>
          </a:p>
          <a:p>
            <a:pPr algn="just" fontAlgn="base">
              <a:lnSpc>
                <a:spcPct val="110000"/>
              </a:lnSpc>
              <a:spcBef>
                <a:spcPct val="0"/>
              </a:spcBef>
              <a:spcAft>
                <a:spcPct val="0"/>
              </a:spcAft>
              <a:buFont typeface="Wingdings" pitchFamily="2" charset="2"/>
              <a:buChar char="ü"/>
            </a:pPr>
            <a:r>
              <a:rPr lang="fa-IR" altLang="ar-SA" dirty="0" smtClean="0">
                <a:solidFill>
                  <a:srgbClr val="000066"/>
                </a:solidFill>
                <a:cs typeface="B Nazanin" pitchFamily="2" charset="-78"/>
              </a:rPr>
              <a:t>موتیسم</a:t>
            </a:r>
          </a:p>
        </p:txBody>
      </p:sp>
      <p:sp>
        <p:nvSpPr>
          <p:cNvPr id="27658" name="Text Box 12"/>
          <p:cNvSpPr txBox="1">
            <a:spLocks noChangeArrowheads="1"/>
          </p:cNvSpPr>
          <p:nvPr/>
        </p:nvSpPr>
        <p:spPr bwMode="auto">
          <a:xfrm>
            <a:off x="2916238" y="188913"/>
            <a:ext cx="3124200" cy="457200"/>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fa-IR" altLang="ar-SA" sz="2400" b="1">
                <a:solidFill>
                  <a:srgbClr val="FFFF99"/>
                </a:solidFill>
                <a:effectLst>
                  <a:outerShdw blurRad="38100" dist="38100" dir="2700000" algn="tl">
                    <a:srgbClr val="FFFFFF"/>
                  </a:outerShdw>
                </a:effectLst>
                <a:latin typeface="IranNastaliq" pitchFamily="18" charset="0"/>
                <a:cs typeface="B Kamran" pitchFamily="2" charset="-78"/>
              </a:rPr>
              <a:t>دیباچـــــــــــــــــه</a:t>
            </a:r>
            <a:endParaRPr lang="en-US" altLang="ar-SA" sz="2400" b="1">
              <a:solidFill>
                <a:srgbClr val="FFFF99"/>
              </a:solidFill>
              <a:effectLst>
                <a:outerShdw blurRad="38100" dist="38100" dir="2700000" algn="tl">
                  <a:srgbClr val="FFFFFF"/>
                </a:outerShdw>
              </a:effectLst>
              <a:latin typeface="IranNastaliq" pitchFamily="18" charset="0"/>
              <a:cs typeface="B Kamran" pitchFamily="2" charset="-78"/>
            </a:endParaRPr>
          </a:p>
        </p:txBody>
      </p:sp>
      <p:sp>
        <p:nvSpPr>
          <p:cNvPr id="2" name="Rectangle 1"/>
          <p:cNvSpPr/>
          <p:nvPr/>
        </p:nvSpPr>
        <p:spPr>
          <a:xfrm>
            <a:off x="2475966" y="784736"/>
            <a:ext cx="4572000" cy="701731"/>
          </a:xfrm>
          <a:prstGeom prst="rect">
            <a:avLst/>
          </a:prstGeom>
        </p:spPr>
        <p:txBody>
          <a:bodyPr>
            <a:spAutoFit/>
          </a:bodyPr>
          <a:lstStyle/>
          <a:p>
            <a:pPr algn="just" fontAlgn="base">
              <a:lnSpc>
                <a:spcPct val="110000"/>
              </a:lnSpc>
              <a:spcBef>
                <a:spcPct val="0"/>
              </a:spcBef>
              <a:spcAft>
                <a:spcPct val="0"/>
              </a:spcAft>
              <a:buFont typeface="Wingdings" pitchFamily="2" charset="2"/>
              <a:buChar char="ü"/>
            </a:pPr>
            <a:r>
              <a:rPr lang="fa-IR" altLang="ar-SA" dirty="0">
                <a:solidFill>
                  <a:srgbClr val="000066"/>
                </a:solidFill>
                <a:cs typeface="B Nazanin" pitchFamily="2" charset="-78"/>
              </a:rPr>
              <a:t>اختلال های اضطرابی در </a:t>
            </a:r>
            <a:r>
              <a:rPr lang="en-US" altLang="ar-SA" dirty="0">
                <a:solidFill>
                  <a:srgbClr val="000066"/>
                </a:solidFill>
                <a:cs typeface="B Nazanin" pitchFamily="2" charset="-78"/>
              </a:rPr>
              <a:t>DSM-IV-TR</a:t>
            </a:r>
            <a:r>
              <a:rPr lang="fa-IR" altLang="ar-SA" dirty="0">
                <a:solidFill>
                  <a:srgbClr val="000066"/>
                </a:solidFill>
                <a:cs typeface="B Nazanin" pitchFamily="2" charset="-78"/>
              </a:rPr>
              <a:t> بر اساس نوع </a:t>
            </a:r>
            <a:r>
              <a:rPr lang="fa-IR" altLang="ar-SA" b="1" i="1" u="sng" dirty="0">
                <a:solidFill>
                  <a:srgbClr val="000066"/>
                </a:solidFill>
                <a:cs typeface="B Nazanin" pitchFamily="2" charset="-78"/>
              </a:rPr>
              <a:t>واکنش</a:t>
            </a:r>
            <a:r>
              <a:rPr lang="fa-IR" altLang="ar-SA" dirty="0">
                <a:solidFill>
                  <a:srgbClr val="000066"/>
                </a:solidFill>
                <a:cs typeface="B Nazanin" pitchFamily="2" charset="-78"/>
              </a:rPr>
              <a:t> و </a:t>
            </a:r>
            <a:r>
              <a:rPr lang="fa-IR" altLang="ar-SA" b="1" i="1" u="sng" dirty="0">
                <a:solidFill>
                  <a:srgbClr val="000066"/>
                </a:solidFill>
                <a:cs typeface="B Nazanin" pitchFamily="2" charset="-78"/>
              </a:rPr>
              <a:t>اجتناب</a:t>
            </a:r>
            <a:r>
              <a:rPr lang="fa-IR" altLang="ar-SA" dirty="0">
                <a:solidFill>
                  <a:srgbClr val="000066"/>
                </a:solidFill>
                <a:cs typeface="B Nazanin" pitchFamily="2" charset="-78"/>
              </a:rPr>
              <a:t> به نه طبقه تقسیم می شوند.  </a:t>
            </a:r>
            <a:endParaRPr lang="fa-IR" altLang="ar-SA" sz="2000" b="1" dirty="0">
              <a:solidFill>
                <a:srgbClr val="000066"/>
              </a:solidFill>
              <a:cs typeface="B Kamran" pitchFamily="2" charset="-78"/>
            </a:endParaRPr>
          </a:p>
        </p:txBody>
      </p:sp>
      <p:sp>
        <p:nvSpPr>
          <p:cNvPr id="3" name="Rectangle 2"/>
          <p:cNvSpPr/>
          <p:nvPr/>
        </p:nvSpPr>
        <p:spPr>
          <a:xfrm>
            <a:off x="811933" y="5879068"/>
            <a:ext cx="1056701" cy="369332"/>
          </a:xfrm>
          <a:prstGeom prst="rect">
            <a:avLst/>
          </a:prstGeom>
        </p:spPr>
        <p:txBody>
          <a:bodyPr wrap="none">
            <a:spAutoFit/>
          </a:bodyPr>
          <a:lstStyle/>
          <a:p>
            <a:r>
              <a:rPr lang="fa-IR" altLang="ar-SA" dirty="0" smtClean="0">
                <a:solidFill>
                  <a:srgbClr val="000066"/>
                </a:solidFill>
                <a:cs typeface="B Nazanin" pitchFamily="2" charset="-78"/>
              </a:rPr>
              <a:t>بحث گروهی</a:t>
            </a:r>
            <a:endParaRPr lang="fa-IR" dirty="0">
              <a:solidFill>
                <a:prstClr val="black"/>
              </a:solidFill>
            </a:endParaRPr>
          </a:p>
        </p:txBody>
      </p:sp>
      <p:sp>
        <p:nvSpPr>
          <p:cNvPr id="13" name="Rectangle 12">
            <a:hlinkClick r:id="rId2" action="ppaction://hlinkfile"/>
          </p:cNvPr>
          <p:cNvSpPr/>
          <p:nvPr/>
        </p:nvSpPr>
        <p:spPr>
          <a:xfrm>
            <a:off x="499353" y="5428775"/>
            <a:ext cx="928460" cy="461665"/>
          </a:xfrm>
          <a:prstGeom prst="rect">
            <a:avLst/>
          </a:prstGeom>
        </p:spPr>
        <p:txBody>
          <a:bodyPr wrap="none">
            <a:spAutoFit/>
          </a:bodyPr>
          <a:lstStyle/>
          <a:p>
            <a:pPr>
              <a:defRPr/>
            </a:pPr>
            <a:r>
              <a:rPr lang="fa-IR" sz="2400" b="1" kern="0" dirty="0" smtClean="0">
                <a:solidFill>
                  <a:prstClr val="black"/>
                </a:solidFill>
                <a:cs typeface="B Nazanin" pitchFamily="2" charset="-78"/>
              </a:rPr>
              <a:t>موزیک</a:t>
            </a:r>
            <a:endParaRPr lang="fa-IR" sz="2400" kern="0" dirty="0" smtClean="0">
              <a:solidFill>
                <a:sysClr val="windowText" lastClr="000000"/>
              </a:solidFill>
            </a:endParaRPr>
          </a:p>
        </p:txBody>
      </p:sp>
    </p:spTree>
    <p:extLst>
      <p:ext uri="{BB962C8B-B14F-4D97-AF65-F5344CB8AC3E}">
        <p14:creationId xmlns:p14="http://schemas.microsoft.com/office/powerpoint/2010/main" val="423142566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26</a:t>
            </a:fld>
            <a:endParaRPr lang="en-US">
              <a:solidFill>
                <a:prstClr val="black">
                  <a:tint val="75000"/>
                </a:prstClr>
              </a:solidFill>
            </a:endParaRPr>
          </a:p>
        </p:txBody>
      </p:sp>
      <p:sp>
        <p:nvSpPr>
          <p:cNvPr id="3" name="Rectangle 2"/>
          <p:cNvSpPr/>
          <p:nvPr/>
        </p:nvSpPr>
        <p:spPr>
          <a:xfrm>
            <a:off x="3581937" y="5229200"/>
            <a:ext cx="5554726" cy="923330"/>
          </a:xfrm>
          <a:prstGeom prst="rect">
            <a:avLst/>
          </a:prstGeom>
        </p:spPr>
        <p:txBody>
          <a:bodyPr wrap="none">
            <a:spAutoFit/>
          </a:bodyPr>
          <a:lstStyle/>
          <a:p>
            <a:r>
              <a:rPr lang="fa-IR" altLang="ar-SA" sz="5400" dirty="0" smtClean="0">
                <a:solidFill>
                  <a:srgbClr val="000066"/>
                </a:solidFill>
                <a:cs typeface="B Nazanin" pitchFamily="2" charset="-78"/>
              </a:rPr>
              <a:t>اختلال اضطراب جدایی</a:t>
            </a:r>
            <a:endParaRPr lang="fa-IR" sz="5400" dirty="0">
              <a:solidFill>
                <a:prstClr val="black"/>
              </a:solidFill>
            </a:endParaRPr>
          </a:p>
        </p:txBody>
      </p:sp>
      <p:sp>
        <p:nvSpPr>
          <p:cNvPr id="4" name="Rectangle 3">
            <a:hlinkClick r:id="rId3" action="ppaction://hlinkfile"/>
          </p:cNvPr>
          <p:cNvSpPr/>
          <p:nvPr/>
        </p:nvSpPr>
        <p:spPr>
          <a:xfrm>
            <a:off x="3998722" y="6182614"/>
            <a:ext cx="612668" cy="397032"/>
          </a:xfrm>
          <a:prstGeom prst="rect">
            <a:avLst/>
          </a:prstGeom>
        </p:spPr>
        <p:txBody>
          <a:bodyPr wrap="none">
            <a:spAutoFit/>
          </a:bodyPr>
          <a:lstStyle/>
          <a:p>
            <a:pPr lvl="0" algn="just" fontAlgn="base">
              <a:lnSpc>
                <a:spcPct val="110000"/>
              </a:lnSpc>
              <a:spcBef>
                <a:spcPct val="0"/>
              </a:spcBef>
              <a:spcAft>
                <a:spcPct val="0"/>
              </a:spcAft>
            </a:pPr>
            <a:r>
              <a:rPr lang="fa-IR" altLang="ar-SA" dirty="0" smtClean="0">
                <a:solidFill>
                  <a:srgbClr val="000066"/>
                </a:solidFill>
                <a:cs typeface="B Nazanin" pitchFamily="2" charset="-78"/>
              </a:rPr>
              <a:t>کلیپ</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401486463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8C3D85AE-6A1C-4911-B0CB-A05C63A0EA0B}" type="slidenum">
              <a:rPr lang="ar-SA" sz="1400" smtClean="0">
                <a:solidFill>
                  <a:prstClr val="black"/>
                </a:solidFill>
              </a:rPr>
              <a:pPr rtl="0" fontAlgn="base">
                <a:spcBef>
                  <a:spcPct val="0"/>
                </a:spcBef>
                <a:spcAft>
                  <a:spcPct val="0"/>
                </a:spcAft>
              </a:pPr>
              <a:t>27</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946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9461" name="Group 4"/>
          <p:cNvGrpSpPr>
            <a:grpSpLocks/>
          </p:cNvGrpSpPr>
          <p:nvPr/>
        </p:nvGrpSpPr>
        <p:grpSpPr bwMode="auto">
          <a:xfrm>
            <a:off x="533400" y="101650"/>
            <a:ext cx="8229600" cy="87313"/>
            <a:chOff x="0" y="900"/>
            <a:chExt cx="5759" cy="96"/>
          </a:xfrm>
        </p:grpSpPr>
        <p:sp>
          <p:nvSpPr>
            <p:cNvPr id="1946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946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946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9463" name="Text Box 9"/>
          <p:cNvSpPr txBox="1">
            <a:spLocks noChangeArrowheads="1"/>
          </p:cNvSpPr>
          <p:nvPr/>
        </p:nvSpPr>
        <p:spPr bwMode="auto">
          <a:xfrm>
            <a:off x="611213" y="1052514"/>
            <a:ext cx="7921625" cy="5543056"/>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rtl="0" fontAlgn="base">
              <a:lnSpc>
                <a:spcPct val="110000"/>
              </a:lnSpc>
              <a:spcBef>
                <a:spcPct val="0"/>
              </a:spcBef>
              <a:spcAft>
                <a:spcPct val="0"/>
              </a:spcAft>
            </a:pPr>
            <a:r>
              <a:rPr lang="en-US" altLang="ar-SA" sz="1800" b="1" dirty="0" smtClean="0">
                <a:solidFill>
                  <a:srgbClr val="FF0000"/>
                </a:solidFill>
                <a:cs typeface="B Nazanin" pitchFamily="2" charset="-78"/>
              </a:rPr>
              <a:t>criteria for Separation Anxiety Disorder (SAD)</a:t>
            </a:r>
            <a:endParaRPr lang="fa-IR" altLang="ar-SA" sz="1800" b="1" dirty="0" smtClean="0">
              <a:solidFill>
                <a:srgbClr val="FF0000"/>
              </a:solidFill>
              <a:cs typeface="B Nazanin" pitchFamily="2" charset="-78"/>
            </a:endParaRPr>
          </a:p>
          <a:p>
            <a:pPr algn="just" fontAlgn="base">
              <a:lnSpc>
                <a:spcPct val="110000"/>
              </a:lnSpc>
              <a:spcBef>
                <a:spcPct val="0"/>
              </a:spcBef>
              <a:spcAft>
                <a:spcPct val="0"/>
              </a:spcAft>
            </a:pPr>
            <a:endParaRPr lang="fa-IR" altLang="ar-SA" sz="1800" dirty="0" smtClean="0">
              <a:solidFill>
                <a:srgbClr val="000066"/>
              </a:solidFill>
              <a:cs typeface="B Nazanin" pitchFamily="2" charset="-78"/>
            </a:endParaRPr>
          </a:p>
          <a:p>
            <a:pPr algn="just" fontAlgn="base">
              <a:lnSpc>
                <a:spcPct val="110000"/>
              </a:lnSpc>
              <a:spcBef>
                <a:spcPct val="0"/>
              </a:spcBef>
              <a:spcAft>
                <a:spcPct val="0"/>
              </a:spcAft>
            </a:pPr>
            <a:r>
              <a:rPr lang="fa-IR" altLang="ar-SA" sz="1800" dirty="0" smtClean="0">
                <a:solidFill>
                  <a:srgbClr val="000066"/>
                </a:solidFill>
                <a:cs typeface="B Nazanin" pitchFamily="2" charset="-78"/>
              </a:rPr>
              <a:t>اضطراب شدید و نامتناسب با سطوح رشد فرد، نسبت به جدایی از خانه یا کسانی که به آنان دلبستگی دارد، که در دست کم سه مورد از موارد زیر مشخص می شود:</a:t>
            </a:r>
          </a:p>
          <a:p>
            <a:pPr algn="just" fontAlgn="base">
              <a:lnSpc>
                <a:spcPct val="110000"/>
              </a:lnSpc>
              <a:spcBef>
                <a:spcPct val="0"/>
              </a:spcBef>
              <a:spcAft>
                <a:spcPct val="0"/>
              </a:spcAft>
            </a:pPr>
            <a:r>
              <a:rPr lang="fa-IR" altLang="ar-SA" sz="1800" dirty="0" smtClean="0">
                <a:solidFill>
                  <a:srgbClr val="000066"/>
                </a:solidFill>
                <a:cs typeface="B Nazanin" pitchFamily="2" charset="-78"/>
              </a:rPr>
              <a:t>1- ناراحتی شدید و مداوم هنگام جدایی یا احتمال جدایی از خانه یا افرادی که به آنها دلبستگی دارد.</a:t>
            </a:r>
          </a:p>
          <a:p>
            <a:pPr algn="just" fontAlgn="base">
              <a:lnSpc>
                <a:spcPct val="110000"/>
              </a:lnSpc>
              <a:spcBef>
                <a:spcPct val="0"/>
              </a:spcBef>
              <a:spcAft>
                <a:spcPct val="0"/>
              </a:spcAft>
            </a:pPr>
            <a:r>
              <a:rPr lang="fa-IR" altLang="ar-SA" sz="1800" dirty="0" smtClean="0">
                <a:solidFill>
                  <a:srgbClr val="000066"/>
                </a:solidFill>
                <a:cs typeface="B Nazanin" pitchFamily="2" charset="-78"/>
              </a:rPr>
              <a:t>2- نگرانی شدید و مداوم در مورد از دست دادن یا آسیب دیدگی احتمالی افرادی که به آنها دلبستگی دارد.</a:t>
            </a:r>
          </a:p>
          <a:p>
            <a:pPr algn="just" fontAlgn="base">
              <a:lnSpc>
                <a:spcPct val="110000"/>
              </a:lnSpc>
              <a:spcBef>
                <a:spcPct val="0"/>
              </a:spcBef>
              <a:spcAft>
                <a:spcPct val="0"/>
              </a:spcAft>
            </a:pPr>
            <a:r>
              <a:rPr lang="fa-IR" altLang="ar-SA" sz="1800" dirty="0" smtClean="0">
                <a:solidFill>
                  <a:srgbClr val="000066"/>
                </a:solidFill>
                <a:cs typeface="B Nazanin" pitchFamily="2" charset="-78"/>
              </a:rPr>
              <a:t>3- نگرانی شدید و مداوم در مورد اینکه یک رویداد ناگوار باعث جدایی از افرادی که به آنها دلبستگی دارد، خواهد شد (همانند گم شدن یا دزدیده شدن).</a:t>
            </a:r>
          </a:p>
          <a:p>
            <a:pPr algn="just" fontAlgn="base">
              <a:lnSpc>
                <a:spcPct val="110000"/>
              </a:lnSpc>
              <a:spcBef>
                <a:spcPct val="0"/>
              </a:spcBef>
              <a:spcAft>
                <a:spcPct val="0"/>
              </a:spcAft>
            </a:pPr>
            <a:r>
              <a:rPr lang="fa-IR" altLang="ar-SA" sz="1800" dirty="0" smtClean="0">
                <a:solidFill>
                  <a:srgbClr val="000066"/>
                </a:solidFill>
                <a:cs typeface="B Nazanin" pitchFamily="2" charset="-78"/>
              </a:rPr>
              <a:t>4- اکراه یا امتناع مداوم از رفتن به مدرسه یا جاهای دیگر به دلیل ترس از جدایی</a:t>
            </a:r>
            <a:r>
              <a:rPr lang="fa-IR" altLang="ar-SA" sz="2000" dirty="0" smtClean="0">
                <a:solidFill>
                  <a:srgbClr val="000066"/>
                </a:solidFill>
                <a:cs typeface="B Kamran" pitchFamily="2" charset="-78"/>
              </a:rPr>
              <a:t>.</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5- ترس شدید و مداوم یا اکراه از تنها ماندن در خانه یا جاهای دیگر، بدون حضور افرادی که به آنها دلبستگی دارد، یا افراد بزرگتر</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6- اکراه یا امتناع مداوم از خوابیدن بدون حضور یکی از افرادی که به آنها دلبستگی دارد یا خوابیدن در مکانی غیر از خانه خود.</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7- کابوس های مکرر درباره جدایی</a:t>
            </a:r>
          </a:p>
          <a:p>
            <a:pPr algn="just" fontAlgn="base">
              <a:lnSpc>
                <a:spcPct val="110000"/>
              </a:lnSpc>
              <a:spcBef>
                <a:spcPct val="0"/>
              </a:spcBef>
              <a:spcAft>
                <a:spcPct val="0"/>
              </a:spcAft>
            </a:pPr>
            <a:r>
              <a:rPr lang="fa-IR" altLang="ar-SA" sz="2000" dirty="0" smtClean="0">
                <a:solidFill>
                  <a:srgbClr val="000066"/>
                </a:solidFill>
                <a:cs typeface="B Nazanin" pitchFamily="2" charset="-78"/>
              </a:rPr>
              <a:t>8- شکایت های مکرر از نشانه های ناراحتی جسمانی (نظیر سردرد، دل درد، تهوع یا استفراغ) هنگام جدایی یا احتمال جدایی از افرادی که به آنها دلبستگی دارد.</a:t>
            </a:r>
            <a:endParaRPr lang="fa-IR" altLang="ar-SA" sz="1800" dirty="0" smtClean="0">
              <a:solidFill>
                <a:srgbClr val="000066"/>
              </a:solidFill>
              <a:cs typeface="B Nazanin" pitchFamily="2" charset="-78"/>
            </a:endParaRP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Separation Anxiety Disorder</a:t>
            </a:r>
          </a:p>
        </p:txBody>
      </p:sp>
    </p:spTree>
    <p:extLst>
      <p:ext uri="{BB962C8B-B14F-4D97-AF65-F5344CB8AC3E}">
        <p14:creationId xmlns:p14="http://schemas.microsoft.com/office/powerpoint/2010/main" val="32265719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EC524BDC-37A3-49D7-AB70-05605BE1F53D}" type="slidenum">
              <a:rPr lang="ar-SA" sz="1400" smtClean="0">
                <a:solidFill>
                  <a:prstClr val="black"/>
                </a:solidFill>
              </a:rPr>
              <a:pPr rtl="0" fontAlgn="base">
                <a:spcBef>
                  <a:spcPct val="0"/>
                </a:spcBef>
                <a:spcAft>
                  <a:spcPct val="0"/>
                </a:spcAft>
              </a:pPr>
              <a:t>28</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843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8437" name="Group 4"/>
          <p:cNvGrpSpPr>
            <a:grpSpLocks/>
          </p:cNvGrpSpPr>
          <p:nvPr/>
        </p:nvGrpSpPr>
        <p:grpSpPr bwMode="auto">
          <a:xfrm>
            <a:off x="533400" y="101650"/>
            <a:ext cx="8229600" cy="87313"/>
            <a:chOff x="0" y="900"/>
            <a:chExt cx="5759" cy="96"/>
          </a:xfrm>
        </p:grpSpPr>
        <p:sp>
          <p:nvSpPr>
            <p:cNvPr id="1844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844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843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8439" name="Text Box 9"/>
          <p:cNvSpPr txBox="1">
            <a:spLocks noChangeArrowheads="1"/>
          </p:cNvSpPr>
          <p:nvPr/>
        </p:nvSpPr>
        <p:spPr bwMode="auto">
          <a:xfrm>
            <a:off x="611213" y="962025"/>
            <a:ext cx="7921625" cy="374871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معيار  </a:t>
            </a:r>
            <a:r>
              <a:rPr lang="en-US" altLang="ar-SA" sz="2400" dirty="0">
                <a:solidFill>
                  <a:srgbClr val="000066"/>
                </a:solidFill>
                <a:latin typeface="Aparajita" pitchFamily="34" charset="0"/>
                <a:cs typeface="B Kamran" pitchFamily="2" charset="-78"/>
              </a:rPr>
              <a:t>B : </a:t>
            </a:r>
            <a:r>
              <a:rPr lang="fa-IR" altLang="ar-SA" sz="2400" dirty="0">
                <a:solidFill>
                  <a:srgbClr val="000066"/>
                </a:solidFill>
                <a:latin typeface="Aparajita" pitchFamily="34" charset="0"/>
                <a:cs typeface="B Kamran" pitchFamily="2" charset="-78"/>
              </a:rPr>
              <a:t>اين تر س يا ضطراب يا اجتناب مداوم است، حداقل ٤ هفته در كودكان و نوجوانان و معمولاً ٦ ماه يا بيشتر در بزرگسالان ادامه مي يابد.</a:t>
            </a:r>
          </a:p>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معيار  </a:t>
            </a:r>
            <a:r>
              <a:rPr lang="en-US" altLang="ar-SA" sz="2400" dirty="0">
                <a:solidFill>
                  <a:srgbClr val="000066"/>
                </a:solidFill>
                <a:latin typeface="Aparajita" pitchFamily="34" charset="0"/>
                <a:cs typeface="B Kamran" pitchFamily="2" charset="-78"/>
              </a:rPr>
              <a:t>C : </a:t>
            </a:r>
            <a:r>
              <a:rPr lang="fa-IR" altLang="ar-SA" sz="2400" dirty="0">
                <a:solidFill>
                  <a:srgbClr val="000066"/>
                </a:solidFill>
                <a:latin typeface="Aparajita" pitchFamily="34" charset="0"/>
                <a:cs typeface="B Kamran" pitchFamily="2" charset="-78"/>
              </a:rPr>
              <a:t>اين اختلال، ناراحتي يا اختلال قابل ملاحظه باليني در عملكرد اجتماعي تحصيلي شغلي، يا زمينه هاي مهم ديگر عملكرد ايجاد مي كند.</a:t>
            </a:r>
          </a:p>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معيار  </a:t>
            </a:r>
            <a:r>
              <a:rPr lang="en-US" altLang="ar-SA" sz="2400" dirty="0">
                <a:solidFill>
                  <a:srgbClr val="000066"/>
                </a:solidFill>
                <a:latin typeface="Aparajita" pitchFamily="34" charset="0"/>
                <a:cs typeface="B Kamran" pitchFamily="2" charset="-78"/>
              </a:rPr>
              <a:t>D : </a:t>
            </a:r>
            <a:r>
              <a:rPr lang="fa-IR" altLang="ar-SA" sz="2400" dirty="0">
                <a:solidFill>
                  <a:srgbClr val="000066"/>
                </a:solidFill>
                <a:latin typeface="Aparajita" pitchFamily="34" charset="0"/>
                <a:cs typeface="B Kamran" pitchFamily="2" charset="-78"/>
              </a:rPr>
              <a:t>اين اختلال با اختلال رواني ديگر بهتر توجيه نمي شود، مانند امتناع از ترك كردن خانه به علت مقاومت بيش از حد در برابر تغيير در اختلال طيف اوتيسم؛ هذيان ها يا توهمات مربوط به جدايي در اختلالات روان پريشي؛ امتناع از بيرون رفتن بدون همراه قابل اعتماد در آگورافوبي؛ نگراني ها درباره بيماري يا صدمه ديگر كه براي افراد مهم ديگر روي دهند در اختلال اضطراب فراگير، نگرانيها درباره مبتلا بودن به يك بيماري در اختلال اضطراب بيماری.</a:t>
            </a:r>
          </a:p>
        </p:txBody>
      </p:sp>
      <p:sp>
        <p:nvSpPr>
          <p:cNvPr id="18440" name="Text Box 12"/>
          <p:cNvSpPr txBox="1">
            <a:spLocks noChangeArrowheads="1"/>
          </p:cNvSpPr>
          <p:nvPr/>
        </p:nvSpPr>
        <p:spPr bwMode="auto">
          <a:xfrm>
            <a:off x="2916238" y="188963"/>
            <a:ext cx="312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b="1" smtClean="0">
                <a:solidFill>
                  <a:srgbClr val="FFFF99"/>
                </a:solidFill>
                <a:cs typeface="B Kamran" pitchFamily="2" charset="-78"/>
              </a:rPr>
              <a:t>Separation Anxiety Disorder</a:t>
            </a:r>
          </a:p>
        </p:txBody>
      </p:sp>
    </p:spTree>
    <p:extLst>
      <p:ext uri="{BB962C8B-B14F-4D97-AF65-F5344CB8AC3E}">
        <p14:creationId xmlns:p14="http://schemas.microsoft.com/office/powerpoint/2010/main" val="78208099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EC524BDC-37A3-49D7-AB70-05605BE1F53D}" type="slidenum">
              <a:rPr lang="ar-SA" sz="1400" smtClean="0">
                <a:solidFill>
                  <a:prstClr val="black"/>
                </a:solidFill>
              </a:rPr>
              <a:pPr rtl="0" fontAlgn="base">
                <a:spcBef>
                  <a:spcPct val="0"/>
                </a:spcBef>
                <a:spcAft>
                  <a:spcPct val="0"/>
                </a:spcAft>
              </a:pPr>
              <a:t>29</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843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8437" name="Group 4"/>
          <p:cNvGrpSpPr>
            <a:grpSpLocks/>
          </p:cNvGrpSpPr>
          <p:nvPr/>
        </p:nvGrpSpPr>
        <p:grpSpPr bwMode="auto">
          <a:xfrm>
            <a:off x="533400" y="101650"/>
            <a:ext cx="8229600" cy="87313"/>
            <a:chOff x="0" y="900"/>
            <a:chExt cx="5759" cy="96"/>
          </a:xfrm>
        </p:grpSpPr>
        <p:sp>
          <p:nvSpPr>
            <p:cNvPr id="1844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844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843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8439" name="Text Box 9"/>
          <p:cNvSpPr txBox="1">
            <a:spLocks noChangeArrowheads="1"/>
          </p:cNvSpPr>
          <p:nvPr/>
        </p:nvSpPr>
        <p:spPr bwMode="auto">
          <a:xfrm>
            <a:off x="611213" y="962025"/>
            <a:ext cx="7921625" cy="3342453"/>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توجه داشته باشيد كه "اختلال اضطراب جدايي" را نبايد با "اضطراب جدايي "  اشتباه گرفت. اضطراب جدايي يك مرحله رشدي طبيعي است كه در نوزادان سالم با "دلبستگي از نوع امن" روي مي دهد.  اضطراب جدايي معمولا در ١٢ تا ١٨ ماهگي روي ميدهد، اما اختلال اضطراب جدايي براي اولين بار معمولا در سال هاي پيش دبستاني مشاهده مي شود</a:t>
            </a:r>
            <a:r>
              <a:rPr lang="fa-IR" altLang="ar-SA" sz="2400" dirty="0" smtClean="0">
                <a:solidFill>
                  <a:srgbClr val="000066"/>
                </a:solidFill>
                <a:latin typeface="Aparajita" pitchFamily="34" charset="0"/>
                <a:cs typeface="B Kamran" pitchFamily="2" charset="-78"/>
              </a:rPr>
              <a:t>.</a:t>
            </a:r>
          </a:p>
          <a:p>
            <a:pPr algn="just" fontAlgn="base">
              <a:lnSpc>
                <a:spcPct val="110000"/>
              </a:lnSpc>
              <a:spcBef>
                <a:spcPct val="0"/>
              </a:spcBef>
              <a:spcAft>
                <a:spcPct val="0"/>
              </a:spcAft>
              <a:buFont typeface="Wingdings" pitchFamily="2" charset="2"/>
              <a:buChar char="ü"/>
            </a:pPr>
            <a:r>
              <a:rPr lang="fa-IR" altLang="ar-SA" sz="2400" dirty="0">
                <a:solidFill>
                  <a:srgbClr val="FF0000"/>
                </a:solidFill>
                <a:latin typeface="Aparajita" pitchFamily="34" charset="0"/>
                <a:cs typeface="B Kamran" pitchFamily="2" charset="-78"/>
              </a:rPr>
              <a:t>كودكان مبتلا به اختلال اضطراب جدايي ، بعدها، با احتمال بيشتر به   </a:t>
            </a:r>
            <a:r>
              <a:rPr lang="en-US" altLang="ar-SA" sz="2400" dirty="0">
                <a:solidFill>
                  <a:srgbClr val="FF0000"/>
                </a:solidFill>
                <a:latin typeface="Aparajita" pitchFamily="34" charset="0"/>
                <a:cs typeface="B Kamran" pitchFamily="2" charset="-78"/>
              </a:rPr>
              <a:t>ADHD ، </a:t>
            </a:r>
            <a:r>
              <a:rPr lang="fa-IR" altLang="ar-SA" sz="2400" dirty="0">
                <a:solidFill>
                  <a:srgbClr val="FF0000"/>
                </a:solidFill>
                <a:latin typeface="Aparajita" pitchFamily="34" charset="0"/>
                <a:cs typeface="B Kamran" pitchFamily="2" charset="-78"/>
              </a:rPr>
              <a:t>اختلال دوقطبي، اختلال وحشتزدگي، و ساير اختلالات مبتلا مي شوند. </a:t>
            </a:r>
          </a:p>
          <a:p>
            <a:pPr algn="just" fontAlgn="base">
              <a:lnSpc>
                <a:spcPct val="110000"/>
              </a:lnSpc>
              <a:spcBef>
                <a:spcPct val="0"/>
              </a:spcBef>
              <a:spcAft>
                <a:spcPct val="0"/>
              </a:spcAft>
              <a:buFont typeface="Wingdings" pitchFamily="2" charset="2"/>
              <a:buChar char="ü"/>
            </a:pPr>
            <a:r>
              <a:rPr lang="fa-IR" altLang="ar-SA" sz="2400" dirty="0">
                <a:solidFill>
                  <a:srgbClr val="FF0000"/>
                </a:solidFill>
                <a:latin typeface="Aparajita" pitchFamily="34" charset="0"/>
                <a:cs typeface="B Kamran" pitchFamily="2" charset="-78"/>
              </a:rPr>
              <a:t>نكته: يكي از معيارهاي </a:t>
            </a:r>
            <a:r>
              <a:rPr lang="en-US" altLang="ar-SA" sz="2400" dirty="0">
                <a:solidFill>
                  <a:srgbClr val="FF0000"/>
                </a:solidFill>
                <a:latin typeface="Aparajita" pitchFamily="34" charset="0"/>
                <a:cs typeface="B Kamran" pitchFamily="2" charset="-78"/>
              </a:rPr>
              <a:t>DSM-IV</a:t>
            </a:r>
            <a:r>
              <a:rPr lang="fa-IR" altLang="ar-SA" sz="2400" dirty="0">
                <a:solidFill>
                  <a:srgbClr val="FF0000"/>
                </a:solidFill>
                <a:latin typeface="Aparajita" pitchFamily="34" charset="0"/>
                <a:cs typeface="B Kamran" pitchFamily="2" charset="-78"/>
              </a:rPr>
              <a:t>شروع اين اختلال تا قبل از ١٨ سالگي بود اما در </a:t>
            </a:r>
            <a:r>
              <a:rPr lang="en-US" altLang="ar-SA" sz="2400" dirty="0">
                <a:solidFill>
                  <a:srgbClr val="FF0000"/>
                </a:solidFill>
                <a:latin typeface="Aparajita" pitchFamily="34" charset="0"/>
                <a:cs typeface="B Kamran" pitchFamily="2" charset="-78"/>
              </a:rPr>
              <a:t>DSM-5 </a:t>
            </a:r>
            <a:r>
              <a:rPr lang="fa-IR" altLang="ar-SA" sz="2400" dirty="0">
                <a:solidFill>
                  <a:srgbClr val="FF0000"/>
                </a:solidFill>
                <a:latin typeface="Aparajita" pitchFamily="34" charset="0"/>
                <a:cs typeface="B Kamran" pitchFamily="2" charset="-78"/>
              </a:rPr>
              <a:t>اين معيار حدف شده است.</a:t>
            </a:r>
          </a:p>
        </p:txBody>
      </p:sp>
      <p:sp>
        <p:nvSpPr>
          <p:cNvPr id="18440" name="Text Box 12"/>
          <p:cNvSpPr txBox="1">
            <a:spLocks noChangeArrowheads="1"/>
          </p:cNvSpPr>
          <p:nvPr/>
        </p:nvSpPr>
        <p:spPr bwMode="auto">
          <a:xfrm>
            <a:off x="2916238" y="188963"/>
            <a:ext cx="312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b="1" smtClean="0">
                <a:solidFill>
                  <a:srgbClr val="FFFF99"/>
                </a:solidFill>
                <a:cs typeface="B Kamran" pitchFamily="2" charset="-78"/>
              </a:rPr>
              <a:t>Separation Anxiety Disorder</a:t>
            </a:r>
          </a:p>
        </p:txBody>
      </p:sp>
    </p:spTree>
    <p:extLst>
      <p:ext uri="{BB962C8B-B14F-4D97-AF65-F5344CB8AC3E}">
        <p14:creationId xmlns:p14="http://schemas.microsoft.com/office/powerpoint/2010/main" val="127216108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EC524BDC-37A3-49D7-AB70-05605BE1F53D}" type="slidenum">
              <a:rPr lang="ar-SA" sz="1400" smtClean="0">
                <a:solidFill>
                  <a:prstClr val="black"/>
                </a:solidFill>
              </a:rPr>
              <a:pPr rtl="0" fontAlgn="base">
                <a:spcBef>
                  <a:spcPct val="0"/>
                </a:spcBef>
                <a:spcAft>
                  <a:spcPct val="0"/>
                </a:spcAft>
              </a:pPr>
              <a:t>30</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1843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18437" name="Group 4"/>
          <p:cNvGrpSpPr>
            <a:grpSpLocks/>
          </p:cNvGrpSpPr>
          <p:nvPr/>
        </p:nvGrpSpPr>
        <p:grpSpPr bwMode="auto">
          <a:xfrm>
            <a:off x="533400" y="101650"/>
            <a:ext cx="8229600" cy="87313"/>
            <a:chOff x="0" y="900"/>
            <a:chExt cx="5759" cy="96"/>
          </a:xfrm>
        </p:grpSpPr>
        <p:sp>
          <p:nvSpPr>
            <p:cNvPr id="1844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844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1843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18439" name="Text Box 9"/>
          <p:cNvSpPr txBox="1">
            <a:spLocks noChangeArrowheads="1"/>
          </p:cNvSpPr>
          <p:nvPr/>
        </p:nvSpPr>
        <p:spPr bwMode="auto">
          <a:xfrm>
            <a:off x="611213" y="962025"/>
            <a:ext cx="7921625" cy="537377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رایج ترین اختلالا اضطرابی در کودکان (10 درصد کودکان)</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شیوع جنسیتی برابر دارد اگرچه در برخی از پژوهش ها کفه به نفع دختران سنگین تر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معمولا اختلال همایند دیگری به ویژه </a:t>
            </a: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 دارند. (از هر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یک همایندی با </a:t>
            </a: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یک سوم مبتلایان، از یکماه بعد از آغاز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دچار </a:t>
            </a:r>
            <a:r>
              <a:rPr lang="en-US" altLang="ar-SA" sz="2400" dirty="0" smtClean="0">
                <a:solidFill>
                  <a:srgbClr val="000066"/>
                </a:solidFill>
                <a:latin typeface="Aparajita" pitchFamily="34" charset="0"/>
                <a:cs typeface="B Kamran" pitchFamily="2" charset="-78"/>
              </a:rPr>
              <a:t>MDD</a:t>
            </a:r>
            <a:r>
              <a:rPr lang="fa-IR" altLang="ar-SA" sz="2400" dirty="0" smtClean="0">
                <a:solidFill>
                  <a:srgbClr val="000066"/>
                </a:solidFill>
                <a:latin typeface="Aparajita" pitchFamily="34" charset="0"/>
                <a:cs typeface="B Kamran" pitchFamily="2" charset="-78"/>
              </a:rPr>
              <a:t> نیز می شوند.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گاه برخی از </a:t>
            </a:r>
            <a:r>
              <a:rPr lang="en-US" altLang="ar-SA" sz="2400" dirty="0" smtClean="0">
                <a:solidFill>
                  <a:srgbClr val="000066"/>
                </a:solidFill>
                <a:latin typeface="Aparajita" pitchFamily="34" charset="0"/>
                <a:cs typeface="B Kamran" pitchFamily="2" charset="-78"/>
              </a:rPr>
              <a:t>criteria of specific phobia</a:t>
            </a:r>
            <a:r>
              <a:rPr lang="fa-IR" altLang="ar-SA" sz="2400" dirty="0" smtClean="0">
                <a:solidFill>
                  <a:srgbClr val="000066"/>
                </a:solidFill>
                <a:latin typeface="Aparajita" pitchFamily="34" charset="0"/>
                <a:cs typeface="B Kamran" pitchFamily="2" charset="-78"/>
              </a:rPr>
              <a:t> را نیز نشان می دهند، اگرچه به تشخیص نمی انجامد.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سن آغاز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در کودکانی که بخاطر اختلالات اضطرابی ارجاع می شوند، 7 یا 8 سالگی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شروع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در سنین پایین، با وقوع ترس های جدایی از والدین در مراحل اولیه رشد بهنجار، همخوانی دارد.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اغلب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پس از آنکه کودک یک محرک تنش زای اساسی را تجربه می کند، بروز می کند.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مبتلایان به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اگرچه از شرکت در فعالیت های خارج از خانه اجتناب می کنند، لیکن در حد معقولی از مهارت های اجتماعی و برقراری دوستی با دیگران برخوردارند.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عملکرد تحصیلیشان پایین اما تفاهم با گروه همسالانشان بالاست.</a:t>
            </a:r>
          </a:p>
          <a:p>
            <a:pPr algn="just" fontAlgn="base">
              <a:lnSpc>
                <a:spcPct val="110000"/>
              </a:lnSpc>
              <a:spcBef>
                <a:spcPct val="0"/>
              </a:spcBef>
              <a:spcAft>
                <a:spcPct val="0"/>
              </a:spcAft>
              <a:buFont typeface="Wingdings" pitchFamily="2" charset="2"/>
              <a:buChar char="ü"/>
            </a:pPr>
            <a:r>
              <a:rPr lang="fa-IR" altLang="ar-SA" sz="2400" dirty="0" smtClean="0">
                <a:solidFill>
                  <a:srgbClr val="FF0000"/>
                </a:solidFill>
                <a:latin typeface="Aparajita" pitchFamily="34" charset="0"/>
                <a:cs typeface="B Kamran" pitchFamily="2" charset="-78"/>
              </a:rPr>
              <a:t>اگر کمتر از یکماه از تغییر مکان جدید گودک می گذرد، تشخیص </a:t>
            </a:r>
            <a:r>
              <a:rPr lang="en-US" altLang="ar-SA" sz="2400" dirty="0" smtClean="0">
                <a:solidFill>
                  <a:srgbClr val="FF0000"/>
                </a:solidFill>
                <a:latin typeface="Aparajita" pitchFamily="34" charset="0"/>
                <a:cs typeface="B Kamran" pitchFamily="2" charset="-78"/>
              </a:rPr>
              <a:t>SAD</a:t>
            </a:r>
            <a:r>
              <a:rPr lang="fa-IR" altLang="ar-SA" sz="2400" dirty="0" smtClean="0">
                <a:solidFill>
                  <a:srgbClr val="FF0000"/>
                </a:solidFill>
                <a:latin typeface="Aparajita" pitchFamily="34" charset="0"/>
                <a:cs typeface="B Kamran" pitchFamily="2" charset="-78"/>
              </a:rPr>
              <a:t> نمی شود گذاشت.</a:t>
            </a:r>
          </a:p>
        </p:txBody>
      </p:sp>
      <p:sp>
        <p:nvSpPr>
          <p:cNvPr id="18440" name="Text Box 12"/>
          <p:cNvSpPr txBox="1">
            <a:spLocks noChangeArrowheads="1"/>
          </p:cNvSpPr>
          <p:nvPr/>
        </p:nvSpPr>
        <p:spPr bwMode="auto">
          <a:xfrm>
            <a:off x="2916238" y="188963"/>
            <a:ext cx="312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b="1" smtClean="0">
                <a:solidFill>
                  <a:srgbClr val="FFFF99"/>
                </a:solidFill>
                <a:cs typeface="B Kamran" pitchFamily="2" charset="-78"/>
              </a:rPr>
              <a:t>Separation Anxiety Disorder</a:t>
            </a:r>
          </a:p>
        </p:txBody>
      </p:sp>
    </p:spTree>
    <p:extLst>
      <p:ext uri="{BB962C8B-B14F-4D97-AF65-F5344CB8AC3E}">
        <p14:creationId xmlns:p14="http://schemas.microsoft.com/office/powerpoint/2010/main" val="429071836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31</a:t>
            </a:fld>
            <a:endParaRPr lang="en-US">
              <a:solidFill>
                <a:prstClr val="black">
                  <a:tint val="75000"/>
                </a:prstClr>
              </a:solidFill>
            </a:endParaRPr>
          </a:p>
        </p:txBody>
      </p:sp>
      <p:sp>
        <p:nvSpPr>
          <p:cNvPr id="3" name="Rectangle 2"/>
          <p:cNvSpPr/>
          <p:nvPr/>
        </p:nvSpPr>
        <p:spPr>
          <a:xfrm>
            <a:off x="405283" y="3068960"/>
            <a:ext cx="5472973" cy="923330"/>
          </a:xfrm>
          <a:prstGeom prst="rect">
            <a:avLst/>
          </a:prstGeom>
        </p:spPr>
        <p:txBody>
          <a:bodyPr wrap="none">
            <a:spAutoFit/>
          </a:bodyPr>
          <a:lstStyle/>
          <a:p>
            <a:r>
              <a:rPr lang="fa-IR" altLang="ar-SA" sz="5400" dirty="0" smtClean="0">
                <a:solidFill>
                  <a:srgbClr val="000066"/>
                </a:solidFill>
                <a:cs typeface="B Nazanin" pitchFamily="2" charset="-78"/>
              </a:rPr>
              <a:t>اختلال اضطراب فراگیر</a:t>
            </a:r>
            <a:endParaRPr lang="fa-IR" sz="5400" dirty="0"/>
          </a:p>
        </p:txBody>
      </p:sp>
      <p:sp>
        <p:nvSpPr>
          <p:cNvPr id="4" name="Rectangle 3">
            <a:hlinkClick r:id="rId3" action="ppaction://hlinkfile"/>
          </p:cNvPr>
          <p:cNvSpPr/>
          <p:nvPr/>
        </p:nvSpPr>
        <p:spPr>
          <a:xfrm>
            <a:off x="611560" y="5517232"/>
            <a:ext cx="612668" cy="397032"/>
          </a:xfrm>
          <a:prstGeom prst="rect">
            <a:avLst/>
          </a:prstGeom>
        </p:spPr>
        <p:txBody>
          <a:bodyPr wrap="none">
            <a:spAutoFit/>
          </a:bodyPr>
          <a:lstStyle/>
          <a:p>
            <a:pPr lvl="0" algn="just" fontAlgn="base">
              <a:lnSpc>
                <a:spcPct val="110000"/>
              </a:lnSpc>
              <a:spcBef>
                <a:spcPct val="0"/>
              </a:spcBef>
              <a:spcAft>
                <a:spcPct val="0"/>
              </a:spcAft>
            </a:pPr>
            <a:r>
              <a:rPr lang="fa-IR" altLang="ar-SA" dirty="0" smtClean="0">
                <a:solidFill>
                  <a:srgbClr val="000066"/>
                </a:solidFill>
                <a:cs typeface="B Nazanin" pitchFamily="2" charset="-78"/>
              </a:rPr>
              <a:t>کلیپ</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259308179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90DA021D-B17D-4639-B8AC-6CCFCE451BB6}" type="slidenum">
              <a:rPr lang="ar-SA" sz="1400" smtClean="0">
                <a:solidFill>
                  <a:prstClr val="black"/>
                </a:solidFill>
              </a:rPr>
              <a:pPr rtl="0" fontAlgn="base">
                <a:spcBef>
                  <a:spcPct val="0"/>
                </a:spcBef>
                <a:spcAft>
                  <a:spcPct val="0"/>
                </a:spcAft>
              </a:pPr>
              <a:t>32</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150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1509" name="Group 4"/>
          <p:cNvGrpSpPr>
            <a:grpSpLocks/>
          </p:cNvGrpSpPr>
          <p:nvPr/>
        </p:nvGrpSpPr>
        <p:grpSpPr bwMode="auto">
          <a:xfrm>
            <a:off x="533400" y="101650"/>
            <a:ext cx="8229600" cy="87313"/>
            <a:chOff x="0" y="900"/>
            <a:chExt cx="5759" cy="96"/>
          </a:xfrm>
        </p:grpSpPr>
        <p:sp>
          <p:nvSpPr>
            <p:cNvPr id="2151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151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151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611213" y="1052539"/>
            <a:ext cx="7921625" cy="4967514"/>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Generalized </a:t>
            </a:r>
            <a:r>
              <a:rPr lang="en-US" altLang="ar-SA" sz="1800" b="1" dirty="0">
                <a:solidFill>
                  <a:srgbClr val="FF0000"/>
                </a:solidFill>
                <a:cs typeface="B Nazanin" panose="00000400000000000000" pitchFamily="2" charset="-78"/>
              </a:rPr>
              <a:t>Anxiety </a:t>
            </a:r>
            <a:r>
              <a:rPr lang="en-US" altLang="ar-SA" sz="1800" b="1" dirty="0" smtClean="0">
                <a:solidFill>
                  <a:srgbClr val="FF0000"/>
                </a:solidFill>
                <a:cs typeface="B Nazanin" panose="00000400000000000000" pitchFamily="2" charset="-78"/>
              </a:rPr>
              <a:t>Disorder (GAD)</a:t>
            </a:r>
            <a:endParaRPr lang="fa-IR" altLang="ar-SA" sz="1800" b="1" dirty="0" smtClean="0">
              <a:solidFill>
                <a:srgbClr val="FF0000"/>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800" dirty="0">
              <a:solidFill>
                <a:srgbClr val="000066"/>
              </a:solidFill>
              <a:cs typeface="B Nazanin" panose="00000400000000000000" pitchFamily="2" charset="-78"/>
            </a:endParaRPr>
          </a:p>
          <a:p>
            <a:pPr marL="342900" indent="-342900" algn="just" fontAlgn="base">
              <a:lnSpc>
                <a:spcPct val="110000"/>
              </a:lnSpc>
              <a:spcBef>
                <a:spcPct val="0"/>
              </a:spcBef>
              <a:spcAft>
                <a:spcPct val="0"/>
              </a:spcAft>
              <a:buFontTx/>
              <a:buAutoNum type="alphaUcParenR"/>
              <a:defRPr/>
            </a:pPr>
            <a:r>
              <a:rPr lang="fa-IR" altLang="ar-SA" sz="1800" dirty="0" smtClean="0">
                <a:solidFill>
                  <a:srgbClr val="000066"/>
                </a:solidFill>
                <a:cs typeface="B Nazanin" panose="00000400000000000000" pitchFamily="2" charset="-78"/>
              </a:rPr>
              <a:t>اضطراب و نگرانی (اضطراب توأم با دلواپسی) درباره تعدادی از رویدادها یا فعالیت ها (از قبیل عملکرد شغلی یا تحصیلی) که بیشتر روزها برای مدت دست کم شش ماه ظاهر می شود.  شدید و نامتناسب با سطوح رشد فرد، نسبت به جدایی از خانه یا کسانی که به آنان دلبستگی دارد، که در دست کم سه مورد از موارد زیر مشخص می شود.</a:t>
            </a:r>
          </a:p>
          <a:p>
            <a:pPr marL="342900" indent="-342900" algn="just" fontAlgn="base">
              <a:lnSpc>
                <a:spcPct val="110000"/>
              </a:lnSpc>
              <a:spcBef>
                <a:spcPct val="0"/>
              </a:spcBef>
              <a:spcAft>
                <a:spcPct val="0"/>
              </a:spcAft>
              <a:buFontTx/>
              <a:buAutoNum type="alphaUcParenR"/>
              <a:defRPr/>
            </a:pPr>
            <a:r>
              <a:rPr lang="fa-IR" altLang="ar-SA" sz="1800" dirty="0" smtClean="0">
                <a:solidFill>
                  <a:srgbClr val="000066"/>
                </a:solidFill>
                <a:cs typeface="B Nazanin" panose="00000400000000000000" pitchFamily="2" charset="-78"/>
              </a:rPr>
              <a:t>کنترل نگرانی برای شخص دشوار است.</a:t>
            </a:r>
          </a:p>
          <a:p>
            <a:pPr marL="342900" indent="-342900" algn="just" fontAlgn="base">
              <a:lnSpc>
                <a:spcPct val="110000"/>
              </a:lnSpc>
              <a:spcBef>
                <a:spcPct val="0"/>
              </a:spcBef>
              <a:spcAft>
                <a:spcPct val="0"/>
              </a:spcAft>
              <a:buFontTx/>
              <a:buAutoNum type="alphaUcParenR"/>
              <a:defRPr/>
            </a:pPr>
            <a:r>
              <a:rPr lang="fa-IR" altLang="ar-SA" sz="1800" dirty="0" smtClean="0">
                <a:solidFill>
                  <a:srgbClr val="000066"/>
                </a:solidFill>
                <a:cs typeface="B Nazanin" panose="00000400000000000000" pitchFamily="2" charset="-78"/>
              </a:rPr>
              <a:t>اضطراب و نگرانی با دست کم سه مورد از شش نشانه زیر هراه می شود (حداقل برخی نشانه ها در بیشتر ایام برای مدت حداقل شش ماه وجود دارند)</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*در مورد کودکان، وجود تنها یک مورد کافی است.</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1- بی قراری یا هیجان زدگی یا عصبانی بودن</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2- خیلی زود خسته شدن</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3- در تمرکز مشکل داشتن</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4- تحریک پذیری</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5- انقباض عضلانی</a:t>
            </a:r>
          </a:p>
          <a:p>
            <a:pPr algn="just" fontAlgn="base">
              <a:lnSpc>
                <a:spcPct val="110000"/>
              </a:lnSpc>
              <a:spcBef>
                <a:spcPct val="0"/>
              </a:spcBef>
              <a:spcAft>
                <a:spcPct val="0"/>
              </a:spcAft>
              <a:buFontTx/>
              <a:buNone/>
              <a:defRPr/>
            </a:pPr>
            <a:r>
              <a:rPr lang="fa-IR" altLang="ar-SA" sz="1800" dirty="0" smtClean="0">
                <a:solidFill>
                  <a:srgbClr val="000066"/>
                </a:solidFill>
                <a:cs typeface="B Nazanin" panose="00000400000000000000" pitchFamily="2" charset="-78"/>
              </a:rPr>
              <a:t>6-اختلال خواب (مشکل در به خواب رفتن یا خواب توام با بی قراری و نارضایتی)</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Generalized Anxiety Disorder</a:t>
            </a:r>
          </a:p>
        </p:txBody>
      </p:sp>
    </p:spTree>
    <p:extLst>
      <p:ext uri="{BB962C8B-B14F-4D97-AF65-F5344CB8AC3E}">
        <p14:creationId xmlns:p14="http://schemas.microsoft.com/office/powerpoint/2010/main" val="342545342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90DA021D-B17D-4639-B8AC-6CCFCE451BB6}" type="slidenum">
              <a:rPr lang="ar-SA" sz="1400" smtClean="0">
                <a:solidFill>
                  <a:prstClr val="black"/>
                </a:solidFill>
              </a:rPr>
              <a:pPr rtl="0" fontAlgn="base">
                <a:spcBef>
                  <a:spcPct val="0"/>
                </a:spcBef>
                <a:spcAft>
                  <a:spcPct val="0"/>
                </a:spcAft>
              </a:pPr>
              <a:t>33</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150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1509" name="Group 4"/>
          <p:cNvGrpSpPr>
            <a:grpSpLocks/>
          </p:cNvGrpSpPr>
          <p:nvPr/>
        </p:nvGrpSpPr>
        <p:grpSpPr bwMode="auto">
          <a:xfrm>
            <a:off x="533400" y="101650"/>
            <a:ext cx="8229600" cy="87313"/>
            <a:chOff x="0" y="900"/>
            <a:chExt cx="5759" cy="96"/>
          </a:xfrm>
        </p:grpSpPr>
        <p:sp>
          <p:nvSpPr>
            <p:cNvPr id="2151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151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151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611213" y="1052539"/>
            <a:ext cx="7921625" cy="374871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Generalized </a:t>
            </a:r>
            <a:r>
              <a:rPr lang="en-US" altLang="ar-SA" sz="1800" b="1" dirty="0">
                <a:solidFill>
                  <a:srgbClr val="FF0000"/>
                </a:solidFill>
                <a:cs typeface="B Nazanin" panose="00000400000000000000" pitchFamily="2" charset="-78"/>
              </a:rPr>
              <a:t>Anxiety </a:t>
            </a:r>
            <a:r>
              <a:rPr lang="en-US" altLang="ar-SA" sz="1800" b="1" dirty="0" smtClean="0">
                <a:solidFill>
                  <a:srgbClr val="FF0000"/>
                </a:solidFill>
                <a:cs typeface="B Nazanin" panose="00000400000000000000" pitchFamily="2" charset="-78"/>
              </a:rPr>
              <a:t>Disorder (GAD)</a:t>
            </a:r>
            <a:endParaRPr lang="fa-IR" altLang="ar-SA" sz="1800" b="1" dirty="0" smtClean="0">
              <a:solidFill>
                <a:srgbClr val="FF0000"/>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800" dirty="0">
              <a:solidFill>
                <a:srgbClr val="000066"/>
              </a:solidFill>
              <a:cs typeface="B Nazanin" panose="00000400000000000000" pitchFamily="2" charset="-78"/>
            </a:endParaRP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D : </a:t>
            </a:r>
            <a:r>
              <a:rPr lang="fa-IR" altLang="ar-SA" sz="1800" dirty="0">
                <a:solidFill>
                  <a:srgbClr val="000066"/>
                </a:solidFill>
                <a:cs typeface="B Nazanin" panose="00000400000000000000" pitchFamily="2" charset="-78"/>
              </a:rPr>
              <a:t>اضطراب، نگراني، يا نشانه هاي جسماني، باعث مي شوند فرد به رنج يا نابساماني شديد باليني در عملكرد اجتماعي، شغلي، يا ساير جنبه هاي مهم زندگي دچار شود.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E : </a:t>
            </a:r>
            <a:r>
              <a:rPr lang="fa-IR" altLang="ar-SA" sz="1800" dirty="0">
                <a:solidFill>
                  <a:srgbClr val="000066"/>
                </a:solidFill>
                <a:cs typeface="B Nazanin" panose="00000400000000000000" pitchFamily="2" charset="-78"/>
              </a:rPr>
              <a:t>اين اختلال ناشي از تأثيرات فيزيولوژيكي مواد )مثل سوء مصرف مواد مخدر، دارو( يا بيماري جسماني ديگر نيست مثل پركاري تيروئيد)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F : </a:t>
            </a:r>
            <a:r>
              <a:rPr lang="fa-IR" altLang="ar-SA" sz="1800" dirty="0">
                <a:solidFill>
                  <a:srgbClr val="000066"/>
                </a:solidFill>
                <a:cs typeface="B Nazanin" panose="00000400000000000000" pitchFamily="2" charset="-78"/>
              </a:rPr>
              <a:t>اين اختلال با اختلال رواني ديگر بهتر توجيه نمي شود (مثل اضطراب يا نگراني در مورد داشتن حملات وحشتزدگي در اختلال وحشتزدگي، ارزيابي منفي در اختلال اضطراب اجتماعي ، آلودگي با وسواس هاي ديگر در اختلال وسواس فكري - عملي، جدايي از اشخاصي دلبسته، اختلال اضطراب جدايي، يادآور هاي وقايع آسيب زا در اختلال استرس پس از آسيب، افزايش وزن در بي اشتهايي عصبي، شكايت هاي جسماني در اختلال نشانه جسماني، تصور نقص هايي در ظاهر در اختلال بدشكلي بدن، مبتلا بودن به بمياري جدي در اختلال اضطراب بيماري، يا محتواي عقايد هذياني در اسكيزوفرني يا اختلال هذياني).</a:t>
            </a:r>
            <a:endParaRPr lang="fa-IR" altLang="ar-SA" sz="1800" dirty="0" smtClean="0">
              <a:solidFill>
                <a:srgbClr val="000066"/>
              </a:solidFill>
              <a:cs typeface="B Nazanin" panose="00000400000000000000" pitchFamily="2" charset="-78"/>
            </a:endParaRP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Generalized Anxiety Disorder</a:t>
            </a:r>
          </a:p>
        </p:txBody>
      </p:sp>
    </p:spTree>
    <p:extLst>
      <p:ext uri="{BB962C8B-B14F-4D97-AF65-F5344CB8AC3E}">
        <p14:creationId xmlns:p14="http://schemas.microsoft.com/office/powerpoint/2010/main" val="275682858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C37E0E1B-DF54-4114-8C93-0013548153D2}" type="slidenum">
              <a:rPr lang="ar-SA" sz="1400" smtClean="0">
                <a:solidFill>
                  <a:prstClr val="black"/>
                </a:solidFill>
              </a:rPr>
              <a:pPr rtl="0" fontAlgn="base">
                <a:spcBef>
                  <a:spcPct val="0"/>
                </a:spcBef>
                <a:spcAft>
                  <a:spcPct val="0"/>
                </a:spcAft>
              </a:pPr>
              <a:t>34</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048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0485" name="Group 4"/>
          <p:cNvGrpSpPr>
            <a:grpSpLocks/>
          </p:cNvGrpSpPr>
          <p:nvPr/>
        </p:nvGrpSpPr>
        <p:grpSpPr bwMode="auto">
          <a:xfrm>
            <a:off x="533400" y="101650"/>
            <a:ext cx="8229600" cy="87313"/>
            <a:chOff x="0" y="900"/>
            <a:chExt cx="5759" cy="96"/>
          </a:xfrm>
        </p:grpSpPr>
        <p:sp>
          <p:nvSpPr>
            <p:cNvPr id="20489"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0490"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048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0487" name="Text Box 9"/>
          <p:cNvSpPr txBox="1">
            <a:spLocks noChangeArrowheads="1"/>
          </p:cNvSpPr>
          <p:nvPr/>
        </p:nvSpPr>
        <p:spPr bwMode="auto">
          <a:xfrm>
            <a:off x="611213" y="1312889"/>
            <a:ext cx="7921625" cy="4154984"/>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 همراه با </a:t>
            </a: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یکی از شایعترین اختلالات اضطرابی کودکان است (3 تا 6 درصد تمام کودکان).</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شیوع جنسیتی برابر دارد.</a:t>
            </a:r>
          </a:p>
          <a:p>
            <a:pPr algn="just" fontAlgn="base">
              <a:lnSpc>
                <a:spcPct val="110000"/>
              </a:lnSpc>
              <a:spcBef>
                <a:spcPct val="0"/>
              </a:spcBef>
              <a:spcAft>
                <a:spcPct val="0"/>
              </a:spcAft>
              <a:buFont typeface="Wingdings" pitchFamily="2" charset="2"/>
              <a:buChar char="ü"/>
            </a:pPr>
            <a:r>
              <a:rPr lang="en-US" altLang="ar-SA" sz="2400" dirty="0" smtClean="0">
                <a:solidFill>
                  <a:srgbClr val="000066"/>
                </a:solidFill>
                <a:latin typeface="Aparajita" pitchFamily="34" charset="0"/>
                <a:cs typeface="B Kamran" pitchFamily="2" charset="-78"/>
              </a:rPr>
              <a:t>SAD</a:t>
            </a:r>
            <a:r>
              <a:rPr lang="fa-IR" altLang="ar-SA" sz="2400" dirty="0" smtClean="0">
                <a:solidFill>
                  <a:srgbClr val="000066"/>
                </a:solidFill>
                <a:latin typeface="Aparajita" pitchFamily="34" charset="0"/>
                <a:cs typeface="B Kamran" pitchFamily="2" charset="-78"/>
              </a:rPr>
              <a:t> و </a:t>
            </a:r>
            <a:r>
              <a:rPr lang="en-US" altLang="ar-SA" sz="2400" dirty="0" smtClean="0">
                <a:solidFill>
                  <a:srgbClr val="000066"/>
                </a:solidFill>
                <a:latin typeface="Aparajita" pitchFamily="34" charset="0"/>
                <a:cs typeface="B Kamran" pitchFamily="2" charset="-78"/>
              </a:rPr>
              <a:t>ADHD</a:t>
            </a:r>
            <a:r>
              <a:rPr lang="fa-IR" altLang="ar-SA" sz="2400" dirty="0" smtClean="0">
                <a:solidFill>
                  <a:srgbClr val="000066"/>
                </a:solidFill>
                <a:latin typeface="Aparajita" pitchFamily="34" charset="0"/>
                <a:cs typeface="B Kamran" pitchFamily="2" charset="-78"/>
              </a:rPr>
              <a:t> متداولترین اختلالات همایند </a:t>
            </a: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 در کودکان 5 الی 11 سال است.</a:t>
            </a:r>
            <a:endParaRPr lang="en-US" altLang="ar-SA" sz="2400" dirty="0" smtClean="0">
              <a:solidFill>
                <a:srgbClr val="000066"/>
              </a:solidFill>
              <a:latin typeface="Aparajita" pitchFamily="34" charset="0"/>
              <a:cs typeface="B Kamran" pitchFamily="2" charset="-78"/>
            </a:endParaRP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همایندی </a:t>
            </a:r>
            <a:r>
              <a:rPr lang="en-US" altLang="ar-SA" sz="2400" dirty="0" smtClean="0">
                <a:solidFill>
                  <a:srgbClr val="000066"/>
                </a:solidFill>
                <a:latin typeface="Aparajita" pitchFamily="34" charset="0"/>
                <a:cs typeface="B Kamran" pitchFamily="2" charset="-78"/>
              </a:rPr>
              <a:t>MDD</a:t>
            </a:r>
            <a:r>
              <a:rPr lang="fa-IR" altLang="ar-SA" sz="2400" dirty="0" smtClean="0">
                <a:solidFill>
                  <a:srgbClr val="000066"/>
                </a:solidFill>
                <a:latin typeface="Aparajita" pitchFamily="34" charset="0"/>
                <a:cs typeface="B Kamran" pitchFamily="2" charset="-78"/>
              </a:rPr>
              <a:t> و فوبی های خاص با </a:t>
            </a: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 در کودکان بزرگتر متداولتر است.</a:t>
            </a:r>
          </a:p>
          <a:p>
            <a:pPr algn="just" fontAlgn="base">
              <a:lnSpc>
                <a:spcPct val="110000"/>
              </a:lnSpc>
              <a:spcBef>
                <a:spcPct val="0"/>
              </a:spcBef>
              <a:spcAft>
                <a:spcPct val="0"/>
              </a:spcAft>
              <a:buFont typeface="Wingdings" pitchFamily="2" charset="2"/>
              <a:buChar char="ü"/>
            </a:pPr>
            <a:r>
              <a:rPr lang="en-US" altLang="ar-SA" sz="2400" dirty="0" smtClean="0">
                <a:solidFill>
                  <a:srgbClr val="FF0000"/>
                </a:solidFill>
                <a:latin typeface="Aparajita" pitchFamily="34" charset="0"/>
                <a:cs typeface="B Kamran" pitchFamily="2" charset="-78"/>
              </a:rPr>
              <a:t>GAD</a:t>
            </a:r>
            <a:r>
              <a:rPr lang="fa-IR" altLang="ar-SA" sz="2400" dirty="0" smtClean="0">
                <a:solidFill>
                  <a:srgbClr val="FF0000"/>
                </a:solidFill>
                <a:latin typeface="Aparajita" pitchFamily="34" charset="0"/>
                <a:cs typeface="B Kamran" pitchFamily="2" charset="-78"/>
              </a:rPr>
              <a:t> افزایش خطر خودکشی، ناسازگاری اجتماعی و عزت نفس پایین را در پی دارد. </a:t>
            </a:r>
          </a:p>
          <a:p>
            <a:pPr algn="just" fontAlgn="base">
              <a:lnSpc>
                <a:spcPct val="110000"/>
              </a:lnSpc>
              <a:spcBef>
                <a:spcPct val="0"/>
              </a:spcBef>
              <a:spcAft>
                <a:spcPct val="0"/>
              </a:spcAft>
              <a:buFont typeface="Wingdings" pitchFamily="2" charset="2"/>
              <a:buChar char="ü"/>
            </a:pP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 در خانواده های کم جمعیت و در طبقات اجتماعی بالا شایعتر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متوسط سن شروع </a:t>
            </a:r>
            <a:r>
              <a:rPr lang="en-US" altLang="ar-SA" sz="2400" dirty="0" smtClean="0">
                <a:solidFill>
                  <a:srgbClr val="000066"/>
                </a:solidFill>
                <a:latin typeface="Aparajita" pitchFamily="34" charset="0"/>
                <a:cs typeface="B Kamran" pitchFamily="2" charset="-78"/>
              </a:rPr>
              <a:t>GAD</a:t>
            </a:r>
            <a:r>
              <a:rPr lang="fa-IR" altLang="ar-SA" sz="2400" dirty="0" smtClean="0">
                <a:solidFill>
                  <a:srgbClr val="000066"/>
                </a:solidFill>
                <a:latin typeface="Aparajita" pitchFamily="34" charset="0"/>
                <a:cs typeface="B Kamran" pitchFamily="2" charset="-78"/>
              </a:rPr>
              <a:t> حدود 10 تا 14 سالگی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کودکان بزرگتر تعداد نشانه های بیشتر و سطوح اضطراب بالاتری را به نسبت کودکان خردسال بروز می دهند.</a:t>
            </a:r>
          </a:p>
        </p:txBody>
      </p:sp>
      <p:sp>
        <p:nvSpPr>
          <p:cNvPr id="20488" name="Text Box 12"/>
          <p:cNvSpPr txBox="1">
            <a:spLocks noChangeArrowheads="1"/>
          </p:cNvSpPr>
          <p:nvPr/>
        </p:nvSpPr>
        <p:spPr bwMode="auto">
          <a:xfrm>
            <a:off x="2916238" y="188963"/>
            <a:ext cx="312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b="1" smtClean="0">
                <a:solidFill>
                  <a:srgbClr val="FFFF99"/>
                </a:solidFill>
                <a:cs typeface="B Kamran" pitchFamily="2" charset="-78"/>
              </a:rPr>
              <a:t>Generalized Anxiety Disorder</a:t>
            </a:r>
          </a:p>
        </p:txBody>
      </p:sp>
    </p:spTree>
    <p:extLst>
      <p:ext uri="{BB962C8B-B14F-4D97-AF65-F5344CB8AC3E}">
        <p14:creationId xmlns:p14="http://schemas.microsoft.com/office/powerpoint/2010/main" val="143627960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35</a:t>
            </a:fld>
            <a:endParaRPr lang="en-US">
              <a:solidFill>
                <a:prstClr val="black">
                  <a:tint val="75000"/>
                </a:prstClr>
              </a:solidFill>
            </a:endParaRPr>
          </a:p>
        </p:txBody>
      </p:sp>
      <p:sp>
        <p:nvSpPr>
          <p:cNvPr id="3" name="Rectangle 2"/>
          <p:cNvSpPr/>
          <p:nvPr/>
        </p:nvSpPr>
        <p:spPr>
          <a:xfrm rot="16200000">
            <a:off x="5501441" y="2067520"/>
            <a:ext cx="4681089" cy="923330"/>
          </a:xfrm>
          <a:prstGeom prst="rect">
            <a:avLst/>
          </a:prstGeom>
        </p:spPr>
        <p:txBody>
          <a:bodyPr wrap="none">
            <a:spAutoFit/>
          </a:bodyPr>
          <a:lstStyle/>
          <a:p>
            <a:r>
              <a:rPr lang="fa-IR" altLang="ar-SA" sz="5400" dirty="0" smtClean="0">
                <a:solidFill>
                  <a:srgbClr val="000066"/>
                </a:solidFill>
                <a:cs typeface="B Nazanin" pitchFamily="2" charset="-78"/>
              </a:rPr>
              <a:t>اختلال ترس مرضی</a:t>
            </a:r>
            <a:endParaRPr lang="fa-IR" sz="5400" dirty="0">
              <a:solidFill>
                <a:prstClr val="black"/>
              </a:solidFill>
            </a:endParaRPr>
          </a:p>
        </p:txBody>
      </p:sp>
    </p:spTree>
    <p:extLst>
      <p:ext uri="{BB962C8B-B14F-4D97-AF65-F5344CB8AC3E}">
        <p14:creationId xmlns:p14="http://schemas.microsoft.com/office/powerpoint/2010/main" val="219804212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6E1D3662-B4A1-46FB-A669-007C86C6AB42}" type="slidenum">
              <a:rPr lang="ar-SA" sz="1400" smtClean="0">
                <a:solidFill>
                  <a:prstClr val="black"/>
                </a:solidFill>
              </a:rPr>
              <a:pPr rtl="0" fontAlgn="base">
                <a:spcBef>
                  <a:spcPct val="0"/>
                </a:spcBef>
                <a:spcAft>
                  <a:spcPct val="0"/>
                </a:spcAft>
              </a:pPr>
              <a:t>36</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355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3557" name="Group 4"/>
          <p:cNvGrpSpPr>
            <a:grpSpLocks/>
          </p:cNvGrpSpPr>
          <p:nvPr/>
        </p:nvGrpSpPr>
        <p:grpSpPr bwMode="auto">
          <a:xfrm>
            <a:off x="533400" y="101650"/>
            <a:ext cx="8229600" cy="87313"/>
            <a:chOff x="0" y="900"/>
            <a:chExt cx="5759" cy="96"/>
          </a:xfrm>
        </p:grpSpPr>
        <p:sp>
          <p:nvSpPr>
            <p:cNvPr id="2356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356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355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611187" y="740608"/>
            <a:ext cx="7921625" cy="5881610"/>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Specific Phobia</a:t>
            </a:r>
            <a:endParaRPr lang="fa-IR" altLang="ar-SA" sz="1800" b="1" dirty="0" smtClean="0">
              <a:solidFill>
                <a:srgbClr val="FF0000"/>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800" dirty="0">
              <a:solidFill>
                <a:srgbClr val="000066"/>
              </a:solidFill>
              <a:cs typeface="B Nazanin" panose="00000400000000000000" pitchFamily="2" charset="-78"/>
            </a:endParaRP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A : </a:t>
            </a:r>
            <a:r>
              <a:rPr lang="fa-IR" altLang="ar-SA" sz="1800" dirty="0">
                <a:solidFill>
                  <a:srgbClr val="000066"/>
                </a:solidFill>
                <a:cs typeface="B Nazanin" panose="00000400000000000000" pitchFamily="2" charset="-78"/>
              </a:rPr>
              <a:t>ترس يا اضطراب محسوس در مورد موضوع يا موفعيتي خاص مثل پرواز كردن، ارتفاعات، حيوانات، تزريق شدن،</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ديدن خون</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توجه: در كودكان، اين ترس يا اضطراب ممكن است با گريه، قشقرق ها، ميخكوب شدن، يا چسبيدن ابراز شود.</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B : </a:t>
            </a:r>
            <a:r>
              <a:rPr lang="fa-IR" altLang="ar-SA" sz="1800" dirty="0">
                <a:solidFill>
                  <a:srgbClr val="000066"/>
                </a:solidFill>
                <a:cs typeface="B Nazanin" panose="00000400000000000000" pitchFamily="2" charset="-78"/>
              </a:rPr>
              <a:t>موضوع يا موقعيت فوبيك تقريبا هميشه ترس يا اضطراب فوري را تحريك مي كند.</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C : </a:t>
            </a:r>
            <a:r>
              <a:rPr lang="fa-IR" altLang="ar-SA" sz="1800" dirty="0">
                <a:solidFill>
                  <a:srgbClr val="000066"/>
                </a:solidFill>
                <a:cs typeface="B Nazanin" panose="00000400000000000000" pitchFamily="2" charset="-78"/>
              </a:rPr>
              <a:t>از موضوع يا موقعيت فوبيك به طور فعال با ترس يا اضطراب شديد اجتناب مي شود.</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D : </a:t>
            </a:r>
            <a:r>
              <a:rPr lang="fa-IR" altLang="ar-SA" sz="1800" dirty="0">
                <a:solidFill>
                  <a:srgbClr val="000066"/>
                </a:solidFill>
                <a:cs typeface="B Nazanin" panose="00000400000000000000" pitchFamily="2" charset="-78"/>
              </a:rPr>
              <a:t>اين ترس يا اضطراب با ايجاد خطر واقعي توسط موضوع يا موقعيت خاص و زمينه اجتماعي- فرهنگي تناسب ندارد.</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E : </a:t>
            </a:r>
            <a:r>
              <a:rPr lang="fa-IR" altLang="ar-SA" sz="1800" dirty="0">
                <a:solidFill>
                  <a:srgbClr val="000066"/>
                </a:solidFill>
                <a:cs typeface="B Nazanin" panose="00000400000000000000" pitchFamily="2" charset="-78"/>
              </a:rPr>
              <a:t>اين ترس، اضطراب، يا اجتناب مداوم است، معمولا ٦ ماه يا بيشتر ادامه مي يابد.</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F : </a:t>
            </a:r>
            <a:r>
              <a:rPr lang="fa-IR" altLang="ar-SA" sz="1800" dirty="0">
                <a:solidFill>
                  <a:srgbClr val="000066"/>
                </a:solidFill>
                <a:cs typeface="B Nazanin" panose="00000400000000000000" pitchFamily="2" charset="-78"/>
              </a:rPr>
              <a:t>اين ترس، اضطراب، يا اجتناب ناراحتي يا اختلال قابل ملاحظه باليني در عملكرد اجتماعي، شغلي يا زمينه هاي مهم ديگر عملكرد ايجاد مي كند.</a:t>
            </a:r>
          </a:p>
          <a:p>
            <a:pPr marL="342900" indent="-342900" algn="just" fontAlgn="base">
              <a:lnSpc>
                <a:spcPct val="110000"/>
              </a:lnSpc>
              <a:spcBef>
                <a:spcPct val="0"/>
              </a:spcBef>
              <a:spcAft>
                <a:spcPct val="0"/>
              </a:spcAft>
              <a:buFontTx/>
              <a:buAutoNum type="alphaUcParenR"/>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G : </a:t>
            </a:r>
            <a:r>
              <a:rPr lang="fa-IR" altLang="ar-SA" sz="1800" dirty="0">
                <a:solidFill>
                  <a:srgbClr val="000066"/>
                </a:solidFill>
                <a:cs typeface="B Nazanin" panose="00000400000000000000" pitchFamily="2" charset="-78"/>
              </a:rPr>
              <a:t>اين اختلال با نشانه هاي اختلال رواني ديگر، ازجمله ترس، اضطراب، و اجتناب از موقعيت هاي مرتبط با نشانه هاي شبه وحشتزدگي يا نشانه هاي ناتوان كننده ديگر (مثلا در آگورافوبي)؛ موضوعات يا موقعيت هاي مرتبط با وسواس هاي فكري 0مثلاً در اختلال وسواس فكري – عملي)؛ يادآورهاي وقايع آسيب زا (مثلا در اختلال استرس پس از آسيب)؛ جدايي از خانه يا اشخاص دلبسته (مثلا در اختلال اضطراب جدايي)؛ يا موقعيت هاي اجتماعي (مثلا در اختلال اضطراب اجتماعي9 بهتر توجيه نمي شود.</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Specific Phobia</a:t>
            </a:r>
          </a:p>
        </p:txBody>
      </p:sp>
    </p:spTree>
    <p:extLst>
      <p:ext uri="{BB962C8B-B14F-4D97-AF65-F5344CB8AC3E}">
        <p14:creationId xmlns:p14="http://schemas.microsoft.com/office/powerpoint/2010/main" val="228438023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1FE0C85E-0EF6-4E47-BEEE-6C61EBF9102A}" type="slidenum">
              <a:rPr lang="ar-SA" sz="1400" smtClean="0">
                <a:solidFill>
                  <a:prstClr val="black"/>
                </a:solidFill>
              </a:rPr>
              <a:pPr rtl="0" fontAlgn="base">
                <a:spcBef>
                  <a:spcPct val="0"/>
                </a:spcBef>
                <a:spcAft>
                  <a:spcPct val="0"/>
                </a:spcAft>
              </a:pPr>
              <a:t>37</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2532"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2533" name="Group 4"/>
          <p:cNvGrpSpPr>
            <a:grpSpLocks/>
          </p:cNvGrpSpPr>
          <p:nvPr/>
        </p:nvGrpSpPr>
        <p:grpSpPr bwMode="auto">
          <a:xfrm>
            <a:off x="533400" y="101650"/>
            <a:ext cx="8229600" cy="87313"/>
            <a:chOff x="0" y="900"/>
            <a:chExt cx="5759" cy="96"/>
          </a:xfrm>
        </p:grpSpPr>
        <p:sp>
          <p:nvSpPr>
            <p:cNvPr id="22537"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2538"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2534"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611213" y="1312905"/>
            <a:ext cx="7921625" cy="4967514"/>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marL="285750" indent="-285750" algn="just" fontAlgn="base">
              <a:lnSpc>
                <a:spcPct val="110000"/>
              </a:lnSpc>
              <a:spcBef>
                <a:spcPct val="0"/>
              </a:spcBef>
              <a:spcAft>
                <a:spcPct val="0"/>
              </a:spcAft>
              <a:buFont typeface="Wingdings" panose="05000000000000000000" pitchFamily="2" charset="2"/>
              <a:buChar char="ü"/>
              <a:defRPr/>
            </a:pPr>
            <a:r>
              <a:rPr lang="fa-IR" altLang="ar-SA" sz="2400" dirty="0" smtClean="0">
                <a:solidFill>
                  <a:srgbClr val="000066"/>
                </a:solidFill>
                <a:latin typeface="Aparajita" panose="020B0604020202020204" pitchFamily="34" charset="0"/>
                <a:cs typeface="B Kamran" pitchFamily="2" charset="-78"/>
              </a:rPr>
              <a:t>بین 2 تا 4 درصد در کودکان هراس بیمارگونه وجود دارد که می توان آنرا </a:t>
            </a:r>
            <a:r>
              <a:rPr lang="en-US" altLang="ar-SA" sz="2400" dirty="0" smtClean="0">
                <a:solidFill>
                  <a:srgbClr val="000066"/>
                </a:solidFill>
                <a:latin typeface="Aparajita" panose="020B0604020202020204" pitchFamily="34" charset="0"/>
                <a:cs typeface="B Kamran" pitchFamily="2" charset="-78"/>
              </a:rPr>
              <a:t>Specific Phobia </a:t>
            </a:r>
            <a:r>
              <a:rPr lang="fa-IR" altLang="ar-SA" sz="2400" dirty="0" smtClean="0">
                <a:solidFill>
                  <a:srgbClr val="000066"/>
                </a:solidFill>
                <a:latin typeface="Aparajita" panose="020B0604020202020204" pitchFamily="34" charset="0"/>
                <a:cs typeface="B Kamran" pitchFamily="2" charset="-78"/>
              </a:rPr>
              <a:t> به حساب آورد.</a:t>
            </a:r>
          </a:p>
          <a:p>
            <a:pPr marL="285750" indent="-285750" algn="just" fontAlgn="base">
              <a:lnSpc>
                <a:spcPct val="110000"/>
              </a:lnSpc>
              <a:spcBef>
                <a:spcPct val="0"/>
              </a:spcBef>
              <a:spcAft>
                <a:spcPct val="0"/>
              </a:spcAft>
              <a:buFont typeface="Wingdings" panose="05000000000000000000" pitchFamily="2" charset="2"/>
              <a:buChar char="ü"/>
              <a:defRPr/>
            </a:pPr>
            <a:r>
              <a:rPr lang="en-US" altLang="ar-SA" sz="2400" dirty="0" smtClean="0">
                <a:solidFill>
                  <a:srgbClr val="000066"/>
                </a:solidFill>
                <a:latin typeface="Aparajita" panose="020B0604020202020204" pitchFamily="34" charset="0"/>
                <a:cs typeface="B Kamran" pitchFamily="2" charset="-78"/>
              </a:rPr>
              <a:t>Specific Phobia</a:t>
            </a:r>
            <a:r>
              <a:rPr lang="fa-IR" altLang="ar-SA" sz="2400" dirty="0" smtClean="0">
                <a:solidFill>
                  <a:srgbClr val="000066"/>
                </a:solidFill>
                <a:latin typeface="Aparajita" panose="020B0604020202020204" pitchFamily="34" charset="0"/>
                <a:cs typeface="B Kamran" pitchFamily="2" charset="-78"/>
              </a:rPr>
              <a:t> به ویژه </a:t>
            </a:r>
            <a:r>
              <a:rPr lang="en-US" altLang="ar-SA" sz="2400" dirty="0" smtClean="0">
                <a:solidFill>
                  <a:srgbClr val="000066"/>
                </a:solidFill>
                <a:latin typeface="Aparajita" panose="020B0604020202020204" pitchFamily="34" charset="0"/>
                <a:cs typeface="B Kamran" pitchFamily="2" charset="-78"/>
              </a:rPr>
              <a:t>Blood Phobia </a:t>
            </a:r>
            <a:r>
              <a:rPr lang="fa-IR" altLang="ar-SA" sz="2400" dirty="0" smtClean="0">
                <a:solidFill>
                  <a:srgbClr val="000066"/>
                </a:solidFill>
                <a:latin typeface="Aparajita" panose="020B0604020202020204" pitchFamily="34" charset="0"/>
                <a:cs typeface="B Kamran" pitchFamily="2" charset="-78"/>
              </a:rPr>
              <a:t> در دختران شایعتر از پسران است.</a:t>
            </a:r>
          </a:p>
          <a:p>
            <a:pPr marL="285750" indent="-285750" algn="just" fontAlgn="base">
              <a:lnSpc>
                <a:spcPct val="110000"/>
              </a:lnSpc>
              <a:spcBef>
                <a:spcPct val="0"/>
              </a:spcBef>
              <a:spcAft>
                <a:spcPct val="0"/>
              </a:spcAft>
              <a:buFont typeface="Wingdings" panose="05000000000000000000" pitchFamily="2" charset="2"/>
              <a:buChar char="ü"/>
              <a:defRPr/>
            </a:pPr>
            <a:r>
              <a:rPr lang="fa-IR" altLang="ar-SA" sz="2400" dirty="0" smtClean="0">
                <a:solidFill>
                  <a:srgbClr val="000066"/>
                </a:solidFill>
                <a:latin typeface="Aparajita" panose="020B0604020202020204" pitchFamily="34" charset="0"/>
                <a:cs typeface="B Kamran" pitchFamily="2" charset="-78"/>
              </a:rPr>
              <a:t>کودکان مبتلا به </a:t>
            </a:r>
            <a:r>
              <a:rPr lang="en-US" altLang="ar-SA" sz="2400" dirty="0" smtClean="0">
                <a:solidFill>
                  <a:srgbClr val="000066"/>
                </a:solidFill>
                <a:latin typeface="Aparajita" panose="020B0604020202020204" pitchFamily="34" charset="0"/>
                <a:cs typeface="B Kamran" pitchFamily="2" charset="-78"/>
              </a:rPr>
              <a:t>Specific Phobia </a:t>
            </a:r>
            <a:r>
              <a:rPr lang="fa-IR" altLang="ar-SA" sz="2400" dirty="0" smtClean="0">
                <a:solidFill>
                  <a:srgbClr val="000066"/>
                </a:solidFill>
                <a:latin typeface="Aparajita" panose="020B0604020202020204" pitchFamily="34" charset="0"/>
                <a:cs typeface="B Kamran" pitchFamily="2" charset="-78"/>
              </a:rPr>
              <a:t> بسیار کم برای درمان ارجاع داده می شوند و به نظر می رسد که این والدین </a:t>
            </a:r>
            <a:r>
              <a:rPr lang="en-US" altLang="ar-SA" sz="2400" dirty="0" smtClean="0">
                <a:solidFill>
                  <a:srgbClr val="000066"/>
                </a:solidFill>
                <a:latin typeface="Aparajita" panose="020B0604020202020204" pitchFamily="34" charset="0"/>
                <a:cs typeface="B Kamran" pitchFamily="2" charset="-78"/>
              </a:rPr>
              <a:t>Phobia</a:t>
            </a:r>
            <a:r>
              <a:rPr lang="fa-IR" altLang="ar-SA" sz="2400" dirty="0" smtClean="0">
                <a:solidFill>
                  <a:srgbClr val="000066"/>
                </a:solidFill>
                <a:latin typeface="Aparajita" panose="020B0604020202020204" pitchFamily="34" charset="0"/>
                <a:cs typeface="B Kamran" pitchFamily="2" charset="-78"/>
              </a:rPr>
              <a:t> را برای فرزندانشان زیان آور نمی دانند.</a:t>
            </a:r>
          </a:p>
          <a:p>
            <a:pPr marL="285750" indent="-285750" algn="just" fontAlgn="base">
              <a:lnSpc>
                <a:spcPct val="110000"/>
              </a:lnSpc>
              <a:spcBef>
                <a:spcPct val="0"/>
              </a:spcBef>
              <a:spcAft>
                <a:spcPct val="0"/>
              </a:spcAft>
              <a:buFont typeface="Wingdings" panose="05000000000000000000" pitchFamily="2" charset="2"/>
              <a:buChar char="ü"/>
              <a:defRPr/>
            </a:pPr>
            <a:r>
              <a:rPr lang="fa-IR" altLang="ar-SA" sz="2400" dirty="0" smtClean="0">
                <a:solidFill>
                  <a:srgbClr val="000066"/>
                </a:solidFill>
                <a:latin typeface="Aparajita" panose="020B0604020202020204" pitchFamily="34" charset="0"/>
                <a:cs typeface="B Kamran" pitchFamily="2" charset="-78"/>
              </a:rPr>
              <a:t>به نسبت سایر اختلالات اضطرابی، </a:t>
            </a:r>
            <a:r>
              <a:rPr lang="en-US" altLang="ar-SA" sz="2400" dirty="0" smtClean="0">
                <a:solidFill>
                  <a:srgbClr val="000066"/>
                </a:solidFill>
                <a:latin typeface="Aparajita" panose="020B0604020202020204" pitchFamily="34" charset="0"/>
                <a:cs typeface="B Kamran" pitchFamily="2" charset="-78"/>
              </a:rPr>
              <a:t>Specific Phobia</a:t>
            </a:r>
            <a:r>
              <a:rPr lang="fa-IR" altLang="ar-SA" sz="2400" dirty="0" smtClean="0">
                <a:solidFill>
                  <a:srgbClr val="000066"/>
                </a:solidFill>
                <a:latin typeface="Aparajita" panose="020B0604020202020204" pitchFamily="34" charset="0"/>
                <a:cs typeface="B Kamran" pitchFamily="2" charset="-78"/>
              </a:rPr>
              <a:t> اختلال همایند کمتری دارد.</a:t>
            </a:r>
          </a:p>
          <a:p>
            <a:pPr marL="285750" indent="-285750" algn="just" fontAlgn="base">
              <a:lnSpc>
                <a:spcPct val="110000"/>
              </a:lnSpc>
              <a:spcBef>
                <a:spcPct val="0"/>
              </a:spcBef>
              <a:spcAft>
                <a:spcPct val="0"/>
              </a:spcAft>
              <a:buFont typeface="Wingdings" panose="05000000000000000000" pitchFamily="2" charset="2"/>
              <a:buChar char="ü"/>
              <a:defRPr/>
            </a:pPr>
            <a:r>
              <a:rPr lang="fa-IR" altLang="ar-SA" sz="2400" dirty="0" smtClean="0">
                <a:solidFill>
                  <a:srgbClr val="000066"/>
                </a:solidFill>
                <a:latin typeface="Aparajita" panose="020B0604020202020204" pitchFamily="34" charset="0"/>
                <a:cs typeface="B Kamran" pitchFamily="2" charset="-78"/>
              </a:rPr>
              <a:t>شرطی شدن ها نقش بسزایی در ایجاد </a:t>
            </a:r>
            <a:r>
              <a:rPr lang="en-US" altLang="ar-SA" sz="2400" dirty="0" smtClean="0">
                <a:solidFill>
                  <a:srgbClr val="000066"/>
                </a:solidFill>
                <a:latin typeface="Aparajita" panose="020B0604020202020204" pitchFamily="34" charset="0"/>
                <a:cs typeface="B Kamran" pitchFamily="2" charset="-78"/>
              </a:rPr>
              <a:t>Specific Phobia</a:t>
            </a:r>
            <a:r>
              <a:rPr lang="fa-IR" altLang="ar-SA" sz="2400" dirty="0" smtClean="0">
                <a:solidFill>
                  <a:srgbClr val="000066"/>
                </a:solidFill>
                <a:latin typeface="Aparajita" panose="020B0604020202020204" pitchFamily="34" charset="0"/>
                <a:cs typeface="B Kamran" pitchFamily="2" charset="-78"/>
              </a:rPr>
              <a:t> به ویژه در کودکان دارد.</a:t>
            </a:r>
          </a:p>
          <a:p>
            <a:pPr marL="285750" indent="-285750" algn="just" fontAlgn="base">
              <a:lnSpc>
                <a:spcPct val="110000"/>
              </a:lnSpc>
              <a:spcBef>
                <a:spcPct val="0"/>
              </a:spcBef>
              <a:spcAft>
                <a:spcPct val="0"/>
              </a:spcAft>
              <a:buFont typeface="Wingdings" panose="05000000000000000000" pitchFamily="2" charset="2"/>
              <a:buChar char="ü"/>
              <a:defRPr/>
            </a:pPr>
            <a:r>
              <a:rPr lang="fa-IR" altLang="ar-SA" sz="2400" dirty="0" smtClean="0">
                <a:solidFill>
                  <a:srgbClr val="000066"/>
                </a:solidFill>
                <a:latin typeface="Aparajita" panose="020B0604020202020204" pitchFamily="34" charset="0"/>
                <a:cs typeface="B Kamran" pitchFamily="2" charset="-78"/>
              </a:rPr>
              <a:t>نشانه های </a:t>
            </a:r>
            <a:r>
              <a:rPr lang="en-US" altLang="ar-SA" sz="2400" dirty="0" smtClean="0">
                <a:solidFill>
                  <a:srgbClr val="000066"/>
                </a:solidFill>
                <a:latin typeface="Aparajita" panose="020B0604020202020204" pitchFamily="34" charset="0"/>
                <a:cs typeface="B Kamran" pitchFamily="2" charset="-78"/>
              </a:rPr>
              <a:t>Blood Phobia</a:t>
            </a:r>
            <a:r>
              <a:rPr lang="fa-IR" altLang="ar-SA" sz="2400" dirty="0" smtClean="0">
                <a:solidFill>
                  <a:srgbClr val="000066"/>
                </a:solidFill>
                <a:latin typeface="Aparajita" panose="020B0604020202020204" pitchFamily="34" charset="0"/>
                <a:cs typeface="B Kamran" pitchFamily="2" charset="-78"/>
              </a:rPr>
              <a:t> و </a:t>
            </a:r>
            <a:r>
              <a:rPr lang="en-US" altLang="ar-SA" sz="2400" dirty="0" smtClean="0">
                <a:solidFill>
                  <a:srgbClr val="000066"/>
                </a:solidFill>
                <a:latin typeface="Aparajita" panose="020B0604020202020204" pitchFamily="34" charset="0"/>
                <a:cs typeface="B Kamran" pitchFamily="2" charset="-78"/>
              </a:rPr>
              <a:t>Injection Phobia</a:t>
            </a:r>
            <a:r>
              <a:rPr lang="fa-IR" altLang="ar-SA" sz="2400" dirty="0" smtClean="0">
                <a:solidFill>
                  <a:srgbClr val="000066"/>
                </a:solidFill>
                <a:latin typeface="Aparajita" panose="020B0604020202020204" pitchFamily="34" charset="0"/>
                <a:cs typeface="B Kamran" pitchFamily="2" charset="-78"/>
              </a:rPr>
              <a:t> و </a:t>
            </a:r>
            <a:r>
              <a:rPr lang="en-US" altLang="ar-SA" sz="2400" dirty="0" smtClean="0">
                <a:solidFill>
                  <a:srgbClr val="000066"/>
                </a:solidFill>
                <a:latin typeface="Aparajita" panose="020B0604020202020204" pitchFamily="34" charset="0"/>
                <a:cs typeface="B Kamran" pitchFamily="2" charset="-78"/>
              </a:rPr>
              <a:t>Injury Phobia</a:t>
            </a:r>
            <a:r>
              <a:rPr lang="fa-IR" altLang="ar-SA" sz="2400" dirty="0" smtClean="0">
                <a:solidFill>
                  <a:srgbClr val="000066"/>
                </a:solidFill>
                <a:latin typeface="Aparajita" panose="020B0604020202020204" pitchFamily="34" charset="0"/>
                <a:cs typeface="B Kamran" pitchFamily="2" charset="-78"/>
              </a:rPr>
              <a:t> از سایر </a:t>
            </a:r>
            <a:r>
              <a:rPr lang="en-US" altLang="ar-SA" sz="2400" dirty="0" smtClean="0">
                <a:solidFill>
                  <a:srgbClr val="000066"/>
                </a:solidFill>
                <a:latin typeface="Aparajita" panose="020B0604020202020204" pitchFamily="34" charset="0"/>
                <a:cs typeface="B Kamran" pitchFamily="2" charset="-78"/>
              </a:rPr>
              <a:t>Specific Phobia</a:t>
            </a:r>
            <a:r>
              <a:rPr lang="fa-IR" altLang="ar-SA" sz="2400" dirty="0" smtClean="0">
                <a:solidFill>
                  <a:srgbClr val="000066"/>
                </a:solidFill>
                <a:latin typeface="Aparajita" panose="020B0604020202020204" pitchFamily="34" charset="0"/>
                <a:cs typeface="B Kamran" pitchFamily="2" charset="-78"/>
              </a:rPr>
              <a:t> متفاوت است.</a:t>
            </a:r>
          </a:p>
          <a:p>
            <a:pPr marL="285750" indent="-285750" algn="just" fontAlgn="base">
              <a:lnSpc>
                <a:spcPct val="110000"/>
              </a:lnSpc>
              <a:spcBef>
                <a:spcPct val="0"/>
              </a:spcBef>
              <a:spcAft>
                <a:spcPct val="0"/>
              </a:spcAft>
              <a:buFont typeface="Wingdings" panose="05000000000000000000" pitchFamily="2" charset="2"/>
              <a:buChar char="ü"/>
              <a:defRPr/>
            </a:pPr>
            <a:r>
              <a:rPr lang="fa-IR" altLang="ar-SA" sz="2400" dirty="0">
                <a:solidFill>
                  <a:srgbClr val="000066"/>
                </a:solidFill>
                <a:latin typeface="Aparajita" panose="020B0604020202020204" pitchFamily="34" charset="0"/>
                <a:cs typeface="B Kamran" pitchFamily="2" charset="-78"/>
              </a:rPr>
              <a:t>بين اختلال وحشت زدگي و بعضي فوبيهاي خاص، ميزان كاموربيديتي بسيار بالاست</a:t>
            </a:r>
            <a:endParaRPr lang="fa-IR" altLang="ar-SA" sz="2400" dirty="0" smtClean="0">
              <a:solidFill>
                <a:srgbClr val="000066"/>
              </a:solidFill>
              <a:latin typeface="Aparajita" panose="020B0604020202020204" pitchFamily="34" charset="0"/>
              <a:cs typeface="B Kamran" pitchFamily="2" charset="-78"/>
            </a:endParaRPr>
          </a:p>
          <a:p>
            <a:pPr marL="285750" indent="-285750" algn="just" fontAlgn="base">
              <a:lnSpc>
                <a:spcPct val="110000"/>
              </a:lnSpc>
              <a:spcBef>
                <a:spcPct val="0"/>
              </a:spcBef>
              <a:spcAft>
                <a:spcPct val="0"/>
              </a:spcAft>
              <a:buFont typeface="Wingdings" panose="05000000000000000000" pitchFamily="2" charset="2"/>
              <a:buChar char="ü"/>
              <a:defRPr/>
            </a:pPr>
            <a:r>
              <a:rPr lang="en-US" altLang="ar-SA" sz="2400" dirty="0" smtClean="0">
                <a:solidFill>
                  <a:srgbClr val="FF0000"/>
                </a:solidFill>
                <a:latin typeface="Aparajita" panose="020B0604020202020204" pitchFamily="34" charset="0"/>
                <a:cs typeface="B Kamran" pitchFamily="2" charset="-78"/>
              </a:rPr>
              <a:t>DSM-IV-TR</a:t>
            </a:r>
            <a:r>
              <a:rPr lang="fa-IR" altLang="ar-SA" sz="2400" dirty="0" smtClean="0">
                <a:solidFill>
                  <a:srgbClr val="FF0000"/>
                </a:solidFill>
                <a:latin typeface="Aparajita" panose="020B0604020202020204" pitchFamily="34" charset="0"/>
                <a:cs typeface="B Kamran" pitchFamily="2" charset="-78"/>
              </a:rPr>
              <a:t> انواع </a:t>
            </a:r>
            <a:r>
              <a:rPr lang="en-US" altLang="ar-SA" sz="2400" dirty="0" smtClean="0">
                <a:solidFill>
                  <a:srgbClr val="FF0000"/>
                </a:solidFill>
                <a:latin typeface="Aparajita" panose="020B0604020202020204" pitchFamily="34" charset="0"/>
                <a:cs typeface="B Kamran" pitchFamily="2" charset="-78"/>
              </a:rPr>
              <a:t>Specific Phobia </a:t>
            </a:r>
            <a:r>
              <a:rPr lang="fa-IR" altLang="ar-SA" sz="2400" dirty="0" smtClean="0">
                <a:solidFill>
                  <a:srgbClr val="FF0000"/>
                </a:solidFill>
                <a:latin typeface="Aparajita" panose="020B0604020202020204" pitchFamily="34" charset="0"/>
                <a:cs typeface="B Kamran" pitchFamily="2" charset="-78"/>
              </a:rPr>
              <a:t> را به پنج دسته اساسی تقسیم می کند:</a:t>
            </a:r>
          </a:p>
          <a:p>
            <a:pPr algn="just" fontAlgn="base">
              <a:lnSpc>
                <a:spcPct val="110000"/>
              </a:lnSpc>
              <a:spcBef>
                <a:spcPct val="0"/>
              </a:spcBef>
              <a:spcAft>
                <a:spcPct val="0"/>
              </a:spcAft>
              <a:buFontTx/>
              <a:buNone/>
              <a:defRPr/>
            </a:pPr>
            <a:r>
              <a:rPr lang="fa-IR" altLang="ar-SA" sz="2400" dirty="0" smtClean="0">
                <a:solidFill>
                  <a:srgbClr val="FF0000"/>
                </a:solidFill>
                <a:latin typeface="Aparajita" panose="020B0604020202020204" pitchFamily="34" charset="0"/>
                <a:cs typeface="B Kamran" pitchFamily="2" charset="-78"/>
              </a:rPr>
              <a:t>1- حیوان     2- محیط طبیعی     3- خون /تزریق/جراحت     4- موقعیتی     5- سایر </a:t>
            </a:r>
            <a:r>
              <a:rPr lang="en-US" altLang="ar-SA" sz="2400" dirty="0" smtClean="0">
                <a:solidFill>
                  <a:srgbClr val="FF0000"/>
                </a:solidFill>
                <a:latin typeface="Aparajita" panose="020B0604020202020204" pitchFamily="34" charset="0"/>
                <a:cs typeface="B Kamran" pitchFamily="2" charset="-78"/>
              </a:rPr>
              <a:t>Phobias</a:t>
            </a:r>
            <a:endParaRPr lang="fa-IR" altLang="ar-SA" sz="2400" dirty="0" smtClean="0">
              <a:solidFill>
                <a:srgbClr val="FF0000"/>
              </a:solidFill>
              <a:latin typeface="Aparajita" panose="020B0604020202020204" pitchFamily="34" charset="0"/>
              <a:cs typeface="B Kamran" pitchFamily="2" charset="-78"/>
            </a:endParaRPr>
          </a:p>
        </p:txBody>
      </p:sp>
      <p:sp>
        <p:nvSpPr>
          <p:cNvPr id="22536" name="Text Box 12"/>
          <p:cNvSpPr txBox="1">
            <a:spLocks noChangeArrowheads="1"/>
          </p:cNvSpPr>
          <p:nvPr/>
        </p:nvSpPr>
        <p:spPr bwMode="auto">
          <a:xfrm>
            <a:off x="2916238" y="188963"/>
            <a:ext cx="312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b="1" smtClean="0">
                <a:solidFill>
                  <a:srgbClr val="FFFF99"/>
                </a:solidFill>
                <a:cs typeface="B Kamran" pitchFamily="2" charset="-78"/>
              </a:rPr>
              <a:t>Specific Phobia</a:t>
            </a:r>
          </a:p>
        </p:txBody>
      </p:sp>
    </p:spTree>
    <p:extLst>
      <p:ext uri="{BB962C8B-B14F-4D97-AF65-F5344CB8AC3E}">
        <p14:creationId xmlns:p14="http://schemas.microsoft.com/office/powerpoint/2010/main" val="262118960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r="-1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38</a:t>
            </a:fld>
            <a:endParaRPr lang="en-US">
              <a:solidFill>
                <a:prstClr val="black">
                  <a:tint val="75000"/>
                </a:prstClr>
              </a:solidFill>
            </a:endParaRPr>
          </a:p>
        </p:txBody>
      </p:sp>
      <p:sp>
        <p:nvSpPr>
          <p:cNvPr id="3" name="Rectangle 2"/>
          <p:cNvSpPr/>
          <p:nvPr/>
        </p:nvSpPr>
        <p:spPr>
          <a:xfrm>
            <a:off x="2915818" y="3501008"/>
            <a:ext cx="6040436" cy="923330"/>
          </a:xfrm>
          <a:prstGeom prst="rect">
            <a:avLst/>
          </a:prstGeom>
        </p:spPr>
        <p:txBody>
          <a:bodyPr wrap="none">
            <a:spAutoFit/>
          </a:bodyPr>
          <a:lstStyle/>
          <a:p>
            <a:r>
              <a:rPr lang="fa-IR" altLang="ar-SA" sz="5400" dirty="0" smtClean="0">
                <a:solidFill>
                  <a:srgbClr val="000066"/>
                </a:solidFill>
                <a:cs typeface="B Nazanin" pitchFamily="2" charset="-78"/>
              </a:rPr>
              <a:t>اختلال اضطراب اجتماعی</a:t>
            </a:r>
            <a:endParaRPr lang="fa-IR" sz="5400" dirty="0">
              <a:solidFill>
                <a:prstClr val="black"/>
              </a:solidFill>
            </a:endParaRPr>
          </a:p>
        </p:txBody>
      </p:sp>
      <p:sp>
        <p:nvSpPr>
          <p:cNvPr id="4" name="Rectangle 3">
            <a:hlinkClick r:id="rId3" action="ppaction://hlinkfile"/>
          </p:cNvPr>
          <p:cNvSpPr/>
          <p:nvPr/>
        </p:nvSpPr>
        <p:spPr>
          <a:xfrm>
            <a:off x="3998722" y="6182614"/>
            <a:ext cx="612668" cy="397032"/>
          </a:xfrm>
          <a:prstGeom prst="rect">
            <a:avLst/>
          </a:prstGeom>
        </p:spPr>
        <p:txBody>
          <a:bodyPr wrap="none">
            <a:spAutoFit/>
          </a:bodyPr>
          <a:lstStyle/>
          <a:p>
            <a:pPr lvl="0" algn="just" fontAlgn="base">
              <a:lnSpc>
                <a:spcPct val="110000"/>
              </a:lnSpc>
              <a:spcBef>
                <a:spcPct val="0"/>
              </a:spcBef>
              <a:spcAft>
                <a:spcPct val="0"/>
              </a:spcAft>
            </a:pPr>
            <a:r>
              <a:rPr lang="fa-IR" altLang="ar-SA" dirty="0" smtClean="0">
                <a:solidFill>
                  <a:srgbClr val="000066"/>
                </a:solidFill>
                <a:cs typeface="B Nazanin" pitchFamily="2" charset="-78"/>
              </a:rPr>
              <a:t>کلیپ</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355475803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78FF1C58-1739-4167-BA1A-3D6949E5A7D4}" type="slidenum">
              <a:rPr lang="ar-SA" sz="1400" smtClean="0">
                <a:solidFill>
                  <a:prstClr val="black"/>
                </a:solidFill>
              </a:rPr>
              <a:pPr rtl="0" fontAlgn="base">
                <a:spcBef>
                  <a:spcPct val="0"/>
                </a:spcBef>
                <a:spcAft>
                  <a:spcPct val="0"/>
                </a:spcAft>
              </a:pPr>
              <a:t>39</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560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5605" name="Group 4"/>
          <p:cNvGrpSpPr>
            <a:grpSpLocks/>
          </p:cNvGrpSpPr>
          <p:nvPr/>
        </p:nvGrpSpPr>
        <p:grpSpPr bwMode="auto">
          <a:xfrm>
            <a:off x="533400" y="101650"/>
            <a:ext cx="8229600" cy="87313"/>
            <a:chOff x="0" y="900"/>
            <a:chExt cx="5759" cy="96"/>
          </a:xfrm>
        </p:grpSpPr>
        <p:sp>
          <p:nvSpPr>
            <p:cNvPr id="25609"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5610"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560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565175" y="1239839"/>
            <a:ext cx="7921625" cy="374871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Social Phobia</a:t>
            </a:r>
            <a:endParaRPr lang="fa-IR" altLang="ar-SA" sz="1800" b="1" dirty="0" smtClean="0">
              <a:solidFill>
                <a:srgbClr val="FF0000"/>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800" dirty="0">
              <a:solidFill>
                <a:srgbClr val="000066"/>
              </a:solidFill>
              <a:cs typeface="B Nazanin" panose="00000400000000000000" pitchFamily="2" charset="-78"/>
            </a:endParaRP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A : </a:t>
            </a:r>
            <a:r>
              <a:rPr lang="fa-IR" altLang="ar-SA" sz="1800" dirty="0">
                <a:solidFill>
                  <a:srgbClr val="000066"/>
                </a:solidFill>
                <a:cs typeface="B Nazanin" panose="00000400000000000000" pitchFamily="2" charset="-78"/>
              </a:rPr>
              <a:t>ترس يا اضطراب محسوس در مورد يك يا چند موقعيت اجتماعي كه در آنها فرد با احتمال بررسي دقيق ديگران</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مواجه شود. از جمله نمونه هاي آن عبارتند از تعامل هاي اجتماعي (مثل گفتگو داشتن، ملاقات كردن با افراد ناآشنا) مورد مشاهده قرار گرفتن (مثل خوردن يا نوشيدن) و عمل كردن جلوي ديگران (مثل ايراد سخنراني)</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توجه: در كودكان، اضطراب بايد در موقعيت هاي همسالان و به فقط هنگام تعامل با ديگران روي دهد.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B : </a:t>
            </a:r>
            <a:r>
              <a:rPr lang="fa-IR" altLang="ar-SA" sz="1800" dirty="0">
                <a:solidFill>
                  <a:srgbClr val="000066"/>
                </a:solidFill>
                <a:cs typeface="B Nazanin" panose="00000400000000000000" pitchFamily="2" charset="-78"/>
              </a:rPr>
              <a:t>فرد مي ترسد كه طوري عمل كند يا نشانه هاي اضطراب بروز دهد كه به صورت منفي ارزيابي شوند (يعني، خجالت آور يا تحقيرآميز باشند، به طرد يا دلخوري ديگران منجر شوند9</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C : </a:t>
            </a:r>
            <a:r>
              <a:rPr lang="fa-IR" altLang="ar-SA" sz="1800" dirty="0">
                <a:solidFill>
                  <a:srgbClr val="000066"/>
                </a:solidFill>
                <a:cs typeface="B Nazanin" panose="00000400000000000000" pitchFamily="2" charset="-78"/>
              </a:rPr>
              <a:t>موقعيت هاي اجتماعي تقريبا هميشه ترس يا اضطراب را برانگيخته مي كنند.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توجه: در كودكان، ترس يا اضطراب ممكن است با گريه، قشقرق، ميخكوب شدن، چسبيدن، جمع كردن خود، يا ناتواني در صحبت كردن در موقعيت هاي اجتماعي ابراز شود</a:t>
            </a:r>
            <a:r>
              <a:rPr lang="fa-IR" altLang="ar-SA" sz="1800" dirty="0" smtClean="0">
                <a:solidFill>
                  <a:srgbClr val="000066"/>
                </a:solidFill>
                <a:cs typeface="B Nazanin" panose="00000400000000000000" pitchFamily="2" charset="-78"/>
              </a:rPr>
              <a:t>.</a:t>
            </a:r>
            <a:endParaRPr lang="fa-IR" altLang="ar-SA" sz="1800" dirty="0">
              <a:solidFill>
                <a:srgbClr val="000066"/>
              </a:solidFill>
              <a:cs typeface="B Nazanin" panose="00000400000000000000" pitchFamily="2" charset="-78"/>
            </a:endParaRP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Social Phobia</a:t>
            </a:r>
          </a:p>
        </p:txBody>
      </p:sp>
    </p:spTree>
    <p:extLst>
      <p:ext uri="{BB962C8B-B14F-4D97-AF65-F5344CB8AC3E}">
        <p14:creationId xmlns:p14="http://schemas.microsoft.com/office/powerpoint/2010/main" val="52135227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78FF1C58-1739-4167-BA1A-3D6949E5A7D4}" type="slidenum">
              <a:rPr lang="ar-SA" sz="1400" smtClean="0">
                <a:solidFill>
                  <a:prstClr val="black"/>
                </a:solidFill>
              </a:rPr>
              <a:pPr rtl="0" fontAlgn="base">
                <a:spcBef>
                  <a:spcPct val="0"/>
                </a:spcBef>
                <a:spcAft>
                  <a:spcPct val="0"/>
                </a:spcAft>
              </a:pPr>
              <a:t>40</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560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5605" name="Group 4"/>
          <p:cNvGrpSpPr>
            <a:grpSpLocks/>
          </p:cNvGrpSpPr>
          <p:nvPr/>
        </p:nvGrpSpPr>
        <p:grpSpPr bwMode="auto">
          <a:xfrm>
            <a:off x="533400" y="101650"/>
            <a:ext cx="8229600" cy="87313"/>
            <a:chOff x="0" y="900"/>
            <a:chExt cx="5759" cy="96"/>
          </a:xfrm>
        </p:grpSpPr>
        <p:sp>
          <p:nvSpPr>
            <p:cNvPr id="25609"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5610"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560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565175" y="1239839"/>
            <a:ext cx="7921625" cy="4662815"/>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Social Phobia</a:t>
            </a:r>
            <a:endParaRPr lang="fa-IR" altLang="ar-SA" sz="1800" b="1" dirty="0" smtClean="0">
              <a:solidFill>
                <a:srgbClr val="FF0000"/>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800" dirty="0">
              <a:solidFill>
                <a:srgbClr val="000066"/>
              </a:solidFill>
              <a:cs typeface="B Nazanin" panose="00000400000000000000" pitchFamily="2" charset="-78"/>
            </a:endParaRPr>
          </a:p>
          <a:p>
            <a:pPr algn="just" fontAlgn="base">
              <a:lnSpc>
                <a:spcPct val="110000"/>
              </a:lnSpc>
              <a:spcBef>
                <a:spcPct val="0"/>
              </a:spcBef>
              <a:spcAft>
                <a:spcPct val="0"/>
              </a:spcAft>
              <a:buNone/>
              <a:defRPr/>
            </a:pPr>
            <a:r>
              <a:rPr lang="fa-IR" altLang="ar-SA" sz="1800" dirty="0" smtClean="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D : </a:t>
            </a:r>
            <a:r>
              <a:rPr lang="fa-IR" altLang="ar-SA" sz="1800" dirty="0">
                <a:solidFill>
                  <a:srgbClr val="000066"/>
                </a:solidFill>
                <a:cs typeface="B Nazanin" panose="00000400000000000000" pitchFamily="2" charset="-78"/>
              </a:rPr>
              <a:t>از موقعيت هاي اجتماعي اجتناب مي شود يا اين موقعيت ها با ترس يا اضطراب شديد تحمل مي شوند.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E : </a:t>
            </a:r>
            <a:r>
              <a:rPr lang="fa-IR" altLang="ar-SA" sz="1800" dirty="0">
                <a:solidFill>
                  <a:srgbClr val="000066"/>
                </a:solidFill>
                <a:cs typeface="B Nazanin" panose="00000400000000000000" pitchFamily="2" charset="-78"/>
              </a:rPr>
              <a:t>ترس يا اضطراب با تهديد واقعي كه توسط موقعيت اجتماعي ايجاد مي شود و با زمينه اجتماعي – فرهنگي بي تناسب است.</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F : </a:t>
            </a:r>
            <a:r>
              <a:rPr lang="fa-IR" altLang="ar-SA" sz="1800" dirty="0">
                <a:solidFill>
                  <a:srgbClr val="000066"/>
                </a:solidFill>
                <a:cs typeface="B Nazanin" panose="00000400000000000000" pitchFamily="2" charset="-78"/>
              </a:rPr>
              <a:t>ترس، اضطراب، يا اجتناب مداوم است، معمولا ٦ ماه يا بيشتر دامه مي يابد.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G : </a:t>
            </a:r>
            <a:r>
              <a:rPr lang="fa-IR" altLang="ar-SA" sz="1800" dirty="0">
                <a:solidFill>
                  <a:srgbClr val="000066"/>
                </a:solidFill>
                <a:cs typeface="B Nazanin" panose="00000400000000000000" pitchFamily="2" charset="-78"/>
              </a:rPr>
              <a:t>ترس، اضطراب، يا اجتناب باعث مي شود فرد به رنج شخصي يا نابساماني شديد و از لحاظ باليني معنادار در عملكرد اجتماعي، شغلي، يا ساير جنبه هاي مهم زندگي دچار شود.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H : </a:t>
            </a:r>
            <a:r>
              <a:rPr lang="fa-IR" altLang="ar-SA" sz="1800" dirty="0">
                <a:solidFill>
                  <a:srgbClr val="000066"/>
                </a:solidFill>
                <a:cs typeface="B Nazanin" panose="00000400000000000000" pitchFamily="2" charset="-78"/>
              </a:rPr>
              <a:t>ترس، اضطراب، يا اجتناب ناشي از تأثيرات فيزيولوژيكي مواد (مثل سوء مصرف مواد مخدر، دارو) يا بيماري جسماني ديگر نيست.</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I : </a:t>
            </a:r>
            <a:r>
              <a:rPr lang="fa-IR" altLang="ar-SA" sz="1800" dirty="0">
                <a:solidFill>
                  <a:srgbClr val="000066"/>
                </a:solidFill>
                <a:cs typeface="B Nazanin" panose="00000400000000000000" pitchFamily="2" charset="-78"/>
              </a:rPr>
              <a:t>ترس، اضطراب يا اجتناب با نشانه هاي اختلال رواني ديگر، مانند اختلال و حشتزدگي، اختلال بدشكلي بدن، يا اختلال طيف اوتيسم بهتر توجيه نمي شود.</a:t>
            </a:r>
          </a:p>
          <a:p>
            <a:pPr algn="just" fontAlgn="base">
              <a:lnSpc>
                <a:spcPct val="110000"/>
              </a:lnSpc>
              <a:spcBef>
                <a:spcPct val="0"/>
              </a:spcBef>
              <a:spcAft>
                <a:spcPct val="0"/>
              </a:spcAft>
              <a:buNone/>
              <a:defRPr/>
            </a:pPr>
            <a:r>
              <a:rPr lang="fa-IR" altLang="ar-SA" sz="1800" dirty="0">
                <a:solidFill>
                  <a:srgbClr val="000066"/>
                </a:solidFill>
                <a:cs typeface="B Nazanin" panose="00000400000000000000" pitchFamily="2" charset="-78"/>
              </a:rPr>
              <a:t>معيار  </a:t>
            </a:r>
            <a:r>
              <a:rPr lang="en-US" altLang="ar-SA" sz="1800" dirty="0">
                <a:solidFill>
                  <a:srgbClr val="000066"/>
                </a:solidFill>
                <a:cs typeface="B Nazanin" panose="00000400000000000000" pitchFamily="2" charset="-78"/>
              </a:rPr>
              <a:t>J : </a:t>
            </a:r>
            <a:r>
              <a:rPr lang="fa-IR" altLang="ar-SA" sz="1800" dirty="0">
                <a:solidFill>
                  <a:srgbClr val="000066"/>
                </a:solidFill>
                <a:cs typeface="B Nazanin" panose="00000400000000000000" pitchFamily="2" charset="-78"/>
              </a:rPr>
              <a:t>اگر بيماري جسماني ديگري )مثل بيماري پاركينسون، چاقي، بدشكلي ناشي از سوختگي ها يا جراحت( وجود داشته باشد، ترس، اضطراب، يا اجتناب آشكارا نامربوط يا بيش از حد است.</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Social Phobia</a:t>
            </a:r>
          </a:p>
        </p:txBody>
      </p:sp>
    </p:spTree>
    <p:extLst>
      <p:ext uri="{BB962C8B-B14F-4D97-AF65-F5344CB8AC3E}">
        <p14:creationId xmlns:p14="http://schemas.microsoft.com/office/powerpoint/2010/main" val="267682584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7D423F1C-359D-47B9-A731-95273A8A9555}" type="slidenum">
              <a:rPr lang="ar-SA" sz="1400" smtClean="0">
                <a:solidFill>
                  <a:prstClr val="black"/>
                </a:solidFill>
              </a:rPr>
              <a:pPr rtl="0" fontAlgn="base">
                <a:spcBef>
                  <a:spcPct val="0"/>
                </a:spcBef>
                <a:spcAft>
                  <a:spcPct val="0"/>
                </a:spcAft>
              </a:pPr>
              <a:t>41</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458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4581" name="Group 4"/>
          <p:cNvGrpSpPr>
            <a:grpSpLocks/>
          </p:cNvGrpSpPr>
          <p:nvPr/>
        </p:nvGrpSpPr>
        <p:grpSpPr bwMode="auto">
          <a:xfrm>
            <a:off x="533400" y="101650"/>
            <a:ext cx="8229600" cy="87313"/>
            <a:chOff x="0" y="900"/>
            <a:chExt cx="5759" cy="96"/>
          </a:xfrm>
        </p:grpSpPr>
        <p:sp>
          <p:nvSpPr>
            <p:cNvPr id="2458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458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458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4583" name="Text Box 9"/>
          <p:cNvSpPr txBox="1">
            <a:spLocks noChangeArrowheads="1"/>
          </p:cNvSpPr>
          <p:nvPr/>
        </p:nvSpPr>
        <p:spPr bwMode="auto">
          <a:xfrm>
            <a:off x="611213" y="1312888"/>
            <a:ext cx="7921625" cy="3342453"/>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تقریباً 1 تا 3 درصد کودکان به </a:t>
            </a:r>
            <a:r>
              <a:rPr lang="en-US" altLang="ar-SA" sz="2400" dirty="0" smtClean="0">
                <a:solidFill>
                  <a:srgbClr val="000066"/>
                </a:solidFill>
                <a:latin typeface="Aparajita" pitchFamily="34" charset="0"/>
                <a:cs typeface="B Kamran" pitchFamily="2" charset="-78"/>
              </a:rPr>
              <a:t>Social Phobia</a:t>
            </a:r>
            <a:r>
              <a:rPr lang="fa-IR" altLang="ar-SA" sz="2400" dirty="0" smtClean="0">
                <a:solidFill>
                  <a:srgbClr val="000066"/>
                </a:solidFill>
                <a:latin typeface="Aparajita" pitchFamily="34" charset="0"/>
                <a:cs typeface="B Kamran" pitchFamily="2" charset="-78"/>
              </a:rPr>
              <a:t> مبتلا هستند.</a:t>
            </a:r>
          </a:p>
          <a:p>
            <a:pPr algn="just" fontAlgn="base">
              <a:lnSpc>
                <a:spcPct val="110000"/>
              </a:lnSpc>
              <a:spcBef>
                <a:spcPct val="0"/>
              </a:spcBef>
              <a:spcAft>
                <a:spcPct val="0"/>
              </a:spcAft>
              <a:buFont typeface="Wingdings" pitchFamily="2" charset="2"/>
              <a:buChar char="ü"/>
            </a:pPr>
            <a:r>
              <a:rPr lang="en-US" altLang="ar-SA" sz="2400" dirty="0" smtClean="0">
                <a:solidFill>
                  <a:srgbClr val="000066"/>
                </a:solidFill>
                <a:latin typeface="Aparajita" pitchFamily="34" charset="0"/>
                <a:cs typeface="B Kamran" pitchFamily="2" charset="-78"/>
              </a:rPr>
              <a:t>Social Phobia </a:t>
            </a:r>
            <a:r>
              <a:rPr lang="fa-IR" altLang="ar-SA" sz="2400" dirty="0" smtClean="0">
                <a:solidFill>
                  <a:srgbClr val="000066"/>
                </a:solidFill>
                <a:latin typeface="Aparajita" pitchFamily="34" charset="0"/>
                <a:cs typeface="B Kamran" pitchFamily="2" charset="-78"/>
              </a:rPr>
              <a:t> در دختران شایعتر است، چون بیشتر از پسران نگران صلاحیت اجتماعی بوده و برای روابط بین فردی اهمیت زیادی قائلند.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دوسوم مبتلایان به </a:t>
            </a:r>
            <a:r>
              <a:rPr lang="en-US" altLang="ar-SA" sz="2400" dirty="0" smtClean="0">
                <a:solidFill>
                  <a:srgbClr val="000066"/>
                </a:solidFill>
                <a:latin typeface="Aparajita" pitchFamily="34" charset="0"/>
                <a:cs typeface="B Kamran" pitchFamily="2" charset="-78"/>
              </a:rPr>
              <a:t>Social Phobia</a:t>
            </a:r>
            <a:r>
              <a:rPr lang="fa-IR" altLang="ar-SA" sz="2400" dirty="0" smtClean="0">
                <a:solidFill>
                  <a:srgbClr val="000066"/>
                </a:solidFill>
                <a:latin typeface="Aparajita" pitchFamily="34" charset="0"/>
                <a:cs typeface="B Kamran" pitchFamily="2" charset="-78"/>
              </a:rPr>
              <a:t> اختلالا اضطرابی همایند دیگری دارند که معمولاً </a:t>
            </a:r>
            <a:r>
              <a:rPr lang="en-US" altLang="ar-SA" sz="2400" dirty="0" smtClean="0">
                <a:solidFill>
                  <a:srgbClr val="000066"/>
                </a:solidFill>
                <a:latin typeface="Aparajita" pitchFamily="34" charset="0"/>
                <a:cs typeface="B Kamran" pitchFamily="2" charset="-78"/>
              </a:rPr>
              <a:t>Specific Phobia</a:t>
            </a:r>
            <a:r>
              <a:rPr lang="fa-IR" altLang="ar-SA" sz="2400" dirty="0" smtClean="0">
                <a:solidFill>
                  <a:srgbClr val="000066"/>
                </a:solidFill>
                <a:latin typeface="Aparajita" pitchFamily="34" charset="0"/>
                <a:cs typeface="B Kamran" pitchFamily="2" charset="-78"/>
              </a:rPr>
              <a:t> و یا </a:t>
            </a:r>
            <a:r>
              <a:rPr lang="en-US" altLang="ar-SA" sz="2400" dirty="0" smtClean="0">
                <a:solidFill>
                  <a:srgbClr val="000066"/>
                </a:solidFill>
                <a:latin typeface="Aparajita" pitchFamily="34" charset="0"/>
                <a:cs typeface="B Kamran" pitchFamily="2" charset="-78"/>
              </a:rPr>
              <a:t>Panic </a:t>
            </a:r>
            <a:r>
              <a:rPr lang="fa-IR" altLang="ar-SA" sz="2400" dirty="0" smtClean="0">
                <a:solidFill>
                  <a:srgbClr val="000066"/>
                </a:solidFill>
                <a:latin typeface="Aparajita" pitchFamily="34" charset="0"/>
                <a:cs typeface="B Kamran" pitchFamily="2" charset="-78"/>
              </a:rPr>
              <a:t> رایج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رایجترین سن آغاز </a:t>
            </a:r>
            <a:r>
              <a:rPr lang="en-US" altLang="ar-SA" sz="2400" dirty="0" smtClean="0">
                <a:solidFill>
                  <a:srgbClr val="000066"/>
                </a:solidFill>
                <a:latin typeface="Aparajita" pitchFamily="34" charset="0"/>
                <a:cs typeface="B Kamran" pitchFamily="2" charset="-78"/>
              </a:rPr>
              <a:t>Social Phobia</a:t>
            </a:r>
            <a:r>
              <a:rPr lang="fa-IR" altLang="ar-SA" sz="2400" dirty="0" smtClean="0">
                <a:solidFill>
                  <a:srgbClr val="000066"/>
                </a:solidFill>
                <a:latin typeface="Aparajita" pitchFamily="34" charset="0"/>
                <a:cs typeface="B Kamran" pitchFamily="2" charset="-78"/>
              </a:rPr>
              <a:t> تقریباً اواسط نوجوانی است.</a:t>
            </a:r>
          </a:p>
          <a:p>
            <a:pPr algn="just" fontAlgn="base">
              <a:lnSpc>
                <a:spcPct val="110000"/>
              </a:lnSpc>
              <a:spcBef>
                <a:spcPct val="0"/>
              </a:spcBef>
              <a:spcAft>
                <a:spcPct val="0"/>
              </a:spcAft>
              <a:buFont typeface="Wingdings" pitchFamily="2" charset="2"/>
              <a:buChar char="ü"/>
            </a:pPr>
            <a:r>
              <a:rPr lang="en-US" altLang="ar-SA" sz="2400" dirty="0" smtClean="0">
                <a:solidFill>
                  <a:srgbClr val="FF0000"/>
                </a:solidFill>
                <a:latin typeface="Aparajita" pitchFamily="34" charset="0"/>
                <a:cs typeface="B Kamran" pitchFamily="2" charset="-78"/>
              </a:rPr>
              <a:t>Social Phobia</a:t>
            </a:r>
            <a:r>
              <a:rPr lang="fa-IR" altLang="ar-SA" sz="2400" dirty="0" smtClean="0">
                <a:solidFill>
                  <a:srgbClr val="FF0000"/>
                </a:solidFill>
                <a:latin typeface="Aparajita" pitchFamily="34" charset="0"/>
                <a:cs typeface="B Kamran" pitchFamily="2" charset="-78"/>
              </a:rPr>
              <a:t>در کودکان کمتر از 10 سال بی نهایت نادر است و با افزایش سن ظاهر می شود.</a:t>
            </a:r>
          </a:p>
          <a:p>
            <a:pPr algn="just" fontAlgn="base">
              <a:lnSpc>
                <a:spcPct val="110000"/>
              </a:lnSpc>
              <a:spcBef>
                <a:spcPct val="0"/>
              </a:spcBef>
              <a:spcAft>
                <a:spcPct val="0"/>
              </a:spcAft>
              <a:buFont typeface="Wingdings" pitchFamily="2" charset="2"/>
              <a:buChar char="ü"/>
            </a:pPr>
            <a:r>
              <a:rPr lang="fa-IR" altLang="ar-SA" sz="2400" dirty="0" smtClean="0">
                <a:solidFill>
                  <a:srgbClr val="FF0000"/>
                </a:solidFill>
                <a:latin typeface="Aparajita" pitchFamily="34" charset="0"/>
                <a:cs typeface="B Kamran" pitchFamily="2" charset="-78"/>
              </a:rPr>
              <a:t>شباهت ها و تفاوت های </a:t>
            </a:r>
            <a:r>
              <a:rPr lang="en-US" altLang="ar-SA" sz="2400" dirty="0" smtClean="0">
                <a:solidFill>
                  <a:srgbClr val="FF0000"/>
                </a:solidFill>
                <a:latin typeface="Aparajita" pitchFamily="34" charset="0"/>
                <a:cs typeface="B Kamran" pitchFamily="2" charset="-78"/>
              </a:rPr>
              <a:t>Social Phobia </a:t>
            </a:r>
            <a:r>
              <a:rPr lang="fa-IR" altLang="ar-SA" sz="2400" dirty="0" smtClean="0">
                <a:solidFill>
                  <a:srgbClr val="FF0000"/>
                </a:solidFill>
                <a:latin typeface="Aparajita" pitchFamily="34" charset="0"/>
                <a:cs typeface="B Kamran" pitchFamily="2" charset="-78"/>
              </a:rPr>
              <a:t> و </a:t>
            </a:r>
            <a:r>
              <a:rPr lang="en-US" altLang="ar-SA" sz="2400" dirty="0" smtClean="0">
                <a:solidFill>
                  <a:srgbClr val="FF0000"/>
                </a:solidFill>
                <a:latin typeface="Aparajita" pitchFamily="34" charset="0"/>
                <a:cs typeface="B Kamran" pitchFamily="2" charset="-78"/>
              </a:rPr>
              <a:t>Selective Mutism</a:t>
            </a:r>
            <a:r>
              <a:rPr lang="fa-IR" altLang="ar-SA" sz="2400" dirty="0" smtClean="0">
                <a:solidFill>
                  <a:srgbClr val="FF0000"/>
                </a:solidFill>
                <a:latin typeface="Aparajita" pitchFamily="34" charset="0"/>
                <a:cs typeface="B Kamran" pitchFamily="2" charset="-78"/>
              </a:rPr>
              <a:t> چیست؟</a:t>
            </a:r>
          </a:p>
        </p:txBody>
      </p:sp>
      <p:sp>
        <p:nvSpPr>
          <p:cNvPr id="24584" name="Text Box 12"/>
          <p:cNvSpPr txBox="1">
            <a:spLocks noChangeArrowheads="1"/>
          </p:cNvSpPr>
          <p:nvPr/>
        </p:nvSpPr>
        <p:spPr bwMode="auto">
          <a:xfrm>
            <a:off x="2916238" y="188963"/>
            <a:ext cx="312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b="1" smtClean="0">
                <a:solidFill>
                  <a:srgbClr val="FFFF99"/>
                </a:solidFill>
                <a:cs typeface="B Kamran" pitchFamily="2" charset="-78"/>
              </a:rPr>
              <a:t>Social Phobia</a:t>
            </a:r>
          </a:p>
        </p:txBody>
      </p:sp>
    </p:spTree>
    <p:extLst>
      <p:ext uri="{BB962C8B-B14F-4D97-AF65-F5344CB8AC3E}">
        <p14:creationId xmlns:p14="http://schemas.microsoft.com/office/powerpoint/2010/main" val="358550469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42</a:t>
            </a:fld>
            <a:endParaRPr lang="en-US">
              <a:solidFill>
                <a:prstClr val="black">
                  <a:tint val="75000"/>
                </a:prstClr>
              </a:solidFill>
            </a:endParaRPr>
          </a:p>
        </p:txBody>
      </p:sp>
      <p:sp>
        <p:nvSpPr>
          <p:cNvPr id="3" name="Rectangle 2"/>
          <p:cNvSpPr/>
          <p:nvPr/>
        </p:nvSpPr>
        <p:spPr>
          <a:xfrm>
            <a:off x="1547674" y="5445224"/>
            <a:ext cx="6854762" cy="923330"/>
          </a:xfrm>
          <a:prstGeom prst="rect">
            <a:avLst/>
          </a:prstGeom>
        </p:spPr>
        <p:txBody>
          <a:bodyPr wrap="none">
            <a:spAutoFit/>
          </a:bodyPr>
          <a:lstStyle/>
          <a:p>
            <a:r>
              <a:rPr lang="fa-IR" altLang="ar-SA" sz="5400" dirty="0" smtClean="0">
                <a:solidFill>
                  <a:srgbClr val="000066"/>
                </a:solidFill>
                <a:cs typeface="B Nazanin" pitchFamily="2" charset="-78"/>
              </a:rPr>
              <a:t>اختلال وسواس فکری-عملی</a:t>
            </a:r>
            <a:endParaRPr lang="fa-IR" sz="5400" dirty="0">
              <a:solidFill>
                <a:prstClr val="black"/>
              </a:solidFill>
            </a:endParaRPr>
          </a:p>
        </p:txBody>
      </p:sp>
      <p:sp>
        <p:nvSpPr>
          <p:cNvPr id="4" name="Rectangle 3">
            <a:hlinkClick r:id="rId3" action="ppaction://hlinkfile"/>
          </p:cNvPr>
          <p:cNvSpPr/>
          <p:nvPr/>
        </p:nvSpPr>
        <p:spPr>
          <a:xfrm>
            <a:off x="3998722" y="6182614"/>
            <a:ext cx="612668" cy="397032"/>
          </a:xfrm>
          <a:prstGeom prst="rect">
            <a:avLst/>
          </a:prstGeom>
        </p:spPr>
        <p:txBody>
          <a:bodyPr wrap="none">
            <a:spAutoFit/>
          </a:bodyPr>
          <a:lstStyle/>
          <a:p>
            <a:pPr lvl="0" algn="just" fontAlgn="base">
              <a:lnSpc>
                <a:spcPct val="110000"/>
              </a:lnSpc>
              <a:spcBef>
                <a:spcPct val="0"/>
              </a:spcBef>
              <a:spcAft>
                <a:spcPct val="0"/>
              </a:spcAft>
            </a:pPr>
            <a:r>
              <a:rPr lang="fa-IR" altLang="ar-SA" dirty="0" smtClean="0">
                <a:solidFill>
                  <a:srgbClr val="000066"/>
                </a:solidFill>
                <a:cs typeface="B Nazanin" pitchFamily="2" charset="-78"/>
              </a:rPr>
              <a:t>کلیپ</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4676956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EA2EA107-A5B7-415C-ADB0-D25D96D895C2}" type="slidenum">
              <a:rPr lang="ar-SA" sz="1400" smtClean="0">
                <a:solidFill>
                  <a:prstClr val="black"/>
                </a:solidFill>
              </a:rPr>
              <a:pPr rtl="0" fontAlgn="base">
                <a:spcBef>
                  <a:spcPct val="0"/>
                </a:spcBef>
                <a:spcAft>
                  <a:spcPct val="0"/>
                </a:spcAft>
              </a:pPr>
              <a:t>43</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7652"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7653" name="Group 4"/>
          <p:cNvGrpSpPr>
            <a:grpSpLocks/>
          </p:cNvGrpSpPr>
          <p:nvPr/>
        </p:nvGrpSpPr>
        <p:grpSpPr bwMode="auto">
          <a:xfrm>
            <a:off x="533400" y="101650"/>
            <a:ext cx="8229600" cy="87313"/>
            <a:chOff x="0" y="900"/>
            <a:chExt cx="5759" cy="96"/>
          </a:xfrm>
        </p:grpSpPr>
        <p:sp>
          <p:nvSpPr>
            <p:cNvPr id="27657"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7654"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8199" name="Text Box 9"/>
          <p:cNvSpPr txBox="1">
            <a:spLocks noChangeArrowheads="1"/>
          </p:cNvSpPr>
          <p:nvPr/>
        </p:nvSpPr>
        <p:spPr bwMode="auto">
          <a:xfrm>
            <a:off x="533400" y="1104942"/>
            <a:ext cx="8070850" cy="5272213"/>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Obsessive Compulsive Disorder (OCD)</a:t>
            </a:r>
            <a:endParaRPr lang="fa-IR" altLang="ar-SA" sz="1800" dirty="0">
              <a:solidFill>
                <a:srgbClr val="000066"/>
              </a:solidFill>
              <a:cs typeface="B Nazanin" panose="00000400000000000000" pitchFamily="2" charset="-78"/>
            </a:endParaRPr>
          </a:p>
          <a:p>
            <a:pPr marL="342900" indent="-342900" algn="just" fontAlgn="base">
              <a:lnSpc>
                <a:spcPct val="110000"/>
              </a:lnSpc>
              <a:spcBef>
                <a:spcPct val="0"/>
              </a:spcBef>
              <a:spcAft>
                <a:spcPct val="0"/>
              </a:spcAft>
              <a:buFontTx/>
              <a:buAutoNum type="alphaUcParenR"/>
              <a:defRPr/>
            </a:pPr>
            <a:r>
              <a:rPr lang="fa-IR" altLang="ar-SA" sz="1600" b="1" dirty="0" smtClean="0">
                <a:solidFill>
                  <a:srgbClr val="000066"/>
                </a:solidFill>
                <a:cs typeface="B Nazanin" panose="00000400000000000000" pitchFamily="2" charset="-78"/>
              </a:rPr>
              <a:t>وسواس های فکری یا عملی:</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وسواس های فکری به گونه ای که در موارد 1، 2، 3 و 4 تعریف شده اند: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1- افکار، تکانه ها یا تصاویر ذهنی عود کننده و پایدار که در مقطعی از اختلال به شکلی مزاحم و نامناسب تجربه می شود و باعث اضطراب یا ناراحتی قابل ملاحظه ای می شوند.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2- این افکار، تکانه ها یا تصاویر ذهنی، نگرانی های شدیدی در مورد مشکلات زندگی واقعی نیستند.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3- شخص تلاش می کند این قبیل افکار، تکانه ها یا تصاویر ذهنی را نادیده بگیرد یا سرکوب کند یا آنها را با فکر یا عملی دیگر خنثی نماید.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4- شخص واقف است که افکار، تکانه ها یاتصاویر ذهنی وسواس، محصول ذهن اوست(از بیرون به او القا نشده است).</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وسواس های عملی به گونه ای که در موارد 1و 2 تعریف شده اند: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1- رفتارهای تکراری (ماند شستن دست، منظم کردن، بازبینی) یا اعمال ذهنی (مانند دعا کردن، شمارش، تکرار واژه ها به آرامی) که شخص احساس می کند در واکنش به فکر وسواسی وادار به انجام آنهاست یا مطابق با قواعدی که باید به طور انعطاف ناپذیر به کار گرفته شود، صورت می گیرند.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2- مقصود از رفتارها یا اعمال ذهی، پیشگیری یا کاهش پریشانی یا پیشگیری از یک رویداد یا موقعیت هولناک است. با این حال، این رفتارها یا اعمال ذهنی به طریقی واقع گرایانه، با آنچه که قرار است خنثی یا پیشگیری کنند، ارتباط ندارد یا به طور آشکار افراطی هستند.</a:t>
            </a:r>
          </a:p>
          <a:p>
            <a:pPr algn="just" fontAlgn="base">
              <a:lnSpc>
                <a:spcPct val="110000"/>
              </a:lnSpc>
              <a:spcBef>
                <a:spcPct val="0"/>
              </a:spcBef>
              <a:spcAft>
                <a:spcPct val="0"/>
              </a:spcAft>
              <a:buFontTx/>
              <a:buNone/>
              <a:defRPr/>
            </a:pPr>
            <a:r>
              <a:rPr lang="en-US" altLang="ar-SA" sz="1600" b="1" dirty="0" smtClean="0">
                <a:solidFill>
                  <a:srgbClr val="000066"/>
                </a:solidFill>
                <a:cs typeface="B Nazanin" panose="00000400000000000000" pitchFamily="2" charset="-78"/>
              </a:rPr>
              <a:t>B</a:t>
            </a:r>
            <a:r>
              <a:rPr lang="fa-IR" altLang="ar-SA" sz="1600" b="1" dirty="0" smtClean="0">
                <a:solidFill>
                  <a:srgbClr val="000066"/>
                </a:solidFill>
                <a:cs typeface="B Nazanin" panose="00000400000000000000" pitchFamily="2" charset="-78"/>
              </a:rPr>
              <a:t>) در مرحله ای از سیر این اختلال، شخص متوجه می شود که وسواس های فکری یا عملی او مفرط یا غیر منطقی اند.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*در کودکان ممکن است این امر صدق نکند.</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Obsessive Compulsive Disorder</a:t>
            </a:r>
          </a:p>
        </p:txBody>
      </p:sp>
    </p:spTree>
    <p:extLst>
      <p:ext uri="{BB962C8B-B14F-4D97-AF65-F5344CB8AC3E}">
        <p14:creationId xmlns:p14="http://schemas.microsoft.com/office/powerpoint/2010/main" val="72943324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580317CC-2333-41DA-8D6C-BFE5910D67BA}" type="slidenum">
              <a:rPr lang="ar-SA" sz="1400" smtClean="0">
                <a:solidFill>
                  <a:prstClr val="black"/>
                </a:solidFill>
              </a:rPr>
              <a:pPr rtl="0" fontAlgn="base">
                <a:spcBef>
                  <a:spcPct val="0"/>
                </a:spcBef>
                <a:spcAft>
                  <a:spcPct val="0"/>
                </a:spcAft>
              </a:pPr>
              <a:t>44</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662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6629" name="Group 4"/>
          <p:cNvGrpSpPr>
            <a:grpSpLocks/>
          </p:cNvGrpSpPr>
          <p:nvPr/>
        </p:nvGrpSpPr>
        <p:grpSpPr bwMode="auto">
          <a:xfrm>
            <a:off x="533400" y="101650"/>
            <a:ext cx="8229600" cy="87313"/>
            <a:chOff x="0" y="900"/>
            <a:chExt cx="5759" cy="96"/>
          </a:xfrm>
        </p:grpSpPr>
        <p:sp>
          <p:nvSpPr>
            <p:cNvPr id="2663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663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663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6631" name="Text Box 9"/>
          <p:cNvSpPr txBox="1">
            <a:spLocks noChangeArrowheads="1"/>
          </p:cNvSpPr>
          <p:nvPr/>
        </p:nvSpPr>
        <p:spPr bwMode="auto">
          <a:xfrm>
            <a:off x="611213" y="1312889"/>
            <a:ext cx="7921625" cy="4154984"/>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شیوع </a:t>
            </a:r>
            <a:r>
              <a:rPr lang="en-US" altLang="ar-SA" sz="2400" dirty="0" smtClean="0">
                <a:solidFill>
                  <a:srgbClr val="000066"/>
                </a:solidFill>
                <a:latin typeface="Aparajita" pitchFamily="34" charset="0"/>
                <a:cs typeface="B Kamran" pitchFamily="2" charset="-78"/>
              </a:rPr>
              <a:t>OCD</a:t>
            </a:r>
            <a:r>
              <a:rPr lang="fa-IR" altLang="ar-SA" sz="2400" dirty="0" smtClean="0">
                <a:solidFill>
                  <a:srgbClr val="000066"/>
                </a:solidFill>
                <a:latin typeface="Aparajita" pitchFamily="34" charset="0"/>
                <a:cs typeface="B Kamran" pitchFamily="2" charset="-78"/>
              </a:rPr>
              <a:t> در کودکان و نوجوانان 2 تا 3 درصد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شیوع </a:t>
            </a:r>
            <a:r>
              <a:rPr lang="en-US" altLang="ar-SA" sz="2400" dirty="0" smtClean="0">
                <a:solidFill>
                  <a:srgbClr val="000066"/>
                </a:solidFill>
                <a:latin typeface="Aparajita" pitchFamily="34" charset="0"/>
                <a:cs typeface="B Kamran" pitchFamily="2" charset="-78"/>
              </a:rPr>
              <a:t>OCD</a:t>
            </a:r>
            <a:r>
              <a:rPr lang="fa-IR" altLang="ar-SA" sz="2400" dirty="0" smtClean="0">
                <a:solidFill>
                  <a:srgbClr val="000066"/>
                </a:solidFill>
                <a:latin typeface="Aparajita" pitchFamily="34" charset="0"/>
                <a:cs typeface="B Kamran" pitchFamily="2" charset="-78"/>
              </a:rPr>
              <a:t> در پسران دوبرابر دختران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مهمترین اختلالات همایند </a:t>
            </a:r>
            <a:r>
              <a:rPr lang="en-US" altLang="ar-SA" sz="2400" dirty="0" smtClean="0">
                <a:solidFill>
                  <a:srgbClr val="000066"/>
                </a:solidFill>
                <a:latin typeface="Aparajita" pitchFamily="34" charset="0"/>
                <a:cs typeface="B Kamran" pitchFamily="2" charset="-78"/>
              </a:rPr>
              <a:t>OCD</a:t>
            </a:r>
            <a:r>
              <a:rPr lang="fa-IR" altLang="ar-SA" sz="2400" dirty="0" smtClean="0">
                <a:solidFill>
                  <a:srgbClr val="000066"/>
                </a:solidFill>
                <a:latin typeface="Aparajita" pitchFamily="34" charset="0"/>
                <a:cs typeface="B Kamran" pitchFamily="2" charset="-78"/>
              </a:rPr>
              <a:t> سایر اختلالات اضطرابی، اختلال های افسردگی و در کودکان بزرگتر، اختلال های رفتار اخلالگرانه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سوء مصرف مواد، اختلالات یادگیری، اختلالات خوردن و تیک های صوتی و حرکتی نیز در کودکان مبتلا به </a:t>
            </a:r>
            <a:r>
              <a:rPr lang="en-US" altLang="ar-SA" sz="2400" dirty="0" smtClean="0">
                <a:solidFill>
                  <a:srgbClr val="000066"/>
                </a:solidFill>
                <a:latin typeface="Aparajita" pitchFamily="34" charset="0"/>
                <a:cs typeface="B Kamran" pitchFamily="2" charset="-78"/>
              </a:rPr>
              <a:t>OCD</a:t>
            </a:r>
            <a:r>
              <a:rPr lang="fa-IR" altLang="ar-SA" sz="2400" dirty="0" smtClean="0">
                <a:solidFill>
                  <a:srgbClr val="000066"/>
                </a:solidFill>
                <a:latin typeface="Aparajita" pitchFamily="34" charset="0"/>
                <a:cs typeface="B Kamran" pitchFamily="2" charset="-78"/>
              </a:rPr>
              <a:t> دیده می شود.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میانگین سن شروع </a:t>
            </a:r>
            <a:r>
              <a:rPr lang="en-US" altLang="ar-SA" sz="2400" dirty="0" smtClean="0">
                <a:solidFill>
                  <a:srgbClr val="000066"/>
                </a:solidFill>
                <a:latin typeface="Aparajita" pitchFamily="34" charset="0"/>
                <a:cs typeface="B Kamran" pitchFamily="2" charset="-78"/>
              </a:rPr>
              <a:t>OCD</a:t>
            </a:r>
            <a:r>
              <a:rPr lang="fa-IR" altLang="ar-SA" sz="2400" dirty="0" smtClean="0">
                <a:solidFill>
                  <a:srgbClr val="000066"/>
                </a:solidFill>
                <a:latin typeface="Aparajita" pitchFamily="34" charset="0"/>
                <a:cs typeface="B Kamran" pitchFamily="2" charset="-78"/>
              </a:rPr>
              <a:t> 9 تا 12 سالگی همراه با دو نقطه اوج است (اوایل کودکی و اوایل نوجوانی)</a:t>
            </a:r>
          </a:p>
          <a:p>
            <a:pPr algn="just" fontAlgn="base">
              <a:lnSpc>
                <a:spcPct val="110000"/>
              </a:lnSpc>
              <a:spcBef>
                <a:spcPct val="0"/>
              </a:spcBef>
              <a:spcAft>
                <a:spcPct val="0"/>
              </a:spcAft>
              <a:buFont typeface="Wingdings" pitchFamily="2" charset="2"/>
              <a:buChar char="ü"/>
            </a:pPr>
            <a:r>
              <a:rPr lang="en-US" altLang="ar-SA" sz="2400" dirty="0" smtClean="0">
                <a:solidFill>
                  <a:srgbClr val="000066"/>
                </a:solidFill>
                <a:latin typeface="Aparajita" pitchFamily="34" charset="0"/>
                <a:cs typeface="B Kamran" pitchFamily="2" charset="-78"/>
              </a:rPr>
              <a:t>OCD</a:t>
            </a:r>
            <a:r>
              <a:rPr lang="fa-IR" altLang="ar-SA" sz="2400" dirty="0" smtClean="0">
                <a:solidFill>
                  <a:srgbClr val="000066"/>
                </a:solidFill>
                <a:latin typeface="Aparajita" pitchFamily="34" charset="0"/>
                <a:cs typeface="B Kamran" pitchFamily="2" charset="-78"/>
              </a:rPr>
              <a:t> با شروع زودرس، بیانگر احتمال الگوی خانوادگی و نقش ژنتیک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FF0000"/>
                </a:solidFill>
                <a:latin typeface="Aparajita" pitchFamily="34" charset="0"/>
                <a:cs typeface="B Kamran" pitchFamily="2" charset="-78"/>
              </a:rPr>
              <a:t>احتمال تغییر شکل </a:t>
            </a:r>
            <a:r>
              <a:rPr lang="en-US" altLang="ar-SA" sz="2400" dirty="0" smtClean="0">
                <a:solidFill>
                  <a:srgbClr val="FF0000"/>
                </a:solidFill>
                <a:latin typeface="Aparajita" pitchFamily="34" charset="0"/>
                <a:cs typeface="B Kamran" pitchFamily="2" charset="-78"/>
              </a:rPr>
              <a:t>OCD</a:t>
            </a:r>
            <a:r>
              <a:rPr lang="fa-IR" altLang="ar-SA" sz="2400" dirty="0" smtClean="0">
                <a:solidFill>
                  <a:srgbClr val="FF0000"/>
                </a:solidFill>
                <a:latin typeface="Aparajita" pitchFamily="34" charset="0"/>
                <a:cs typeface="B Kamran" pitchFamily="2" charset="-78"/>
              </a:rPr>
              <a:t> در کودکان نیز با تغییر سن وجود دارد.</a:t>
            </a:r>
          </a:p>
        </p:txBody>
      </p:sp>
      <p:sp>
        <p:nvSpPr>
          <p:cNvPr id="26632" name="Text Box 12"/>
          <p:cNvSpPr txBox="1">
            <a:spLocks noChangeArrowheads="1"/>
          </p:cNvSpPr>
          <p:nvPr/>
        </p:nvSpPr>
        <p:spPr bwMode="auto">
          <a:xfrm>
            <a:off x="2916238" y="188913"/>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smtClean="0">
                <a:solidFill>
                  <a:srgbClr val="FFFF99"/>
                </a:solidFill>
                <a:cs typeface="B Kamran" pitchFamily="2" charset="-78"/>
              </a:rPr>
              <a:t>Obsessive Compulsive Disorder</a:t>
            </a:r>
          </a:p>
          <a:p>
            <a:pPr algn="ctr" eaLnBrk="0" fontAlgn="base" hangingPunct="0">
              <a:spcBef>
                <a:spcPct val="0"/>
              </a:spcBef>
              <a:spcAft>
                <a:spcPct val="0"/>
              </a:spcAft>
            </a:pPr>
            <a:endParaRPr lang="en-US" altLang="ar-SA" sz="1600" b="1" smtClean="0">
              <a:solidFill>
                <a:srgbClr val="FFFF99"/>
              </a:solidFill>
              <a:cs typeface="B Kamran" pitchFamily="2" charset="-78"/>
            </a:endParaRPr>
          </a:p>
        </p:txBody>
      </p:sp>
    </p:spTree>
    <p:extLst>
      <p:ext uri="{BB962C8B-B14F-4D97-AF65-F5344CB8AC3E}">
        <p14:creationId xmlns:p14="http://schemas.microsoft.com/office/powerpoint/2010/main" val="17121326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6000" b="-16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45</a:t>
            </a:fld>
            <a:endParaRPr lang="en-US">
              <a:solidFill>
                <a:prstClr val="black">
                  <a:tint val="75000"/>
                </a:prstClr>
              </a:solidFill>
            </a:endParaRPr>
          </a:p>
        </p:txBody>
      </p:sp>
      <p:sp>
        <p:nvSpPr>
          <p:cNvPr id="3" name="Rectangle 2"/>
          <p:cNvSpPr/>
          <p:nvPr/>
        </p:nvSpPr>
        <p:spPr>
          <a:xfrm>
            <a:off x="95346" y="2564904"/>
            <a:ext cx="8307082" cy="923330"/>
          </a:xfrm>
          <a:prstGeom prst="rect">
            <a:avLst/>
          </a:prstGeom>
        </p:spPr>
        <p:txBody>
          <a:bodyPr wrap="none">
            <a:spAutoFit/>
          </a:bodyPr>
          <a:lstStyle/>
          <a:p>
            <a:r>
              <a:rPr lang="fa-IR" altLang="ar-SA" sz="5400" dirty="0" smtClean="0">
                <a:solidFill>
                  <a:srgbClr val="000066"/>
                </a:solidFill>
                <a:cs typeface="B Nazanin" pitchFamily="2" charset="-78"/>
              </a:rPr>
              <a:t>اختلال استرس پس از سانحه روانی</a:t>
            </a:r>
            <a:endParaRPr lang="fa-IR" sz="5400" dirty="0">
              <a:solidFill>
                <a:prstClr val="black"/>
              </a:solidFill>
            </a:endParaRPr>
          </a:p>
        </p:txBody>
      </p:sp>
    </p:spTree>
    <p:extLst>
      <p:ext uri="{BB962C8B-B14F-4D97-AF65-F5344CB8AC3E}">
        <p14:creationId xmlns:p14="http://schemas.microsoft.com/office/powerpoint/2010/main" val="346789866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A52BCFA3-5906-440F-9857-34626E23E9DF}" type="slidenum">
              <a:rPr lang="ar-SA" sz="1400" smtClean="0">
                <a:solidFill>
                  <a:prstClr val="black"/>
                </a:solidFill>
              </a:rPr>
              <a:pPr rtl="0" fontAlgn="base">
                <a:spcBef>
                  <a:spcPct val="0"/>
                </a:spcBef>
                <a:spcAft>
                  <a:spcPct val="0"/>
                </a:spcAft>
              </a:pPr>
              <a:t>46</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1748"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1749" name="Group 4"/>
          <p:cNvGrpSpPr>
            <a:grpSpLocks/>
          </p:cNvGrpSpPr>
          <p:nvPr/>
        </p:nvGrpSpPr>
        <p:grpSpPr bwMode="auto">
          <a:xfrm>
            <a:off x="533400" y="101650"/>
            <a:ext cx="8229600" cy="87313"/>
            <a:chOff x="0" y="900"/>
            <a:chExt cx="5759" cy="96"/>
          </a:xfrm>
        </p:grpSpPr>
        <p:sp>
          <p:nvSpPr>
            <p:cNvPr id="31753"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1754"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1750"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460375" y="836548"/>
            <a:ext cx="8070850" cy="581389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PTSD</a:t>
            </a:r>
            <a:endParaRPr lang="fa-IR" altLang="ar-SA" sz="1800" dirty="0" smtClean="0">
              <a:solidFill>
                <a:srgbClr val="000066"/>
              </a:solidFill>
              <a:cs typeface="B Nazanin" panose="00000400000000000000" pitchFamily="2" charset="-78"/>
            </a:endParaRP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معیارهای زیر برای بزرگسالان، نوجوانان، و کودکان بزرگتر از 6 ساله است.</a:t>
            </a:r>
          </a:p>
          <a:p>
            <a:pPr algn="just" fontAlgn="base">
              <a:lnSpc>
                <a:spcPct val="110000"/>
              </a:lnSpc>
              <a:spcBef>
                <a:spcPct val="0"/>
              </a:spcBef>
              <a:spcAft>
                <a:spcPct val="0"/>
              </a:spcAft>
              <a:buNone/>
              <a:defRPr/>
            </a:pPr>
            <a:r>
              <a:rPr lang="en-US" altLang="ar-SA" sz="1600" b="1" dirty="0">
                <a:solidFill>
                  <a:srgbClr val="000066"/>
                </a:solidFill>
                <a:cs typeface="B Nazanin" panose="00000400000000000000" pitchFamily="2" charset="-78"/>
              </a:rPr>
              <a:t>A- </a:t>
            </a:r>
            <a:r>
              <a:rPr lang="fa-IR" altLang="ar-SA" sz="1600" b="1" dirty="0">
                <a:solidFill>
                  <a:srgbClr val="000066"/>
                </a:solidFill>
                <a:cs typeface="B Nazanin" panose="00000400000000000000" pitchFamily="2" charset="-78"/>
              </a:rPr>
              <a:t>قرار گرفتن در معرض مرگ یا تهدید شدن به مرگ، جراحت شدید، یا تجاوز جنسی به یکی از شیوه های زیر:</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1- فرد رویداد یا رویدادهای تروماتیک را به طور مستقیم تجربه می کند.</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2- شخصاً شاهد وقوع رویداد یا رویدادهای تروماتیک برای دیگران است.</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3- با خبر می شود که رویداد یا رویدادهای تروماتیک بر سر یکی از اعضای خانواده یا یکی از دوستان نزدیک آمده است. </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4- فرد به طور مکرر یا به طرز بسیار شدیدی در معرض جزئیات ناراحت کننده رویداد (های) تروماتیک قرار می گیرد (مثال: اولین کسانی که به محل وقوع حادثه می روند و اجساد و بقایای انسانی را جمع آوری می کنند.</a:t>
            </a:r>
          </a:p>
          <a:p>
            <a:pPr algn="just" fontAlgn="base">
              <a:lnSpc>
                <a:spcPct val="110000"/>
              </a:lnSpc>
              <a:spcBef>
                <a:spcPct val="0"/>
              </a:spcBef>
              <a:spcAft>
                <a:spcPct val="0"/>
              </a:spcAft>
              <a:buNone/>
              <a:defRPr/>
            </a:pPr>
            <a:r>
              <a:rPr lang="en-US" altLang="ar-SA" sz="1600" b="1" dirty="0">
                <a:solidFill>
                  <a:srgbClr val="000066"/>
                </a:solidFill>
                <a:cs typeface="B Nazanin" panose="00000400000000000000" pitchFamily="2" charset="-78"/>
              </a:rPr>
              <a:t>B- </a:t>
            </a:r>
            <a:r>
              <a:rPr lang="fa-IR" altLang="ar-SA" sz="1600" b="1" dirty="0">
                <a:solidFill>
                  <a:srgbClr val="000066"/>
                </a:solidFill>
                <a:cs typeface="B Nazanin" panose="00000400000000000000" pitchFamily="2" charset="-78"/>
              </a:rPr>
              <a:t>حضور یک یا چند سمپتوم از سمپتوم های زیر در رابطه با نفوذ یا ورود افکار مزاحم و ناخواسته مربوط به رویداد (های) تروماتیک، که بعد از اتفاق افتادن آن (آنها) شروع شده اند.</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1- خاطرات تکراری، غیر ارادی، و مزاحم از رویداد یا رویدادهای تروماتیک به طور خود به خود یا به علت برخی از محرک ها به یاد فرد می آیند.</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2- کابوس های تکراری و ناراحت کننده که در آنها، محتوا یا احساسات موجود در رویا با رویداد یا رویدادهای تروماتیک  مرتبط هستند.</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3- واکنش های گسستگی (مثل فلاش بک) که در آنها فرد طوری احساس یا عمل می کند که انگار رویداد یا رویدادهای تروماتیک  دوباره در حال روی دادن است. </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4- وقتی فرد در معرض محرک¬های درونی یا بیرونی قرار می¬گیرد، به دیسترس پسیکولوژیک شدید یا طولانی دچار می-شود.</a:t>
            </a:r>
          </a:p>
          <a:p>
            <a:pPr algn="just" fontAlgn="base">
              <a:lnSpc>
                <a:spcPct val="110000"/>
              </a:lnSpc>
              <a:spcBef>
                <a:spcPct val="0"/>
              </a:spcBef>
              <a:spcAft>
                <a:spcPct val="0"/>
              </a:spcAft>
              <a:buNone/>
              <a:defRPr/>
            </a:pPr>
            <a:r>
              <a:rPr lang="fa-IR" altLang="ar-SA" sz="1600" b="1" dirty="0">
                <a:solidFill>
                  <a:srgbClr val="000066"/>
                </a:solidFill>
                <a:cs typeface="B Nazanin" panose="00000400000000000000" pitchFamily="2" charset="-78"/>
              </a:rPr>
              <a:t>5- فرد به محرک¬هایی که او را به یاد رویداد یا رویدادهای تروماتیک می¬اندازد، واکنش¬های فیزیولوژیک شدید نشان می¬دهد.</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Post traumatic stress disorder</a:t>
            </a:r>
          </a:p>
        </p:txBody>
      </p:sp>
    </p:spTree>
    <p:extLst>
      <p:ext uri="{BB962C8B-B14F-4D97-AF65-F5344CB8AC3E}">
        <p14:creationId xmlns:p14="http://schemas.microsoft.com/office/powerpoint/2010/main" val="347263296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025AD50D-28C9-4CC4-86FE-5FF03E2FC520}" type="slidenum">
              <a:rPr lang="ar-SA" sz="1400" smtClean="0">
                <a:solidFill>
                  <a:prstClr val="black"/>
                </a:solidFill>
              </a:rPr>
              <a:pPr rtl="0" fontAlgn="base">
                <a:spcBef>
                  <a:spcPct val="0"/>
                </a:spcBef>
                <a:spcAft>
                  <a:spcPct val="0"/>
                </a:spcAft>
              </a:pPr>
              <a:t>47</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2772"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2773" name="Group 4"/>
          <p:cNvGrpSpPr>
            <a:grpSpLocks/>
          </p:cNvGrpSpPr>
          <p:nvPr/>
        </p:nvGrpSpPr>
        <p:grpSpPr bwMode="auto">
          <a:xfrm>
            <a:off x="533400" y="101650"/>
            <a:ext cx="8229600" cy="87313"/>
            <a:chOff x="0" y="900"/>
            <a:chExt cx="5759" cy="96"/>
          </a:xfrm>
        </p:grpSpPr>
        <p:sp>
          <p:nvSpPr>
            <p:cNvPr id="32777"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2778"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2774"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2775" name="Text Box 9"/>
          <p:cNvSpPr txBox="1">
            <a:spLocks noChangeArrowheads="1"/>
          </p:cNvSpPr>
          <p:nvPr/>
        </p:nvSpPr>
        <p:spPr bwMode="auto">
          <a:xfrm>
            <a:off x="557360" y="662351"/>
            <a:ext cx="8070850" cy="6084743"/>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rtl="0" fontAlgn="base">
              <a:lnSpc>
                <a:spcPct val="110000"/>
              </a:lnSpc>
              <a:spcBef>
                <a:spcPct val="0"/>
              </a:spcBef>
              <a:spcAft>
                <a:spcPct val="0"/>
              </a:spcAft>
            </a:pPr>
            <a:r>
              <a:rPr lang="en-US" altLang="ar-SA" sz="1800" b="1" dirty="0" smtClean="0">
                <a:solidFill>
                  <a:srgbClr val="FF0000"/>
                </a:solidFill>
                <a:cs typeface="B Nazanin" pitchFamily="2" charset="-78"/>
              </a:rPr>
              <a:t>criteria for PTSD</a:t>
            </a:r>
            <a:endParaRPr lang="en-US" altLang="ar-SA" sz="1600" b="1" dirty="0">
              <a:solidFill>
                <a:srgbClr val="000066"/>
              </a:solidFill>
              <a:cs typeface="B Nazanin" pitchFamily="2" charset="-78"/>
            </a:endParaRPr>
          </a:p>
          <a:p>
            <a:pPr algn="just" fontAlgn="base">
              <a:lnSpc>
                <a:spcPct val="110000"/>
              </a:lnSpc>
              <a:spcBef>
                <a:spcPct val="0"/>
              </a:spcBef>
              <a:spcAft>
                <a:spcPct val="0"/>
              </a:spcAft>
            </a:pPr>
            <a:r>
              <a:rPr lang="en-US" altLang="ar-SA" sz="1600" b="1" dirty="0">
                <a:solidFill>
                  <a:srgbClr val="000066"/>
                </a:solidFill>
                <a:cs typeface="B Nazanin" pitchFamily="2" charset="-78"/>
              </a:rPr>
              <a:t>C- </a:t>
            </a:r>
            <a:r>
              <a:rPr lang="fa-IR" altLang="ar-SA" sz="1600" b="1" dirty="0">
                <a:solidFill>
                  <a:srgbClr val="000066"/>
                </a:solidFill>
                <a:cs typeface="B Nazanin" pitchFamily="2" charset="-78"/>
              </a:rPr>
              <a:t>فرد از محرک هایی که با رویداد یا رویدادهای تروماتیک تداعی شده اند،  به طور دایم اجتناب می کند و این اجتناب کردن ها بعد از اتفاق افتادن رویداد یا رویدادهای تروماتیک  شروع شده اند. این موضوع را یک یا هر دو مورد زیر نشان می دهند:</a:t>
            </a:r>
          </a:p>
          <a:p>
            <a:pPr algn="just" fontAlgn="base">
              <a:lnSpc>
                <a:spcPct val="110000"/>
              </a:lnSpc>
              <a:spcBef>
                <a:spcPct val="0"/>
              </a:spcBef>
              <a:spcAft>
                <a:spcPct val="0"/>
              </a:spcAft>
            </a:pPr>
            <a:r>
              <a:rPr lang="fa-IR" altLang="ar-SA" sz="1600" b="1" dirty="0">
                <a:solidFill>
                  <a:srgbClr val="000066"/>
                </a:solidFill>
                <a:cs typeface="B Nazanin" pitchFamily="2" charset="-78"/>
              </a:rPr>
              <a:t>1- فرد از خاطرات، افکار، یا احساساتی که به طور مستقیم یا غیر مستقیم با رویداد تروماتیک مرتبط هستند، اجتناب می¬کند.</a:t>
            </a:r>
          </a:p>
          <a:p>
            <a:pPr algn="just" fontAlgn="base">
              <a:lnSpc>
                <a:spcPct val="110000"/>
              </a:lnSpc>
              <a:spcBef>
                <a:spcPct val="0"/>
              </a:spcBef>
              <a:spcAft>
                <a:spcPct val="0"/>
              </a:spcAft>
            </a:pPr>
            <a:r>
              <a:rPr lang="fa-IR" altLang="ar-SA" sz="1600" b="1" dirty="0">
                <a:solidFill>
                  <a:srgbClr val="000066"/>
                </a:solidFill>
                <a:cs typeface="B Nazanin" pitchFamily="2" charset="-78"/>
              </a:rPr>
              <a:t>2- فرد از بعضی از محرک های یاد آور بیرونی (مثلاً برخی افراد، مکان ها، صحبت ها، فعالیت ها، اشیا، موقعیت ها) که باعث می شوند خاطرات، افکار، یا احساسات ناراحت کننده درباره رویداد (های) تروماتیک یا در ارتباط نزدیک با آنها، زنده شوند اجتناب می کند.</a:t>
            </a:r>
          </a:p>
          <a:p>
            <a:pPr algn="just" fontAlgn="base">
              <a:lnSpc>
                <a:spcPct val="110000"/>
              </a:lnSpc>
              <a:spcBef>
                <a:spcPct val="0"/>
              </a:spcBef>
              <a:spcAft>
                <a:spcPct val="0"/>
              </a:spcAft>
            </a:pPr>
            <a:r>
              <a:rPr lang="en-US" altLang="ar-SA" sz="1600" b="1" dirty="0">
                <a:solidFill>
                  <a:srgbClr val="000066"/>
                </a:solidFill>
                <a:cs typeface="B Nazanin" pitchFamily="2" charset="-78"/>
              </a:rPr>
              <a:t>D- </a:t>
            </a:r>
            <a:r>
              <a:rPr lang="fa-IR" altLang="ar-SA" sz="1600" b="1" dirty="0">
                <a:solidFill>
                  <a:srgbClr val="000066"/>
                </a:solidFill>
                <a:cs typeface="B Nazanin" pitchFamily="2" charset="-78"/>
              </a:rPr>
              <a:t>در شناخت ها (فعالیت های فکری و ذهنی) و در مود یا خلق فرد تغییراتی منفی و مرتبط با رویداد یا رویدادهای تروماتیک ایجاد می شود، که بعد از وقوع رویداد یا رویدادهای تروماتیک شروع می شوند یا اگر از قبل شروع شده اند، شدید تر و بدتر می شوند. این موضوع را دو یا چند مورد  از موارد زیر نشان می دهند:</a:t>
            </a:r>
          </a:p>
          <a:p>
            <a:pPr algn="just" fontAlgn="base">
              <a:lnSpc>
                <a:spcPct val="110000"/>
              </a:lnSpc>
              <a:spcBef>
                <a:spcPct val="0"/>
              </a:spcBef>
              <a:spcAft>
                <a:spcPct val="0"/>
              </a:spcAft>
            </a:pPr>
            <a:r>
              <a:rPr lang="fa-IR" altLang="ar-SA" sz="1600" b="1" dirty="0">
                <a:solidFill>
                  <a:srgbClr val="000066"/>
                </a:solidFill>
                <a:cs typeface="B Nazanin" pitchFamily="2" charset="-78"/>
              </a:rPr>
              <a:t>1- ناتوانی در به یاد آوردن یکی از جنبه های مهم رویداد یا رویدادهای تروماتیک؛</a:t>
            </a:r>
          </a:p>
          <a:p>
            <a:pPr algn="just" fontAlgn="base">
              <a:lnSpc>
                <a:spcPct val="110000"/>
              </a:lnSpc>
              <a:spcBef>
                <a:spcPct val="0"/>
              </a:spcBef>
              <a:spcAft>
                <a:spcPct val="0"/>
              </a:spcAft>
            </a:pPr>
            <a:r>
              <a:rPr lang="fa-IR" altLang="ar-SA" sz="1600" b="1" dirty="0">
                <a:solidFill>
                  <a:srgbClr val="000066"/>
                </a:solidFill>
                <a:cs typeface="B Nazanin" pitchFamily="2" charset="-78"/>
              </a:rPr>
              <a:t>2- فرد در مورد خودش، دیگران، یا دنیا، باورها یا انتظارات منفی، دائمی، و اغراق آمیز دارد (مثلاً من آدم بدی هستم)؛</a:t>
            </a:r>
          </a:p>
          <a:p>
            <a:pPr algn="just" fontAlgn="base">
              <a:lnSpc>
                <a:spcPct val="110000"/>
              </a:lnSpc>
              <a:spcBef>
                <a:spcPct val="0"/>
              </a:spcBef>
              <a:spcAft>
                <a:spcPct val="0"/>
              </a:spcAft>
            </a:pPr>
            <a:r>
              <a:rPr lang="fa-IR" altLang="ar-SA" sz="1600" b="1" dirty="0">
                <a:solidFill>
                  <a:srgbClr val="000066"/>
                </a:solidFill>
                <a:cs typeface="B Nazanin" pitchFamily="2" charset="-78"/>
              </a:rPr>
              <a:t>3- فرد افکار منفی دائمی درباره علت یا پیامدهای رویداد یا رویدادهای تروماتیک دارد که باعث می شوند فرد خودش یا دیگران را مقصر بداند.</a:t>
            </a:r>
          </a:p>
          <a:p>
            <a:pPr algn="just" fontAlgn="base">
              <a:lnSpc>
                <a:spcPct val="110000"/>
              </a:lnSpc>
              <a:spcBef>
                <a:spcPct val="0"/>
              </a:spcBef>
              <a:spcAft>
                <a:spcPct val="0"/>
              </a:spcAft>
            </a:pPr>
            <a:r>
              <a:rPr lang="fa-IR" altLang="ar-SA" sz="1600" b="1" dirty="0">
                <a:solidFill>
                  <a:srgbClr val="000066"/>
                </a:solidFill>
                <a:cs typeface="B Nazanin" pitchFamily="2" charset="-78"/>
              </a:rPr>
              <a:t>4- فرد به طور دائم در حالت هیجانی منفی قرار دارد (ترس، وحشت، خشم، احساس عذاب وجدان یا گناه، شرم)؛</a:t>
            </a:r>
          </a:p>
          <a:p>
            <a:pPr algn="just" fontAlgn="base">
              <a:lnSpc>
                <a:spcPct val="110000"/>
              </a:lnSpc>
              <a:spcBef>
                <a:spcPct val="0"/>
              </a:spcBef>
              <a:spcAft>
                <a:spcPct val="0"/>
              </a:spcAft>
            </a:pPr>
            <a:r>
              <a:rPr lang="fa-IR" altLang="ar-SA" sz="1600" b="1" dirty="0">
                <a:solidFill>
                  <a:srgbClr val="000066"/>
                </a:solidFill>
                <a:cs typeface="B Nazanin" pitchFamily="2" charset="-78"/>
              </a:rPr>
              <a:t>5- از علاقه فرد به فعالیت های مهم زندگی یا میزان شرکت وی در آنها به شدت کاسته شده است؛</a:t>
            </a:r>
          </a:p>
          <a:p>
            <a:pPr algn="just" fontAlgn="base">
              <a:lnSpc>
                <a:spcPct val="110000"/>
              </a:lnSpc>
              <a:spcBef>
                <a:spcPct val="0"/>
              </a:spcBef>
              <a:spcAft>
                <a:spcPct val="0"/>
              </a:spcAft>
            </a:pPr>
            <a:r>
              <a:rPr lang="fa-IR" altLang="ar-SA" sz="1600" b="1" dirty="0">
                <a:solidFill>
                  <a:srgbClr val="000066"/>
                </a:solidFill>
                <a:cs typeface="B Nazanin" pitchFamily="2" charset="-78"/>
              </a:rPr>
              <a:t>6- احساس می کند نمی خواهد با دیگران مراوده داشته باشد یا آنها غریبه شده اند؛</a:t>
            </a:r>
          </a:p>
          <a:p>
            <a:pPr algn="just" fontAlgn="base">
              <a:lnSpc>
                <a:spcPct val="110000"/>
              </a:lnSpc>
              <a:spcBef>
                <a:spcPct val="0"/>
              </a:spcBef>
              <a:spcAft>
                <a:spcPct val="0"/>
              </a:spcAft>
            </a:pPr>
            <a:r>
              <a:rPr lang="fa-IR" altLang="ar-SA" sz="1600" b="1" dirty="0">
                <a:solidFill>
                  <a:srgbClr val="000066"/>
                </a:solidFill>
                <a:cs typeface="B Nazanin" pitchFamily="2" charset="-78"/>
              </a:rPr>
              <a:t>7- فرد به طور دائم نمی تواند هیجانات مثبت را تجربه کند (مثلاً نمی تواند شادی را تجربه کند، از زندگی خود رضایت ندارد، یا نمی تواند عاشقانه کسی را دوست داشته باشد).</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Post traumatic stress disorder</a:t>
            </a:r>
          </a:p>
        </p:txBody>
      </p:sp>
    </p:spTree>
    <p:extLst>
      <p:ext uri="{BB962C8B-B14F-4D97-AF65-F5344CB8AC3E}">
        <p14:creationId xmlns:p14="http://schemas.microsoft.com/office/powerpoint/2010/main" val="133088497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E180BFFA-2A37-46E9-83F7-C3C9FC9F6294}" type="slidenum">
              <a:rPr lang="ar-SA" sz="1400" smtClean="0">
                <a:solidFill>
                  <a:prstClr val="black"/>
                </a:solidFill>
              </a:rPr>
              <a:pPr rtl="0" fontAlgn="base">
                <a:spcBef>
                  <a:spcPct val="0"/>
                </a:spcBef>
                <a:spcAft>
                  <a:spcPct val="0"/>
                </a:spcAft>
              </a:pPr>
              <a:t>48</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379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3797" name="Group 4"/>
          <p:cNvGrpSpPr>
            <a:grpSpLocks/>
          </p:cNvGrpSpPr>
          <p:nvPr/>
        </p:nvGrpSpPr>
        <p:grpSpPr bwMode="auto">
          <a:xfrm>
            <a:off x="533400" y="101650"/>
            <a:ext cx="8229600" cy="87313"/>
            <a:chOff x="0" y="900"/>
            <a:chExt cx="5759" cy="96"/>
          </a:xfrm>
        </p:grpSpPr>
        <p:sp>
          <p:nvSpPr>
            <p:cNvPr id="3380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380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379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3799" name="Text Box 9"/>
          <p:cNvSpPr txBox="1">
            <a:spLocks noChangeArrowheads="1"/>
          </p:cNvSpPr>
          <p:nvPr/>
        </p:nvSpPr>
        <p:spPr bwMode="auto">
          <a:xfrm>
            <a:off x="533400" y="1104924"/>
            <a:ext cx="8070850" cy="5272213"/>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rtl="0" fontAlgn="base">
              <a:lnSpc>
                <a:spcPct val="110000"/>
              </a:lnSpc>
              <a:spcBef>
                <a:spcPct val="0"/>
              </a:spcBef>
              <a:spcAft>
                <a:spcPct val="0"/>
              </a:spcAft>
            </a:pPr>
            <a:r>
              <a:rPr lang="en-US" altLang="ar-SA" sz="1800" b="1" dirty="0" smtClean="0">
                <a:solidFill>
                  <a:srgbClr val="FF0000"/>
                </a:solidFill>
                <a:cs typeface="B Nazanin" pitchFamily="2" charset="-78"/>
              </a:rPr>
              <a:t>criteria for PTSD</a:t>
            </a:r>
            <a:endParaRPr lang="fa-IR" altLang="ar-SA" sz="1800" dirty="0" smtClean="0">
              <a:solidFill>
                <a:srgbClr val="000066"/>
              </a:solidFill>
              <a:cs typeface="B Nazanin" pitchFamily="2" charset="-78"/>
            </a:endParaRPr>
          </a:p>
          <a:p>
            <a:pPr algn="just" fontAlgn="base">
              <a:lnSpc>
                <a:spcPct val="110000"/>
              </a:lnSpc>
              <a:spcBef>
                <a:spcPct val="0"/>
              </a:spcBef>
              <a:spcAft>
                <a:spcPct val="0"/>
              </a:spcAft>
            </a:pPr>
            <a:endParaRPr lang="en-US" altLang="ar-SA" sz="1600" b="1" dirty="0">
              <a:solidFill>
                <a:srgbClr val="000066"/>
              </a:solidFill>
              <a:cs typeface="B Nazanin" pitchFamily="2" charset="-78"/>
            </a:endParaRPr>
          </a:p>
          <a:p>
            <a:pPr algn="just" fontAlgn="base">
              <a:lnSpc>
                <a:spcPct val="110000"/>
              </a:lnSpc>
              <a:spcBef>
                <a:spcPct val="0"/>
              </a:spcBef>
              <a:spcAft>
                <a:spcPct val="0"/>
              </a:spcAft>
            </a:pPr>
            <a:r>
              <a:rPr lang="en-US" altLang="ar-SA" sz="1600" b="1" dirty="0">
                <a:solidFill>
                  <a:srgbClr val="000066"/>
                </a:solidFill>
                <a:cs typeface="B Nazanin" pitchFamily="2" charset="-78"/>
              </a:rPr>
              <a:t>E- </a:t>
            </a:r>
            <a:r>
              <a:rPr lang="fa-IR" altLang="ar-SA" sz="1600" b="1" dirty="0">
                <a:solidFill>
                  <a:srgbClr val="000066"/>
                </a:solidFill>
                <a:cs typeface="B Nazanin" pitchFamily="2" charset="-78"/>
              </a:rPr>
              <a:t>در برانگیختگی و نحوه واکنش فرد تغییراتی به وجود آمده است که با رویداد (های) تروماتیک مرتبط هستند. این تغییرات بعد از وقوع رویداد (های) تروماتیک شروع یا بدتر شده اند. این موضوع را دو یا چند مورد  از موارد زیر نشان می دهند:</a:t>
            </a:r>
          </a:p>
          <a:p>
            <a:pPr algn="just" fontAlgn="base">
              <a:lnSpc>
                <a:spcPct val="110000"/>
              </a:lnSpc>
              <a:spcBef>
                <a:spcPct val="0"/>
              </a:spcBef>
              <a:spcAft>
                <a:spcPct val="0"/>
              </a:spcAft>
            </a:pPr>
            <a:r>
              <a:rPr lang="fa-IR" altLang="ar-SA" sz="1600" b="1" dirty="0">
                <a:solidFill>
                  <a:srgbClr val="000066"/>
                </a:solidFill>
                <a:cs typeface="B Nazanin" pitchFamily="2" charset="-78"/>
              </a:rPr>
              <a:t>1- زود رنج است و ناگهان از خشم منفجر می شود؛</a:t>
            </a:r>
          </a:p>
          <a:p>
            <a:pPr algn="just" fontAlgn="base">
              <a:lnSpc>
                <a:spcPct val="110000"/>
              </a:lnSpc>
              <a:spcBef>
                <a:spcPct val="0"/>
              </a:spcBef>
              <a:spcAft>
                <a:spcPct val="0"/>
              </a:spcAft>
            </a:pPr>
            <a:r>
              <a:rPr lang="fa-IR" altLang="ar-SA" sz="1600" b="1" dirty="0">
                <a:solidFill>
                  <a:srgbClr val="000066"/>
                </a:solidFill>
                <a:cs typeface="B Nazanin" pitchFamily="2" charset="-78"/>
              </a:rPr>
              <a:t>2- بی احتیاط است، کارهای خطرناک می کند، یا رفتارهای خود تخریبی نشان می دهد؛</a:t>
            </a:r>
          </a:p>
          <a:p>
            <a:pPr algn="just" fontAlgn="base">
              <a:lnSpc>
                <a:spcPct val="110000"/>
              </a:lnSpc>
              <a:spcBef>
                <a:spcPct val="0"/>
              </a:spcBef>
              <a:spcAft>
                <a:spcPct val="0"/>
              </a:spcAft>
            </a:pPr>
            <a:r>
              <a:rPr lang="fa-IR" altLang="ar-SA" sz="1600" b="1" dirty="0">
                <a:solidFill>
                  <a:srgbClr val="000066"/>
                </a:solidFill>
                <a:cs typeface="B Nazanin" pitchFamily="2" charset="-78"/>
              </a:rPr>
              <a:t>3- دائم گوش بزنگ است و بیش از حد به اطراف خود توجه می کند؛</a:t>
            </a:r>
          </a:p>
          <a:p>
            <a:pPr algn="just" fontAlgn="base">
              <a:lnSpc>
                <a:spcPct val="110000"/>
              </a:lnSpc>
              <a:spcBef>
                <a:spcPct val="0"/>
              </a:spcBef>
              <a:spcAft>
                <a:spcPct val="0"/>
              </a:spcAft>
            </a:pPr>
            <a:r>
              <a:rPr lang="fa-IR" altLang="ar-SA" sz="1600" b="1" dirty="0">
                <a:solidFill>
                  <a:srgbClr val="000066"/>
                </a:solidFill>
                <a:cs typeface="B Nazanin" pitchFamily="2" charset="-78"/>
              </a:rPr>
              <a:t>4- واکنش های *از جا پریدگی* فرد بیش از حد زیاد و افراطی هستند؛</a:t>
            </a:r>
          </a:p>
          <a:p>
            <a:pPr algn="just" fontAlgn="base">
              <a:lnSpc>
                <a:spcPct val="110000"/>
              </a:lnSpc>
              <a:spcBef>
                <a:spcPct val="0"/>
              </a:spcBef>
              <a:spcAft>
                <a:spcPct val="0"/>
              </a:spcAft>
            </a:pPr>
            <a:r>
              <a:rPr lang="fa-IR" altLang="ar-SA" sz="1600" b="1" dirty="0">
                <a:solidFill>
                  <a:srgbClr val="000066"/>
                </a:solidFill>
                <a:cs typeface="B Nazanin" pitchFamily="2" charset="-78"/>
              </a:rPr>
              <a:t>6- اختلال خواب دارد (به آسانی نمی تواند به خواب رود، بد خواب می شود). </a:t>
            </a:r>
          </a:p>
          <a:p>
            <a:pPr algn="just" fontAlgn="base">
              <a:lnSpc>
                <a:spcPct val="110000"/>
              </a:lnSpc>
              <a:spcBef>
                <a:spcPct val="0"/>
              </a:spcBef>
              <a:spcAft>
                <a:spcPct val="0"/>
              </a:spcAft>
            </a:pPr>
            <a:r>
              <a:rPr lang="en-US" altLang="ar-SA" sz="1600" b="1" dirty="0">
                <a:solidFill>
                  <a:srgbClr val="000066"/>
                </a:solidFill>
                <a:cs typeface="B Nazanin" pitchFamily="2" charset="-78"/>
              </a:rPr>
              <a:t>F- </a:t>
            </a:r>
            <a:r>
              <a:rPr lang="fa-IR" altLang="ar-SA" sz="1600" b="1" dirty="0">
                <a:solidFill>
                  <a:srgbClr val="000066"/>
                </a:solidFill>
                <a:cs typeface="B Nazanin" pitchFamily="2" charset="-78"/>
              </a:rPr>
              <a:t>مدت این ناراحتی ها (الف، ب، پ، ج، د) بیشتر از یک ماه است.</a:t>
            </a:r>
          </a:p>
          <a:p>
            <a:pPr algn="just" fontAlgn="base">
              <a:lnSpc>
                <a:spcPct val="110000"/>
              </a:lnSpc>
              <a:spcBef>
                <a:spcPct val="0"/>
              </a:spcBef>
              <a:spcAft>
                <a:spcPct val="0"/>
              </a:spcAft>
            </a:pPr>
            <a:r>
              <a:rPr lang="en-US" altLang="ar-SA" sz="1600" b="1" dirty="0">
                <a:solidFill>
                  <a:srgbClr val="000066"/>
                </a:solidFill>
                <a:cs typeface="B Nazanin" pitchFamily="2" charset="-78"/>
              </a:rPr>
              <a:t>G- </a:t>
            </a:r>
            <a:r>
              <a:rPr lang="fa-IR" altLang="ar-SA" sz="1600" b="1" dirty="0">
                <a:solidFill>
                  <a:srgbClr val="000066"/>
                </a:solidFill>
                <a:cs typeface="B Nazanin" pitchFamily="2" charset="-78"/>
              </a:rPr>
              <a:t>این ناراحتی ها باعث می شوند دیسترس یا نابسامانی شدیدی در عملکرد اجتماعی، شغلی، یا سایر جنبه های مهم زندگی به وجود آید.</a:t>
            </a:r>
          </a:p>
          <a:p>
            <a:pPr algn="just" fontAlgn="base">
              <a:lnSpc>
                <a:spcPct val="110000"/>
              </a:lnSpc>
              <a:spcBef>
                <a:spcPct val="0"/>
              </a:spcBef>
              <a:spcAft>
                <a:spcPct val="0"/>
              </a:spcAft>
            </a:pPr>
            <a:r>
              <a:rPr lang="en-US" altLang="ar-SA" sz="1600" b="1" dirty="0">
                <a:solidFill>
                  <a:srgbClr val="000066"/>
                </a:solidFill>
                <a:cs typeface="B Nazanin" pitchFamily="2" charset="-78"/>
              </a:rPr>
              <a:t>H- </a:t>
            </a:r>
            <a:r>
              <a:rPr lang="fa-IR" altLang="ar-SA" sz="1600" b="1" dirty="0">
                <a:solidFill>
                  <a:srgbClr val="000066"/>
                </a:solidFill>
                <a:cs typeface="B Nazanin" pitchFamily="2" charset="-78"/>
              </a:rPr>
              <a:t>علت این اختلال، تاثیر فیزیولوژیک و مستقیم یک ماده (مثلاً دارو، مواد، یا الکل) یا یک عارضه پزشکی دیگر نیست.</a:t>
            </a:r>
          </a:p>
          <a:p>
            <a:pPr algn="just" fontAlgn="base">
              <a:lnSpc>
                <a:spcPct val="110000"/>
              </a:lnSpc>
              <a:spcBef>
                <a:spcPct val="0"/>
              </a:spcBef>
              <a:spcAft>
                <a:spcPct val="0"/>
              </a:spcAft>
            </a:pPr>
            <a:endParaRPr lang="en-US" altLang="ar-SA" sz="16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dirty="0" smtClean="0">
                <a:solidFill>
                  <a:srgbClr val="000066"/>
                </a:solidFill>
                <a:cs typeface="B Nazanin" pitchFamily="2" charset="-78"/>
              </a:rPr>
              <a:t>*اگر طول مدت نشانه ها کمتر از سه ماه باشد از نوع حاد و اگر سه ماه یا بیشتر باشد از نوع مزمن است.</a:t>
            </a:r>
          </a:p>
          <a:p>
            <a:pPr algn="just" fontAlgn="base">
              <a:lnSpc>
                <a:spcPct val="110000"/>
              </a:lnSpc>
              <a:spcBef>
                <a:spcPct val="0"/>
              </a:spcBef>
              <a:spcAft>
                <a:spcPct val="0"/>
              </a:spcAft>
            </a:pPr>
            <a:endParaRPr lang="fa-IR" altLang="ar-SA" sz="1600" b="1"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dirty="0" smtClean="0">
                <a:solidFill>
                  <a:srgbClr val="000066"/>
                </a:solidFill>
                <a:cs typeface="B Nazanin" pitchFamily="2" charset="-78"/>
              </a:rPr>
              <a:t>*اگر آغاز نشانه ها حداقل شش ماه پس از وقوع رویداد آسیب زا باشد، شروع با تاخیر همراه است.</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Post traumatic stress disorder</a:t>
            </a:r>
          </a:p>
        </p:txBody>
      </p:sp>
    </p:spTree>
    <p:extLst>
      <p:ext uri="{BB962C8B-B14F-4D97-AF65-F5344CB8AC3E}">
        <p14:creationId xmlns:p14="http://schemas.microsoft.com/office/powerpoint/2010/main" val="277239426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2943B630-CDA8-4FC3-AC98-C09590FBE32A}" type="slidenum">
              <a:rPr lang="ar-SA" sz="1400" smtClean="0">
                <a:solidFill>
                  <a:prstClr val="black"/>
                </a:solidFill>
              </a:rPr>
              <a:pPr rtl="0" fontAlgn="base">
                <a:spcBef>
                  <a:spcPct val="0"/>
                </a:spcBef>
                <a:spcAft>
                  <a:spcPct val="0"/>
                </a:spcAft>
              </a:pPr>
              <a:t>49</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0724"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0725" name="Group 4"/>
          <p:cNvGrpSpPr>
            <a:grpSpLocks/>
          </p:cNvGrpSpPr>
          <p:nvPr/>
        </p:nvGrpSpPr>
        <p:grpSpPr bwMode="auto">
          <a:xfrm>
            <a:off x="533400" y="101650"/>
            <a:ext cx="8229600" cy="87313"/>
            <a:chOff x="0" y="900"/>
            <a:chExt cx="5759" cy="96"/>
          </a:xfrm>
        </p:grpSpPr>
        <p:sp>
          <p:nvSpPr>
            <p:cNvPr id="30729"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0730"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0726"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0727" name="Text Box 9"/>
          <p:cNvSpPr txBox="1">
            <a:spLocks noChangeArrowheads="1"/>
          </p:cNvSpPr>
          <p:nvPr/>
        </p:nvSpPr>
        <p:spPr bwMode="auto">
          <a:xfrm>
            <a:off x="611213" y="1312864"/>
            <a:ext cx="7921625" cy="2936188"/>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در شیوع شش ماهه </a:t>
            </a:r>
            <a:r>
              <a:rPr lang="en-US" altLang="ar-SA" sz="2400" dirty="0" smtClean="0">
                <a:solidFill>
                  <a:srgbClr val="000066"/>
                </a:solidFill>
                <a:latin typeface="Aparajita" pitchFamily="34" charset="0"/>
                <a:cs typeface="B Kamran" pitchFamily="2" charset="-78"/>
              </a:rPr>
              <a:t>PTSD</a:t>
            </a:r>
            <a:r>
              <a:rPr lang="fa-IR" altLang="ar-SA" sz="2400" dirty="0" smtClean="0">
                <a:solidFill>
                  <a:srgbClr val="000066"/>
                </a:solidFill>
                <a:latin typeface="Aparajita" pitchFamily="34" charset="0"/>
                <a:cs typeface="B Kamran" pitchFamily="2" charset="-78"/>
              </a:rPr>
              <a:t>، میزان 3/7 درصد برای پسران و 6/3 درصد برای دختران دکر شده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تقریبا 75 درصد از مبتلایان به </a:t>
            </a:r>
            <a:r>
              <a:rPr lang="en-US" altLang="ar-SA" sz="2400" dirty="0" smtClean="0">
                <a:solidFill>
                  <a:srgbClr val="000066"/>
                </a:solidFill>
                <a:latin typeface="Aparajita" pitchFamily="34" charset="0"/>
                <a:cs typeface="B Kamran" pitchFamily="2" charset="-78"/>
              </a:rPr>
              <a:t>PTSD</a:t>
            </a:r>
            <a:r>
              <a:rPr lang="fa-IR" altLang="ar-SA" sz="2400" dirty="0" smtClean="0">
                <a:solidFill>
                  <a:srgbClr val="000066"/>
                </a:solidFill>
                <a:latin typeface="Aparajita" pitchFamily="34" charset="0"/>
                <a:cs typeface="B Kamran" pitchFamily="2" charset="-78"/>
              </a:rPr>
              <a:t> سوءمصرف مواد یا افسردگی را به عنوان اختلال همایند و همراه دارند.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کودکان در هر سنی ممکن است به </a:t>
            </a:r>
            <a:r>
              <a:rPr lang="en-US" altLang="ar-SA" sz="2400" dirty="0" smtClean="0">
                <a:solidFill>
                  <a:srgbClr val="000066"/>
                </a:solidFill>
                <a:latin typeface="Aparajita" pitchFamily="34" charset="0"/>
                <a:cs typeface="B Kamran" pitchFamily="2" charset="-78"/>
              </a:rPr>
              <a:t>PTSD</a:t>
            </a:r>
            <a:r>
              <a:rPr lang="fa-IR" altLang="ar-SA" sz="2400" dirty="0" smtClean="0">
                <a:solidFill>
                  <a:srgbClr val="000066"/>
                </a:solidFill>
                <a:latin typeface="Aparajita" pitchFamily="34" charset="0"/>
                <a:cs typeface="B Kamran" pitchFamily="2" charset="-78"/>
              </a:rPr>
              <a:t> مبتلا شوند.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سیر </a:t>
            </a:r>
            <a:r>
              <a:rPr lang="en-US" altLang="ar-SA" sz="2400" dirty="0" smtClean="0">
                <a:solidFill>
                  <a:srgbClr val="000066"/>
                </a:solidFill>
                <a:latin typeface="Aparajita" pitchFamily="34" charset="0"/>
                <a:cs typeface="B Kamran" pitchFamily="2" charset="-78"/>
              </a:rPr>
              <a:t>PTSD</a:t>
            </a:r>
            <a:r>
              <a:rPr lang="fa-IR" altLang="ar-SA" sz="2400" dirty="0" smtClean="0">
                <a:solidFill>
                  <a:srgbClr val="000066"/>
                </a:solidFill>
                <a:latin typeface="Aparajita" pitchFamily="34" charset="0"/>
                <a:cs typeface="B Kamran" pitchFamily="2" charset="-78"/>
              </a:rPr>
              <a:t>به سن کودک در زمان وقوع ضربه و ماهیت آن بستگی دارد.</a:t>
            </a:r>
          </a:p>
          <a:p>
            <a:pPr algn="just" fontAlgn="base">
              <a:lnSpc>
                <a:spcPct val="110000"/>
              </a:lnSpc>
              <a:spcBef>
                <a:spcPct val="0"/>
              </a:spcBef>
              <a:spcAft>
                <a:spcPct val="0"/>
              </a:spcAft>
              <a:buFont typeface="Wingdings" pitchFamily="2" charset="2"/>
              <a:buChar char="ü"/>
            </a:pPr>
            <a:r>
              <a:rPr lang="fa-IR" altLang="ar-SA" sz="2400" dirty="0" smtClean="0">
                <a:solidFill>
                  <a:srgbClr val="FF0000"/>
                </a:solidFill>
                <a:latin typeface="Aparajita" pitchFamily="34" charset="0"/>
                <a:cs typeface="B Kamran" pitchFamily="2" charset="-78"/>
              </a:rPr>
              <a:t>میزان تجربه ضربه روانی به سطح رشد کودک و آستانه تحملی او بستگی دارد</a:t>
            </a:r>
          </a:p>
        </p:txBody>
      </p:sp>
      <p:sp>
        <p:nvSpPr>
          <p:cNvPr id="30728" name="Text Box 12"/>
          <p:cNvSpPr txBox="1">
            <a:spLocks noChangeArrowheads="1"/>
          </p:cNvSpPr>
          <p:nvPr/>
        </p:nvSpPr>
        <p:spPr bwMode="auto">
          <a:xfrm>
            <a:off x="2916238" y="188913"/>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smtClean="0">
                <a:solidFill>
                  <a:srgbClr val="FFFF99"/>
                </a:solidFill>
                <a:cs typeface="B Kamran" pitchFamily="2" charset="-78"/>
              </a:rPr>
              <a:t>Post traumatic stress disorder</a:t>
            </a:r>
          </a:p>
          <a:p>
            <a:pPr algn="ctr" eaLnBrk="0" fontAlgn="base" hangingPunct="0">
              <a:spcBef>
                <a:spcPct val="0"/>
              </a:spcBef>
              <a:spcAft>
                <a:spcPct val="0"/>
              </a:spcAft>
            </a:pPr>
            <a:endParaRPr lang="en-US" altLang="ar-SA" sz="1600" b="1" smtClean="0">
              <a:solidFill>
                <a:srgbClr val="FFFF99"/>
              </a:solidFill>
              <a:cs typeface="B Kamran" pitchFamily="2" charset="-78"/>
            </a:endParaRPr>
          </a:p>
        </p:txBody>
      </p:sp>
    </p:spTree>
    <p:extLst>
      <p:ext uri="{BB962C8B-B14F-4D97-AF65-F5344CB8AC3E}">
        <p14:creationId xmlns:p14="http://schemas.microsoft.com/office/powerpoint/2010/main" val="174815764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50</a:t>
            </a:fld>
            <a:endParaRPr lang="en-US">
              <a:solidFill>
                <a:prstClr val="black">
                  <a:tint val="75000"/>
                </a:prstClr>
              </a:solidFill>
            </a:endParaRPr>
          </a:p>
        </p:txBody>
      </p:sp>
      <p:sp>
        <p:nvSpPr>
          <p:cNvPr id="3" name="Rectangle 2"/>
          <p:cNvSpPr/>
          <p:nvPr/>
        </p:nvSpPr>
        <p:spPr>
          <a:xfrm>
            <a:off x="395536" y="1412776"/>
            <a:ext cx="4703532" cy="923330"/>
          </a:xfrm>
          <a:prstGeom prst="rect">
            <a:avLst/>
          </a:prstGeom>
        </p:spPr>
        <p:txBody>
          <a:bodyPr wrap="none">
            <a:spAutoFit/>
          </a:bodyPr>
          <a:lstStyle/>
          <a:p>
            <a:r>
              <a:rPr lang="fa-IR" altLang="ar-SA" sz="5400" dirty="0" smtClean="0">
                <a:solidFill>
                  <a:srgbClr val="000066"/>
                </a:solidFill>
                <a:cs typeface="B Nazanin" pitchFamily="2" charset="-78"/>
              </a:rPr>
              <a:t>اختلال استرس حاد</a:t>
            </a:r>
            <a:endParaRPr lang="fa-IR" sz="5400" dirty="0">
              <a:solidFill>
                <a:prstClr val="black"/>
              </a:solidFill>
            </a:endParaRPr>
          </a:p>
        </p:txBody>
      </p:sp>
    </p:spTree>
    <p:extLst>
      <p:ext uri="{BB962C8B-B14F-4D97-AF65-F5344CB8AC3E}">
        <p14:creationId xmlns:p14="http://schemas.microsoft.com/office/powerpoint/2010/main" val="160161266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B137039A-6C46-4DCA-8187-8F87916B342F}" type="slidenum">
              <a:rPr lang="ar-SA" sz="1400" smtClean="0">
                <a:solidFill>
                  <a:prstClr val="black"/>
                </a:solidFill>
              </a:rPr>
              <a:pPr rtl="0" fontAlgn="base">
                <a:spcBef>
                  <a:spcPct val="0"/>
                </a:spcBef>
                <a:spcAft>
                  <a:spcPct val="0"/>
                </a:spcAft>
              </a:pPr>
              <a:t>51</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482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4821" name="Group 4"/>
          <p:cNvGrpSpPr>
            <a:grpSpLocks/>
          </p:cNvGrpSpPr>
          <p:nvPr/>
        </p:nvGrpSpPr>
        <p:grpSpPr bwMode="auto">
          <a:xfrm>
            <a:off x="533400" y="101650"/>
            <a:ext cx="8229600" cy="87313"/>
            <a:chOff x="0" y="900"/>
            <a:chExt cx="5759" cy="96"/>
          </a:xfrm>
        </p:grpSpPr>
        <p:sp>
          <p:nvSpPr>
            <p:cNvPr id="3482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482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482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533400" y="1104941"/>
            <a:ext cx="8070850" cy="5035225"/>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ASD</a:t>
            </a:r>
            <a:endParaRPr lang="fa-IR" altLang="ar-SA" sz="1800" dirty="0" smtClean="0">
              <a:solidFill>
                <a:srgbClr val="000066"/>
              </a:solidFill>
              <a:cs typeface="B Nazanin" panose="00000400000000000000" pitchFamily="2" charset="-78"/>
            </a:endParaRPr>
          </a:p>
          <a:p>
            <a:pPr marL="342900" indent="-342900" algn="just" fontAlgn="base">
              <a:lnSpc>
                <a:spcPct val="110000"/>
              </a:lnSpc>
              <a:spcBef>
                <a:spcPct val="0"/>
              </a:spcBef>
              <a:spcAft>
                <a:spcPct val="0"/>
              </a:spcAft>
              <a:buFontTx/>
              <a:buAutoNum type="alphaUcParenR"/>
              <a:defRPr/>
            </a:pPr>
            <a:r>
              <a:rPr lang="fa-IR" altLang="ar-SA" sz="1600" b="1" dirty="0" smtClean="0">
                <a:solidFill>
                  <a:srgbClr val="000066"/>
                </a:solidFill>
                <a:cs typeface="B Nazanin" panose="00000400000000000000" pitchFamily="2" charset="-78"/>
              </a:rPr>
              <a:t>بروز نشانه های خاص اضطراب و اختلال گسستی به وسیله نشانه ها که در خلال یک ماه بعد از رو به رو شدن با رویدادی بی نهایت آسیب زا جلوه گر می شوند.</a:t>
            </a:r>
          </a:p>
          <a:p>
            <a:pPr marL="342900" indent="-342900" algn="just" fontAlgn="base">
              <a:lnSpc>
                <a:spcPct val="110000"/>
              </a:lnSpc>
              <a:spcBef>
                <a:spcPct val="0"/>
              </a:spcBef>
              <a:spcAft>
                <a:spcPct val="0"/>
              </a:spcAft>
              <a:buFontTx/>
              <a:buAutoNum type="alphaUcParenR"/>
              <a:defRPr/>
            </a:pPr>
            <a:r>
              <a:rPr lang="fa-IR" altLang="ar-SA" sz="1600" b="1" dirty="0" smtClean="0">
                <a:solidFill>
                  <a:srgbClr val="000066"/>
                </a:solidFill>
                <a:cs typeface="B Nazanin" panose="00000400000000000000" pitchFamily="2" charset="-78"/>
              </a:rPr>
              <a:t>شخص در حین تجربه رویداد آسیب زا و بعد از آن، حداقل سه مورد از نشانه های گسستی زیر را دارد:</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1- احساس ذهنی بی حسی و گسستگی یا فقدان واکنش عاطفی</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2- دگرسان بینی محیط (</a:t>
            </a:r>
            <a:r>
              <a:rPr lang="en-US" altLang="ar-SA" sz="1600" b="1" dirty="0" err="1" smtClean="0">
                <a:solidFill>
                  <a:srgbClr val="000066"/>
                </a:solidFill>
                <a:cs typeface="B Nazanin" panose="00000400000000000000" pitchFamily="2" charset="-78"/>
              </a:rPr>
              <a:t>derealization</a:t>
            </a:r>
            <a:r>
              <a:rPr lang="fa-IR" altLang="ar-SA" sz="1600" b="1" dirty="0" smtClean="0">
                <a:solidFill>
                  <a:srgbClr val="000066"/>
                </a:solidFill>
                <a:cs typeface="B Nazanin" panose="00000400000000000000" pitchFamily="2" charset="-78"/>
              </a:rPr>
              <a:t>) یا آگاهی ضعیف نسبت به محیط اطراف</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3- دگرسان بینی خود یا یادزدودگی گسستگی</a:t>
            </a:r>
          </a:p>
          <a:p>
            <a:pPr algn="just" fontAlgn="base">
              <a:lnSpc>
                <a:spcPct val="110000"/>
              </a:lnSpc>
              <a:spcBef>
                <a:spcPct val="0"/>
              </a:spcBef>
              <a:spcAft>
                <a:spcPct val="0"/>
              </a:spcAft>
              <a:buFontTx/>
              <a:buNone/>
              <a:defRPr/>
            </a:pPr>
            <a:endParaRPr lang="fa-IR" altLang="ar-SA" sz="16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بعد از ضربه روانی، رویداد ناگوار به طور مکرر تجربه می شود و کودک از محرکی که آن خاطره های ناگوار را بر می انگیزد، اجتناب می ورزد. این آشفتگی ها حداقل به مدت دو روز وجود دارد، اما بعد از بروز ضربه، بیش از یک ماه تداوم ندارند.</a:t>
            </a:r>
          </a:p>
          <a:p>
            <a:pPr algn="just" fontAlgn="base">
              <a:lnSpc>
                <a:spcPct val="110000"/>
              </a:lnSpc>
              <a:spcBef>
                <a:spcPct val="0"/>
              </a:spcBef>
              <a:spcAft>
                <a:spcPct val="0"/>
              </a:spcAft>
              <a:buFontTx/>
              <a:buNone/>
              <a:defRPr/>
            </a:pPr>
            <a:endParaRPr lang="fa-IR" altLang="ar-SA" sz="16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600" b="1" dirty="0" smtClean="0">
              <a:solidFill>
                <a:srgbClr val="000066"/>
              </a:solidFill>
              <a:cs typeface="B Nazanin" panose="00000400000000000000" pitchFamily="2" charset="-78"/>
            </a:endParaRPr>
          </a:p>
          <a:p>
            <a:pPr algn="ctr" rtl="0" fontAlgn="base">
              <a:lnSpc>
                <a:spcPct val="110000"/>
              </a:lnSpc>
              <a:spcBef>
                <a:spcPct val="0"/>
              </a:spcBef>
              <a:spcAft>
                <a:spcPct val="0"/>
              </a:spcAft>
              <a:buFontTx/>
              <a:buNone/>
              <a:defRPr/>
            </a:pPr>
            <a:r>
              <a:rPr lang="en-US" sz="1800" b="1" dirty="0" smtClean="0">
                <a:solidFill>
                  <a:srgbClr val="FF0000"/>
                </a:solidFill>
                <a:cs typeface="B Nazanin" panose="00000400000000000000" pitchFamily="2" charset="-78"/>
              </a:rPr>
              <a:t>Differential Diagnosis between PTSD &amp; ASD</a:t>
            </a:r>
          </a:p>
          <a:p>
            <a:pPr algn="just" rtl="0" fontAlgn="base">
              <a:lnSpc>
                <a:spcPct val="110000"/>
              </a:lnSpc>
              <a:spcBef>
                <a:spcPct val="0"/>
              </a:spcBef>
              <a:spcAft>
                <a:spcPct val="0"/>
              </a:spcAft>
              <a:buFontTx/>
              <a:buNone/>
              <a:defRPr/>
            </a:pPr>
            <a:endParaRPr lang="en-US" sz="16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r>
              <a:rPr lang="en-US" sz="1600" b="1" dirty="0" smtClean="0">
                <a:solidFill>
                  <a:srgbClr val="000066"/>
                </a:solidFill>
                <a:cs typeface="B Nazanin" panose="00000400000000000000" pitchFamily="2" charset="-78"/>
              </a:rPr>
              <a:t>ASD</a:t>
            </a:r>
            <a:r>
              <a:rPr lang="fa-IR" sz="1600" b="1" dirty="0" smtClean="0">
                <a:solidFill>
                  <a:srgbClr val="000066"/>
                </a:solidFill>
                <a:cs typeface="B Nazanin" panose="00000400000000000000" pitchFamily="2" charset="-78"/>
              </a:rPr>
              <a:t> طول عمر کوتاهی دارد، در حالی که اثرات </a:t>
            </a:r>
            <a:r>
              <a:rPr lang="en-US" sz="1600" b="1" dirty="0" smtClean="0">
                <a:solidFill>
                  <a:srgbClr val="000066"/>
                </a:solidFill>
                <a:cs typeface="B Nazanin" panose="00000400000000000000" pitchFamily="2" charset="-78"/>
              </a:rPr>
              <a:t>PTSD</a:t>
            </a:r>
            <a:r>
              <a:rPr lang="fa-IR" sz="1600" b="1" dirty="0" smtClean="0">
                <a:solidFill>
                  <a:srgbClr val="000066"/>
                </a:solidFill>
                <a:cs typeface="B Nazanin" panose="00000400000000000000" pitchFamily="2" charset="-78"/>
              </a:rPr>
              <a:t> بلندمدت تر است.</a:t>
            </a:r>
            <a:endParaRPr lang="en-US" sz="16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endParaRPr lang="fa-IR" altLang="ar-SA" sz="16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 </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Acute stress disorder</a:t>
            </a:r>
          </a:p>
        </p:txBody>
      </p:sp>
    </p:spTree>
    <p:extLst>
      <p:ext uri="{BB962C8B-B14F-4D97-AF65-F5344CB8AC3E}">
        <p14:creationId xmlns:p14="http://schemas.microsoft.com/office/powerpoint/2010/main" val="19244534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8000" r="-18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52</a:t>
            </a:fld>
            <a:endParaRPr lang="en-US">
              <a:solidFill>
                <a:prstClr val="black">
                  <a:tint val="75000"/>
                </a:prstClr>
              </a:solidFill>
            </a:endParaRPr>
          </a:p>
        </p:txBody>
      </p:sp>
      <p:sp>
        <p:nvSpPr>
          <p:cNvPr id="3" name="Rectangle 2"/>
          <p:cNvSpPr/>
          <p:nvPr/>
        </p:nvSpPr>
        <p:spPr>
          <a:xfrm>
            <a:off x="3306169" y="5445224"/>
            <a:ext cx="5096267" cy="923330"/>
          </a:xfrm>
          <a:prstGeom prst="rect">
            <a:avLst/>
          </a:prstGeom>
        </p:spPr>
        <p:txBody>
          <a:bodyPr wrap="none">
            <a:spAutoFit/>
          </a:bodyPr>
          <a:lstStyle/>
          <a:p>
            <a:r>
              <a:rPr lang="fa-IR" altLang="ar-SA" sz="5400" dirty="0" smtClean="0">
                <a:solidFill>
                  <a:srgbClr val="000066"/>
                </a:solidFill>
                <a:cs typeface="B Nazanin" pitchFamily="2" charset="-78"/>
              </a:rPr>
              <a:t>اختلال وحشت زدگی</a:t>
            </a:r>
            <a:endParaRPr lang="fa-IR" sz="5400" dirty="0">
              <a:solidFill>
                <a:prstClr val="black"/>
              </a:solidFill>
            </a:endParaRPr>
          </a:p>
        </p:txBody>
      </p:sp>
      <p:sp>
        <p:nvSpPr>
          <p:cNvPr id="4" name="Rectangle 3">
            <a:hlinkClick r:id="rId3" action="ppaction://hlinkfile"/>
          </p:cNvPr>
          <p:cNvSpPr/>
          <p:nvPr/>
        </p:nvSpPr>
        <p:spPr>
          <a:xfrm>
            <a:off x="3998722" y="6182614"/>
            <a:ext cx="612668" cy="397032"/>
          </a:xfrm>
          <a:prstGeom prst="rect">
            <a:avLst/>
          </a:prstGeom>
        </p:spPr>
        <p:txBody>
          <a:bodyPr wrap="none">
            <a:spAutoFit/>
          </a:bodyPr>
          <a:lstStyle/>
          <a:p>
            <a:pPr lvl="0" algn="just" fontAlgn="base">
              <a:lnSpc>
                <a:spcPct val="110000"/>
              </a:lnSpc>
              <a:spcBef>
                <a:spcPct val="0"/>
              </a:spcBef>
              <a:spcAft>
                <a:spcPct val="0"/>
              </a:spcAft>
            </a:pPr>
            <a:r>
              <a:rPr lang="fa-IR" altLang="ar-SA" dirty="0" smtClean="0">
                <a:solidFill>
                  <a:srgbClr val="000066"/>
                </a:solidFill>
                <a:cs typeface="B Nazanin" pitchFamily="2" charset="-78"/>
              </a:rPr>
              <a:t>کلیپ</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104067126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0F2AC6DC-A422-47B3-B7DB-40A1116AAD2A}" type="slidenum">
              <a:rPr lang="ar-SA" sz="1400" smtClean="0">
                <a:solidFill>
                  <a:prstClr val="black"/>
                </a:solidFill>
              </a:rPr>
              <a:pPr rtl="0" fontAlgn="base">
                <a:spcBef>
                  <a:spcPct val="0"/>
                </a:spcBef>
                <a:spcAft>
                  <a:spcPct val="0"/>
                </a:spcAft>
              </a:pPr>
              <a:t>53</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970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9701" name="Group 4"/>
          <p:cNvGrpSpPr>
            <a:grpSpLocks/>
          </p:cNvGrpSpPr>
          <p:nvPr/>
        </p:nvGrpSpPr>
        <p:grpSpPr bwMode="auto">
          <a:xfrm>
            <a:off x="533400" y="101650"/>
            <a:ext cx="8229600" cy="87313"/>
            <a:chOff x="0" y="900"/>
            <a:chExt cx="5759" cy="96"/>
          </a:xfrm>
        </p:grpSpPr>
        <p:sp>
          <p:nvSpPr>
            <p:cNvPr id="2970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970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533400" y="1104900"/>
            <a:ext cx="8070850" cy="4459682"/>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rtl="0" fontAlgn="base">
              <a:lnSpc>
                <a:spcPct val="110000"/>
              </a:lnSpc>
              <a:spcBef>
                <a:spcPct val="0"/>
              </a:spcBef>
              <a:spcAft>
                <a:spcPct val="0"/>
              </a:spcAft>
            </a:pPr>
            <a:r>
              <a:rPr lang="en-US" altLang="ar-SA" sz="1800" b="1" dirty="0" smtClean="0">
                <a:solidFill>
                  <a:srgbClr val="FF0000"/>
                </a:solidFill>
                <a:cs typeface="B Nazanin" pitchFamily="2" charset="-78"/>
              </a:rPr>
              <a:t>criteria for Panic attacks</a:t>
            </a:r>
            <a:endParaRPr lang="fa-IR" altLang="ar-SA" sz="1800" dirty="0" smtClean="0">
              <a:solidFill>
                <a:srgbClr val="000066"/>
              </a:solidFill>
              <a:cs typeface="B Nazanin" pitchFamily="2" charset="-78"/>
            </a:endParaRPr>
          </a:p>
          <a:p>
            <a:pPr algn="just" fontAlgn="base">
              <a:lnSpc>
                <a:spcPct val="110000"/>
              </a:lnSpc>
              <a:spcBef>
                <a:spcPct val="0"/>
              </a:spcBef>
              <a:spcAft>
                <a:spcPct val="0"/>
              </a:spcAft>
            </a:pPr>
            <a:r>
              <a:rPr lang="fa-IR" altLang="ar-SA" sz="1600" b="1" dirty="0">
                <a:solidFill>
                  <a:srgbClr val="000066"/>
                </a:solidFill>
                <a:cs typeface="B Nazanin" pitchFamily="2" charset="-78"/>
              </a:rPr>
              <a:t>حملات وحشتزدگي غير منتظره عودكننده، حمله وحشتزدگي، هجوم ناگهاني ترس شديد يا ناراحتي شديد است كه ظرف چند دقيقه به اوج مي رسد و در طول اين مدت چهار (يا تعداد بيشتري) از نشانه هاي زير روي مي </a:t>
            </a:r>
            <a:r>
              <a:rPr lang="fa-IR" altLang="ar-SA" sz="1600" b="1" dirty="0" smtClean="0">
                <a:solidFill>
                  <a:srgbClr val="000066"/>
                </a:solidFill>
                <a:cs typeface="B Nazanin" pitchFamily="2" charset="-78"/>
              </a:rPr>
              <a:t>دهند</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1- تپش قلب، تند زدن قلب یا افزایش ضربان قلب</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2-تعریق</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3-لرزش یا رعشه</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4-احساس نفس تنگی</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5-احساس خفگی</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6-احساس درد یا ناراحتی در قفسه سینه</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7-تهوع یا ناراحتی شکمی</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8-احساس سرگیجه، از دست دادن تعادل، گیجی یا ضعف</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9- دگرسان بینی محیط (</a:t>
            </a:r>
            <a:r>
              <a:rPr lang="en-US" altLang="ar-SA" sz="1600" b="1" dirty="0" err="1" smtClean="0">
                <a:solidFill>
                  <a:srgbClr val="000066"/>
                </a:solidFill>
                <a:cs typeface="B Nazanin" pitchFamily="2" charset="-78"/>
              </a:rPr>
              <a:t>derealization</a:t>
            </a:r>
            <a:r>
              <a:rPr lang="fa-IR" altLang="ar-SA" sz="1600" b="1" dirty="0" smtClean="0">
                <a:solidFill>
                  <a:srgbClr val="000066"/>
                </a:solidFill>
                <a:cs typeface="B Nazanin" pitchFamily="2" charset="-78"/>
              </a:rPr>
              <a:t>) یا دگرسان بینی خود (</a:t>
            </a:r>
            <a:r>
              <a:rPr lang="en-US" altLang="ar-SA" sz="1600" b="1" dirty="0" smtClean="0">
                <a:solidFill>
                  <a:srgbClr val="000066"/>
                </a:solidFill>
                <a:cs typeface="B Nazanin" pitchFamily="2" charset="-78"/>
              </a:rPr>
              <a:t>depersonalization</a:t>
            </a:r>
            <a:r>
              <a:rPr lang="fa-IR" altLang="ar-SA" sz="1600" b="1" dirty="0" smtClean="0">
                <a:solidFill>
                  <a:srgbClr val="000066"/>
                </a:solidFill>
                <a:cs typeface="B Nazanin" pitchFamily="2" charset="-78"/>
              </a:rPr>
              <a:t>)</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10- ترس از دیوانه شدن یا از دست دادن کنترل</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11- ترس از مردن</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12- پارستزی (بی حسی یا احساس گرفتگی عضلات)</a:t>
            </a:r>
          </a:p>
          <a:p>
            <a:pPr algn="just" fontAlgn="base">
              <a:lnSpc>
                <a:spcPct val="110000"/>
              </a:lnSpc>
              <a:spcBef>
                <a:spcPct val="0"/>
              </a:spcBef>
              <a:spcAft>
                <a:spcPct val="0"/>
              </a:spcAft>
            </a:pPr>
            <a:r>
              <a:rPr lang="fa-IR" altLang="ar-SA" sz="1600" b="1" dirty="0" smtClean="0">
                <a:solidFill>
                  <a:srgbClr val="000066"/>
                </a:solidFill>
                <a:cs typeface="B Nazanin" pitchFamily="2" charset="-78"/>
              </a:rPr>
              <a:t>13- تب و لرز یا برافروختگی</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Panic attacks</a:t>
            </a:r>
          </a:p>
        </p:txBody>
      </p:sp>
    </p:spTree>
    <p:extLst>
      <p:ext uri="{BB962C8B-B14F-4D97-AF65-F5344CB8AC3E}">
        <p14:creationId xmlns:p14="http://schemas.microsoft.com/office/powerpoint/2010/main" val="134669601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8A67E88B-2603-4A6D-BF71-B2CB9A89FECF}" type="slidenum">
              <a:rPr lang="ar-SA" sz="1400" smtClean="0">
                <a:solidFill>
                  <a:prstClr val="black"/>
                </a:solidFill>
              </a:rPr>
              <a:pPr rtl="0" fontAlgn="base">
                <a:spcBef>
                  <a:spcPct val="0"/>
                </a:spcBef>
                <a:spcAft>
                  <a:spcPct val="0"/>
                </a:spcAft>
              </a:pPr>
              <a:t>54</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867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8677" name="Group 4"/>
          <p:cNvGrpSpPr>
            <a:grpSpLocks/>
          </p:cNvGrpSpPr>
          <p:nvPr/>
        </p:nvGrpSpPr>
        <p:grpSpPr bwMode="auto">
          <a:xfrm>
            <a:off x="533400" y="101650"/>
            <a:ext cx="8229600" cy="87313"/>
            <a:chOff x="0" y="900"/>
            <a:chExt cx="5759" cy="96"/>
          </a:xfrm>
        </p:grpSpPr>
        <p:sp>
          <p:nvSpPr>
            <p:cNvPr id="2868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868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867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8679" name="Text Box 9"/>
          <p:cNvSpPr txBox="1">
            <a:spLocks noChangeArrowheads="1"/>
          </p:cNvSpPr>
          <p:nvPr/>
        </p:nvSpPr>
        <p:spPr bwMode="auto">
          <a:xfrm>
            <a:off x="687387" y="994523"/>
            <a:ext cx="7921625" cy="5373779"/>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معيار  </a:t>
            </a:r>
            <a:r>
              <a:rPr lang="en-US" altLang="ar-SA" sz="2400" dirty="0">
                <a:solidFill>
                  <a:srgbClr val="000066"/>
                </a:solidFill>
                <a:latin typeface="Aparajita" pitchFamily="34" charset="0"/>
                <a:cs typeface="B Kamran" pitchFamily="2" charset="-78"/>
              </a:rPr>
              <a:t>B : </a:t>
            </a:r>
            <a:r>
              <a:rPr lang="fa-IR" altLang="ar-SA" sz="2400" dirty="0">
                <a:solidFill>
                  <a:srgbClr val="000066"/>
                </a:solidFill>
                <a:latin typeface="Aparajita" pitchFamily="34" charset="0"/>
                <a:cs typeface="B Kamran" pitchFamily="2" charset="-78"/>
              </a:rPr>
              <a:t>حداقل يكي از حملات، ١ ماه (يا بيشتر)يكي يا هر دو مورد زير را در پي داشته است:</a:t>
            </a:r>
          </a:p>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1.	نگراني مداوم در مورد حملات وحشتزدگي ديگر يا پيامدهاي آنها )مثل از دست دادن كنترل، دچار حمله قلبی شدن و دیوانه شدن</a:t>
            </a:r>
          </a:p>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2.	تغيير ناسازگارانه قابل توجه در رفتار مرتبط با حملات (مثل رفتارهايي كه براي اجتناب كردن از دچارحملات وحشتزدگي شدن ترتيب يافته باشند، مانند اجتناب از ورزش يا موقعيت هاي ناآشنا)</a:t>
            </a:r>
          </a:p>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معيار  </a:t>
            </a:r>
            <a:r>
              <a:rPr lang="en-US" altLang="ar-SA" sz="2400" dirty="0">
                <a:solidFill>
                  <a:srgbClr val="000066"/>
                </a:solidFill>
                <a:latin typeface="Aparajita" pitchFamily="34" charset="0"/>
                <a:cs typeface="B Kamran" pitchFamily="2" charset="-78"/>
              </a:rPr>
              <a:t>C : </a:t>
            </a:r>
            <a:r>
              <a:rPr lang="fa-IR" altLang="ar-SA" sz="2400" dirty="0">
                <a:solidFill>
                  <a:srgbClr val="000066"/>
                </a:solidFill>
                <a:latin typeface="Aparajita" pitchFamily="34" charset="0"/>
                <a:cs typeface="B Kamran" pitchFamily="2" charset="-78"/>
              </a:rPr>
              <a:t>اين اختلال ناشي از تأثيرات فيزيولوژيكي مواد (مثل سوء مصرف مواد مخدر، دارو)يا بيماري جسماني ديگر (مثل پركاري تيروئيد، اختلالات قلبي – ريوي) نيست.</a:t>
            </a:r>
          </a:p>
          <a:p>
            <a:pPr algn="just" fontAlgn="base">
              <a:lnSpc>
                <a:spcPct val="110000"/>
              </a:lnSpc>
              <a:spcBef>
                <a:spcPct val="0"/>
              </a:spcBef>
              <a:spcAft>
                <a:spcPct val="0"/>
              </a:spcAft>
              <a:buFont typeface="Wingdings" pitchFamily="2" charset="2"/>
              <a:buChar char="ü"/>
            </a:pPr>
            <a:r>
              <a:rPr lang="fa-IR" altLang="ar-SA" sz="2400" dirty="0">
                <a:solidFill>
                  <a:srgbClr val="000066"/>
                </a:solidFill>
                <a:latin typeface="Aparajita" pitchFamily="34" charset="0"/>
                <a:cs typeface="B Kamran" pitchFamily="2" charset="-78"/>
              </a:rPr>
              <a:t>معيار  </a:t>
            </a:r>
            <a:r>
              <a:rPr lang="en-US" altLang="ar-SA" sz="2400" dirty="0">
                <a:solidFill>
                  <a:srgbClr val="000066"/>
                </a:solidFill>
                <a:latin typeface="Aparajita" pitchFamily="34" charset="0"/>
                <a:cs typeface="B Kamran" pitchFamily="2" charset="-78"/>
              </a:rPr>
              <a:t>D : </a:t>
            </a:r>
            <a:r>
              <a:rPr lang="fa-IR" altLang="ar-SA" sz="2400" dirty="0">
                <a:solidFill>
                  <a:srgbClr val="000066"/>
                </a:solidFill>
                <a:latin typeface="Aparajita" pitchFamily="34" charset="0"/>
                <a:cs typeface="B Kamran" pitchFamily="2" charset="-78"/>
              </a:rPr>
              <a:t>اين اختلال با اختلال رواني ديگر بهتر توجيه نمي شود (مثلا حملات وحشتزدگي فقط در پاسخ به موقعيت هاي اجتماعي ترسناك، نظير آنچه در اختلال اضطراب اجتماعي مشاهده مي شود؛ در پاسخ به موضوعات يا موقعيت هاي فوبيك محدود، نظير آنچه در فوبي خاص ديده مي شود؛ در پاسخ به وسواس فكري، نظير آنچه در اختلال وسواس فكري – عملي مشاهده مي شود؛ در پاسخ به يادآوريهاي وقايع آسيب زا، نظير آنچه در اختلال استرس پس از آسيب ديده مي شود؛ يا در پاسخ به جدايي از اشخاص دلبسته، نظير آنچه در اختلال اضطراب جدايي مشاهده مي شود؛ روي نمي دهند)</a:t>
            </a:r>
            <a:endParaRPr lang="fa-IR" altLang="ar-SA" sz="2400" dirty="0" smtClean="0">
              <a:solidFill>
                <a:srgbClr val="000066"/>
              </a:solidFill>
              <a:latin typeface="Aparajita" pitchFamily="34" charset="0"/>
              <a:cs typeface="B Kamran" pitchFamily="2" charset="-78"/>
            </a:endParaRPr>
          </a:p>
        </p:txBody>
      </p:sp>
      <p:sp>
        <p:nvSpPr>
          <p:cNvPr id="28680" name="Text Box 12"/>
          <p:cNvSpPr txBox="1">
            <a:spLocks noChangeArrowheads="1"/>
          </p:cNvSpPr>
          <p:nvPr/>
        </p:nvSpPr>
        <p:spPr bwMode="auto">
          <a:xfrm>
            <a:off x="2916238" y="188913"/>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smtClean="0">
                <a:solidFill>
                  <a:srgbClr val="FFFF99"/>
                </a:solidFill>
                <a:cs typeface="B Kamran" pitchFamily="2" charset="-78"/>
              </a:rPr>
              <a:t>Panic Attack</a:t>
            </a:r>
          </a:p>
          <a:p>
            <a:pPr algn="ctr" eaLnBrk="0" fontAlgn="base" hangingPunct="0">
              <a:spcBef>
                <a:spcPct val="0"/>
              </a:spcBef>
              <a:spcAft>
                <a:spcPct val="0"/>
              </a:spcAft>
            </a:pPr>
            <a:endParaRPr lang="en-US" altLang="ar-SA" sz="1600" b="1" smtClean="0">
              <a:solidFill>
                <a:srgbClr val="FFFF99"/>
              </a:solidFill>
              <a:cs typeface="B Kamran" pitchFamily="2" charset="-78"/>
            </a:endParaRPr>
          </a:p>
        </p:txBody>
      </p:sp>
    </p:spTree>
    <p:extLst>
      <p:ext uri="{BB962C8B-B14F-4D97-AF65-F5344CB8AC3E}">
        <p14:creationId xmlns:p14="http://schemas.microsoft.com/office/powerpoint/2010/main" val="51004269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8A67E88B-2603-4A6D-BF71-B2CB9A89FECF}" type="slidenum">
              <a:rPr lang="ar-SA" sz="1400" smtClean="0">
                <a:solidFill>
                  <a:prstClr val="black"/>
                </a:solidFill>
              </a:rPr>
              <a:pPr rtl="0" fontAlgn="base">
                <a:spcBef>
                  <a:spcPct val="0"/>
                </a:spcBef>
                <a:spcAft>
                  <a:spcPct val="0"/>
                </a:spcAft>
              </a:pPr>
              <a:t>55</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8676"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8677" name="Group 4"/>
          <p:cNvGrpSpPr>
            <a:grpSpLocks/>
          </p:cNvGrpSpPr>
          <p:nvPr/>
        </p:nvGrpSpPr>
        <p:grpSpPr bwMode="auto">
          <a:xfrm>
            <a:off x="533400" y="101650"/>
            <a:ext cx="8229600" cy="87313"/>
            <a:chOff x="0" y="900"/>
            <a:chExt cx="5759" cy="96"/>
          </a:xfrm>
        </p:grpSpPr>
        <p:sp>
          <p:nvSpPr>
            <p:cNvPr id="28681"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8682"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8678"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8679" name="Text Box 9"/>
          <p:cNvSpPr txBox="1">
            <a:spLocks noChangeArrowheads="1"/>
          </p:cNvSpPr>
          <p:nvPr/>
        </p:nvSpPr>
        <p:spPr bwMode="auto">
          <a:xfrm>
            <a:off x="611213" y="1312913"/>
            <a:ext cx="7921625" cy="3748087"/>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285750" indent="-285750">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اگر چه </a:t>
            </a:r>
            <a:r>
              <a:rPr lang="en-US" altLang="ar-SA" sz="2400" dirty="0" smtClean="0">
                <a:solidFill>
                  <a:srgbClr val="000066"/>
                </a:solidFill>
                <a:latin typeface="Aparajita" pitchFamily="34" charset="0"/>
                <a:cs typeface="B Kamran" pitchFamily="2" charset="-78"/>
              </a:rPr>
              <a:t>Panic attack</a:t>
            </a:r>
            <a:r>
              <a:rPr lang="fa-IR" altLang="ar-SA" sz="2400" dirty="0" smtClean="0">
                <a:solidFill>
                  <a:srgbClr val="000066"/>
                </a:solidFill>
                <a:latin typeface="Aparajita" pitchFamily="34" charset="0"/>
                <a:cs typeface="B Kamran" pitchFamily="2" charset="-78"/>
              </a:rPr>
              <a:t> در حدود 3 تا 4 درصد از نوجوانان در نمونه های برگزیده رایج است، اما شیوع </a:t>
            </a:r>
            <a:r>
              <a:rPr lang="en-US" altLang="ar-SA" sz="2400" dirty="0" smtClean="0">
                <a:solidFill>
                  <a:srgbClr val="000066"/>
                </a:solidFill>
                <a:latin typeface="Aparajita" pitchFamily="34" charset="0"/>
                <a:cs typeface="B Kamran" pitchFamily="2" charset="-78"/>
              </a:rPr>
              <a:t>PD</a:t>
            </a:r>
            <a:r>
              <a:rPr lang="fa-IR" altLang="ar-SA" sz="2400" dirty="0" smtClean="0">
                <a:solidFill>
                  <a:srgbClr val="000066"/>
                </a:solidFill>
                <a:latin typeface="Aparajita" pitchFamily="34" charset="0"/>
                <a:cs typeface="B Kamran" pitchFamily="2" charset="-78"/>
              </a:rPr>
              <a:t> به مراتب کمتر است.</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تقریباً نیمی از نوجوانانا مبتلا به </a:t>
            </a:r>
            <a:r>
              <a:rPr lang="en-US" altLang="ar-SA" sz="2400" dirty="0" smtClean="0">
                <a:solidFill>
                  <a:srgbClr val="000066"/>
                </a:solidFill>
                <a:latin typeface="Aparajita" pitchFamily="34" charset="0"/>
                <a:cs typeface="B Kamran" pitchFamily="2" charset="-78"/>
              </a:rPr>
              <a:t>PD</a:t>
            </a:r>
            <a:r>
              <a:rPr lang="fa-IR" altLang="ar-SA" sz="2400" dirty="0" smtClean="0">
                <a:solidFill>
                  <a:srgbClr val="000066"/>
                </a:solidFill>
                <a:latin typeface="Aparajita" pitchFamily="34" charset="0"/>
                <a:cs typeface="B Kamran" pitchFamily="2" charset="-78"/>
              </a:rPr>
              <a:t> اختلال دیگری ندارند.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سایر اختلالات اضطرابی و افسردگی اختلالات همایندی برای </a:t>
            </a:r>
            <a:r>
              <a:rPr lang="en-US" altLang="ar-SA" sz="2400" dirty="0" smtClean="0">
                <a:solidFill>
                  <a:srgbClr val="000066"/>
                </a:solidFill>
                <a:latin typeface="Aparajita" pitchFamily="34" charset="0"/>
                <a:cs typeface="B Kamran" pitchFamily="2" charset="-78"/>
              </a:rPr>
              <a:t>PD</a:t>
            </a:r>
            <a:r>
              <a:rPr lang="fa-IR" altLang="ar-SA" sz="2400" dirty="0" smtClean="0">
                <a:solidFill>
                  <a:srgbClr val="000066"/>
                </a:solidFill>
                <a:latin typeface="Aparajita" pitchFamily="34" charset="0"/>
                <a:cs typeface="B Kamran" pitchFamily="2" charset="-78"/>
              </a:rPr>
              <a:t> هستند.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متوسط سن شروع نخستین </a:t>
            </a:r>
            <a:r>
              <a:rPr lang="en-US" altLang="ar-SA" sz="2400" dirty="0" smtClean="0">
                <a:solidFill>
                  <a:srgbClr val="000066"/>
                </a:solidFill>
                <a:latin typeface="Aparajita" pitchFamily="34" charset="0"/>
                <a:cs typeface="B Kamran" pitchFamily="2" charset="-78"/>
              </a:rPr>
              <a:t>Panic attack </a:t>
            </a:r>
            <a:r>
              <a:rPr lang="fa-IR" altLang="ar-SA" sz="2400" dirty="0" smtClean="0">
                <a:solidFill>
                  <a:srgbClr val="000066"/>
                </a:solidFill>
                <a:latin typeface="Aparajita" pitchFamily="34" charset="0"/>
                <a:cs typeface="B Kamran" pitchFamily="2" charset="-78"/>
              </a:rPr>
              <a:t> در مبتلایان به </a:t>
            </a:r>
            <a:r>
              <a:rPr lang="en-US" altLang="ar-SA" sz="2400" dirty="0" smtClean="0">
                <a:solidFill>
                  <a:srgbClr val="000066"/>
                </a:solidFill>
                <a:latin typeface="Aparajita" pitchFamily="34" charset="0"/>
                <a:cs typeface="B Kamran" pitchFamily="2" charset="-78"/>
              </a:rPr>
              <a:t>PD</a:t>
            </a:r>
            <a:r>
              <a:rPr lang="fa-IR" altLang="ar-SA" sz="2400" dirty="0" smtClean="0">
                <a:solidFill>
                  <a:srgbClr val="000066"/>
                </a:solidFill>
                <a:latin typeface="Aparajita" pitchFamily="34" charset="0"/>
                <a:cs typeface="B Kamran" pitchFamily="2" charset="-78"/>
              </a:rPr>
              <a:t> حدود 15 تا 19 سالگی است و 95 درصد نوجوانان بعد از بلوغ جنسی به این اختلال مبتلا می شوند.</a:t>
            </a:r>
          </a:p>
          <a:p>
            <a:pPr algn="just" fontAlgn="base">
              <a:lnSpc>
                <a:spcPct val="110000"/>
              </a:lnSpc>
              <a:spcBef>
                <a:spcPct val="0"/>
              </a:spcBef>
              <a:spcAft>
                <a:spcPct val="0"/>
              </a:spcAft>
              <a:buFont typeface="Wingdings" pitchFamily="2" charset="2"/>
              <a:buChar char="ü"/>
            </a:pPr>
            <a:r>
              <a:rPr lang="fa-IR" altLang="ar-SA" sz="2400" dirty="0" smtClean="0">
                <a:solidFill>
                  <a:srgbClr val="000066"/>
                </a:solidFill>
                <a:latin typeface="Aparajita" pitchFamily="34" charset="0"/>
                <a:cs typeface="B Kamran" pitchFamily="2" charset="-78"/>
              </a:rPr>
              <a:t>احتمال بهبود سایر اختلالات اضطرابی در مبتلایان به </a:t>
            </a:r>
            <a:r>
              <a:rPr lang="en-US" altLang="ar-SA" sz="2400" dirty="0" smtClean="0">
                <a:solidFill>
                  <a:srgbClr val="000066"/>
                </a:solidFill>
                <a:latin typeface="Aparajita" pitchFamily="34" charset="0"/>
                <a:cs typeface="B Kamran" pitchFamily="2" charset="-78"/>
              </a:rPr>
              <a:t>PD</a:t>
            </a:r>
            <a:r>
              <a:rPr lang="fa-IR" altLang="ar-SA" sz="2400" dirty="0" smtClean="0">
                <a:solidFill>
                  <a:srgbClr val="000066"/>
                </a:solidFill>
                <a:latin typeface="Aparajita" pitchFamily="34" charset="0"/>
                <a:cs typeface="B Kamran" pitchFamily="2" charset="-78"/>
              </a:rPr>
              <a:t> کمتر است.</a:t>
            </a:r>
          </a:p>
          <a:p>
            <a:pPr algn="just" fontAlgn="base">
              <a:lnSpc>
                <a:spcPct val="110000"/>
              </a:lnSpc>
              <a:spcBef>
                <a:spcPct val="0"/>
              </a:spcBef>
              <a:spcAft>
                <a:spcPct val="0"/>
              </a:spcAft>
              <a:buFont typeface="Wingdings" pitchFamily="2" charset="2"/>
              <a:buChar char="ü"/>
            </a:pPr>
            <a:r>
              <a:rPr lang="en-US" altLang="ar-SA" sz="2400" dirty="0" smtClean="0">
                <a:solidFill>
                  <a:srgbClr val="FF0000"/>
                </a:solidFill>
                <a:latin typeface="Aparajita" pitchFamily="34" charset="0"/>
                <a:cs typeface="B Kamran" pitchFamily="2" charset="-78"/>
              </a:rPr>
              <a:t>Panic attack</a:t>
            </a:r>
            <a:r>
              <a:rPr lang="fa-IR" altLang="ar-SA" sz="2400" dirty="0" smtClean="0">
                <a:solidFill>
                  <a:srgbClr val="FF0000"/>
                </a:solidFill>
                <a:latin typeface="Aparajita" pitchFamily="34" charset="0"/>
                <a:cs typeface="B Kamran" pitchFamily="2" charset="-78"/>
              </a:rPr>
              <a:t> در کودکان بی نهایت نادر است.</a:t>
            </a:r>
          </a:p>
          <a:p>
            <a:pPr algn="just" fontAlgn="base">
              <a:lnSpc>
                <a:spcPct val="110000"/>
              </a:lnSpc>
              <a:spcBef>
                <a:spcPct val="0"/>
              </a:spcBef>
              <a:spcAft>
                <a:spcPct val="0"/>
              </a:spcAft>
              <a:buFont typeface="Wingdings" pitchFamily="2" charset="2"/>
              <a:buChar char="ü"/>
            </a:pPr>
            <a:r>
              <a:rPr lang="fa-IR" altLang="ar-SA" sz="2400" u="sng" dirty="0" smtClean="0">
                <a:solidFill>
                  <a:srgbClr val="FF0000"/>
                </a:solidFill>
                <a:latin typeface="Aparajita" pitchFamily="34" charset="0"/>
                <a:cs typeface="B Kamran" pitchFamily="2" charset="-78"/>
              </a:rPr>
              <a:t>احتمال می رود </a:t>
            </a:r>
            <a:r>
              <a:rPr lang="en-US" altLang="ar-SA" sz="2400" dirty="0" smtClean="0">
                <a:solidFill>
                  <a:srgbClr val="FF0000"/>
                </a:solidFill>
                <a:latin typeface="Aparajita" pitchFamily="34" charset="0"/>
                <a:cs typeface="B Kamran" pitchFamily="2" charset="-78"/>
              </a:rPr>
              <a:t>SAD</a:t>
            </a:r>
            <a:r>
              <a:rPr lang="fa-IR" altLang="ar-SA" sz="2400" dirty="0" smtClean="0">
                <a:solidFill>
                  <a:srgbClr val="FF0000"/>
                </a:solidFill>
                <a:latin typeface="Aparajita" pitchFamily="34" charset="0"/>
                <a:cs typeface="B Kamran" pitchFamily="2" charset="-78"/>
              </a:rPr>
              <a:t> شکل اولیه </a:t>
            </a:r>
            <a:r>
              <a:rPr lang="en-US" altLang="ar-SA" sz="2400" dirty="0" smtClean="0">
                <a:solidFill>
                  <a:srgbClr val="FF0000"/>
                </a:solidFill>
                <a:latin typeface="Aparajita" pitchFamily="34" charset="0"/>
                <a:cs typeface="B Kamran" pitchFamily="2" charset="-78"/>
              </a:rPr>
              <a:t>Panic attack</a:t>
            </a:r>
            <a:r>
              <a:rPr lang="fa-IR" altLang="ar-SA" sz="2400" dirty="0" smtClean="0">
                <a:solidFill>
                  <a:srgbClr val="FF0000"/>
                </a:solidFill>
                <a:latin typeface="Aparajita" pitchFamily="34" charset="0"/>
                <a:cs typeface="B Kamran" pitchFamily="2" charset="-78"/>
              </a:rPr>
              <a:t> باشد و در بزرگسالی به </a:t>
            </a:r>
            <a:r>
              <a:rPr lang="en-US" altLang="ar-SA" sz="2400" dirty="0" smtClean="0">
                <a:solidFill>
                  <a:srgbClr val="FF0000"/>
                </a:solidFill>
                <a:latin typeface="Aparajita" pitchFamily="34" charset="0"/>
                <a:cs typeface="B Kamran" pitchFamily="2" charset="-78"/>
              </a:rPr>
              <a:t>PD</a:t>
            </a:r>
            <a:r>
              <a:rPr lang="fa-IR" altLang="ar-SA" sz="2400" dirty="0" smtClean="0">
                <a:solidFill>
                  <a:srgbClr val="FF0000"/>
                </a:solidFill>
                <a:latin typeface="Aparajita" pitchFamily="34" charset="0"/>
                <a:cs typeface="B Kamran" pitchFamily="2" charset="-78"/>
              </a:rPr>
              <a:t> بینجامد. </a:t>
            </a:r>
          </a:p>
        </p:txBody>
      </p:sp>
      <p:sp>
        <p:nvSpPr>
          <p:cNvPr id="28680" name="Text Box 12"/>
          <p:cNvSpPr txBox="1">
            <a:spLocks noChangeArrowheads="1"/>
          </p:cNvSpPr>
          <p:nvPr/>
        </p:nvSpPr>
        <p:spPr bwMode="auto">
          <a:xfrm>
            <a:off x="2916238" y="188913"/>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0" fontAlgn="base" hangingPunct="0">
              <a:spcBef>
                <a:spcPct val="0"/>
              </a:spcBef>
              <a:spcAft>
                <a:spcPct val="0"/>
              </a:spcAft>
            </a:pPr>
            <a:r>
              <a:rPr lang="en-US" altLang="ar-SA" sz="1600" smtClean="0">
                <a:solidFill>
                  <a:srgbClr val="FFFF99"/>
                </a:solidFill>
                <a:cs typeface="B Kamran" pitchFamily="2" charset="-78"/>
              </a:rPr>
              <a:t>Panic Attack</a:t>
            </a:r>
          </a:p>
          <a:p>
            <a:pPr algn="ctr" eaLnBrk="0" fontAlgn="base" hangingPunct="0">
              <a:spcBef>
                <a:spcPct val="0"/>
              </a:spcBef>
              <a:spcAft>
                <a:spcPct val="0"/>
              </a:spcAft>
            </a:pPr>
            <a:endParaRPr lang="en-US" altLang="ar-SA" sz="1600" b="1" smtClean="0">
              <a:solidFill>
                <a:srgbClr val="FFFF99"/>
              </a:solidFill>
              <a:cs typeface="B Kamran" pitchFamily="2" charset="-78"/>
            </a:endParaRPr>
          </a:p>
        </p:txBody>
      </p:sp>
    </p:spTree>
    <p:extLst>
      <p:ext uri="{BB962C8B-B14F-4D97-AF65-F5344CB8AC3E}">
        <p14:creationId xmlns:p14="http://schemas.microsoft.com/office/powerpoint/2010/main" val="136293333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0" b="-20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56</a:t>
            </a:fld>
            <a:endParaRPr lang="en-US">
              <a:solidFill>
                <a:prstClr val="black">
                  <a:tint val="75000"/>
                </a:prstClr>
              </a:solidFill>
            </a:endParaRPr>
          </a:p>
        </p:txBody>
      </p:sp>
      <p:sp>
        <p:nvSpPr>
          <p:cNvPr id="3" name="Rectangle 2"/>
          <p:cNvSpPr/>
          <p:nvPr/>
        </p:nvSpPr>
        <p:spPr>
          <a:xfrm>
            <a:off x="0" y="764704"/>
            <a:ext cx="3677610" cy="923330"/>
          </a:xfrm>
          <a:prstGeom prst="rect">
            <a:avLst/>
          </a:prstGeom>
        </p:spPr>
        <p:txBody>
          <a:bodyPr wrap="none">
            <a:spAutoFit/>
          </a:bodyPr>
          <a:lstStyle/>
          <a:p>
            <a:r>
              <a:rPr lang="fa-IR" altLang="ar-SA" sz="5400" dirty="0" smtClean="0">
                <a:solidFill>
                  <a:srgbClr val="FF0000"/>
                </a:solidFill>
                <a:cs typeface="B Nazanin" pitchFamily="2" charset="-78"/>
              </a:rPr>
              <a:t>اختلال آگروفوبیا</a:t>
            </a:r>
            <a:endParaRPr lang="fa-IR" sz="5400" dirty="0">
              <a:solidFill>
                <a:srgbClr val="FF0000"/>
              </a:solidFill>
            </a:endParaRPr>
          </a:p>
        </p:txBody>
      </p:sp>
      <p:sp>
        <p:nvSpPr>
          <p:cNvPr id="4" name="Rectangle 3">
            <a:hlinkClick r:id="rId3" action="ppaction://hlinkfile"/>
          </p:cNvPr>
          <p:cNvSpPr/>
          <p:nvPr/>
        </p:nvSpPr>
        <p:spPr>
          <a:xfrm>
            <a:off x="3998722" y="6182614"/>
            <a:ext cx="612668" cy="397032"/>
          </a:xfrm>
          <a:prstGeom prst="rect">
            <a:avLst/>
          </a:prstGeom>
        </p:spPr>
        <p:txBody>
          <a:bodyPr wrap="none">
            <a:spAutoFit/>
          </a:bodyPr>
          <a:lstStyle/>
          <a:p>
            <a:pPr algn="just" fontAlgn="base">
              <a:lnSpc>
                <a:spcPct val="110000"/>
              </a:lnSpc>
              <a:spcBef>
                <a:spcPct val="0"/>
              </a:spcBef>
              <a:spcAft>
                <a:spcPct val="0"/>
              </a:spcAft>
            </a:pPr>
            <a:r>
              <a:rPr lang="fa-IR" altLang="ar-SA" dirty="0" smtClean="0">
                <a:solidFill>
                  <a:srgbClr val="000066"/>
                </a:solidFill>
                <a:cs typeface="B Nazanin" pitchFamily="2" charset="-78"/>
              </a:rPr>
              <a:t>کلیپ</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346668283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0F2AC6DC-A422-47B3-B7DB-40A1116AAD2A}" type="slidenum">
              <a:rPr lang="ar-SA" sz="1400" smtClean="0">
                <a:solidFill>
                  <a:prstClr val="black"/>
                </a:solidFill>
              </a:rPr>
              <a:pPr rtl="0" fontAlgn="base">
                <a:spcBef>
                  <a:spcPct val="0"/>
                </a:spcBef>
                <a:spcAft>
                  <a:spcPct val="0"/>
                </a:spcAft>
              </a:pPr>
              <a:t>57</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970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9701" name="Group 4"/>
          <p:cNvGrpSpPr>
            <a:grpSpLocks/>
          </p:cNvGrpSpPr>
          <p:nvPr/>
        </p:nvGrpSpPr>
        <p:grpSpPr bwMode="auto">
          <a:xfrm>
            <a:off x="533400" y="101650"/>
            <a:ext cx="8229600" cy="87313"/>
            <a:chOff x="0" y="900"/>
            <a:chExt cx="5759" cy="96"/>
          </a:xfrm>
        </p:grpSpPr>
        <p:sp>
          <p:nvSpPr>
            <p:cNvPr id="2970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970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533400" y="1104900"/>
            <a:ext cx="8070850" cy="4358116"/>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rtl="0" fontAlgn="base">
              <a:lnSpc>
                <a:spcPct val="110000"/>
              </a:lnSpc>
              <a:spcBef>
                <a:spcPct val="0"/>
              </a:spcBef>
              <a:spcAft>
                <a:spcPct val="0"/>
              </a:spcAft>
            </a:pPr>
            <a:r>
              <a:rPr lang="en-US" altLang="ar-SA" sz="1800" b="1" dirty="0" smtClean="0">
                <a:solidFill>
                  <a:srgbClr val="FF0000"/>
                </a:solidFill>
                <a:cs typeface="B Nazanin" pitchFamily="2" charset="-78"/>
              </a:rPr>
              <a:t>criteria for </a:t>
            </a:r>
            <a:r>
              <a:rPr lang="en-US" altLang="ar-SA" sz="1800" b="1" dirty="0">
                <a:solidFill>
                  <a:srgbClr val="FF0000"/>
                </a:solidFill>
                <a:cs typeface="B Nazanin" pitchFamily="2" charset="-78"/>
              </a:rPr>
              <a:t> </a:t>
            </a:r>
            <a:r>
              <a:rPr lang="en-US" altLang="ar-SA" sz="1800" b="1" dirty="0" smtClean="0">
                <a:solidFill>
                  <a:srgbClr val="FF0000"/>
                </a:solidFill>
                <a:cs typeface="B Nazanin" pitchFamily="2" charset="-78"/>
              </a:rPr>
              <a:t>agoraphobia</a:t>
            </a:r>
            <a:endParaRPr lang="fa-IR" altLang="ar-SA" sz="1800" dirty="0" smtClean="0">
              <a:solidFill>
                <a:srgbClr val="000066"/>
              </a:solidFill>
              <a:cs typeface="B Nazanin" pitchFamily="2" charset="-78"/>
            </a:endParaRP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A: </a:t>
            </a:r>
            <a:r>
              <a:rPr lang="fa-IR" altLang="ar-SA" sz="1800" b="1" dirty="0">
                <a:solidFill>
                  <a:srgbClr val="000066"/>
                </a:solidFill>
                <a:cs typeface="B Nazanin" pitchFamily="2" charset="-78"/>
              </a:rPr>
              <a:t>ترس يا اضطراب محسوس در مورد دو يا تعداد بيشتري از پنج موقعيت زير:</a:t>
            </a:r>
          </a:p>
          <a:p>
            <a:pPr algn="just" fontAlgn="base">
              <a:lnSpc>
                <a:spcPct val="110000"/>
              </a:lnSpc>
              <a:spcBef>
                <a:spcPct val="0"/>
              </a:spcBef>
              <a:spcAft>
                <a:spcPct val="0"/>
              </a:spcAft>
            </a:pPr>
            <a:r>
              <a:rPr lang="fa-IR" altLang="ar-SA" sz="1800" b="1" dirty="0">
                <a:solidFill>
                  <a:srgbClr val="000066"/>
                </a:solidFill>
                <a:cs typeface="B Nazanin" pitchFamily="2" charset="-78"/>
              </a:rPr>
              <a:t>1.	استفاده از وسايل حمل و نقل عمومي مثل اتومبيلها اتوبوسها، قطارها، كشتيها، هواپيماها</a:t>
            </a:r>
          </a:p>
          <a:p>
            <a:pPr algn="just" fontAlgn="base">
              <a:lnSpc>
                <a:spcPct val="110000"/>
              </a:lnSpc>
              <a:spcBef>
                <a:spcPct val="0"/>
              </a:spcBef>
              <a:spcAft>
                <a:spcPct val="0"/>
              </a:spcAft>
            </a:pPr>
            <a:r>
              <a:rPr lang="fa-IR" altLang="ar-SA" sz="1800" b="1" dirty="0">
                <a:solidFill>
                  <a:srgbClr val="000066"/>
                </a:solidFill>
                <a:cs typeface="B Nazanin" pitchFamily="2" charset="-78"/>
              </a:rPr>
              <a:t>2.	بودن در مكانهاي باز مثل پاركينگهاي بي سقف، بازارها، پلها</a:t>
            </a:r>
          </a:p>
          <a:p>
            <a:pPr algn="just" fontAlgn="base">
              <a:lnSpc>
                <a:spcPct val="110000"/>
              </a:lnSpc>
              <a:spcBef>
                <a:spcPct val="0"/>
              </a:spcBef>
              <a:spcAft>
                <a:spcPct val="0"/>
              </a:spcAft>
            </a:pPr>
            <a:r>
              <a:rPr lang="fa-IR" altLang="ar-SA" sz="1800" b="1" dirty="0">
                <a:solidFill>
                  <a:srgbClr val="000066"/>
                </a:solidFill>
                <a:cs typeface="B Nazanin" pitchFamily="2" charset="-78"/>
              </a:rPr>
              <a:t>3.	بودن در مكانهاي بسته مثل فروشگاهها، تئاترها، سينماها</a:t>
            </a:r>
          </a:p>
          <a:p>
            <a:pPr algn="just" fontAlgn="base">
              <a:lnSpc>
                <a:spcPct val="110000"/>
              </a:lnSpc>
              <a:spcBef>
                <a:spcPct val="0"/>
              </a:spcBef>
              <a:spcAft>
                <a:spcPct val="0"/>
              </a:spcAft>
            </a:pPr>
            <a:r>
              <a:rPr lang="fa-IR" altLang="ar-SA" sz="1800" b="1" dirty="0">
                <a:solidFill>
                  <a:srgbClr val="000066"/>
                </a:solidFill>
                <a:cs typeface="B Nazanin" pitchFamily="2" charset="-78"/>
              </a:rPr>
              <a:t>4.	ايستادن در صف يا بودن در جمعيت</a:t>
            </a:r>
          </a:p>
          <a:p>
            <a:pPr algn="just" fontAlgn="base">
              <a:lnSpc>
                <a:spcPct val="110000"/>
              </a:lnSpc>
              <a:spcBef>
                <a:spcPct val="0"/>
              </a:spcBef>
              <a:spcAft>
                <a:spcPct val="0"/>
              </a:spcAft>
            </a:pPr>
            <a:r>
              <a:rPr lang="fa-IR" altLang="ar-SA" sz="1800" b="1" dirty="0">
                <a:solidFill>
                  <a:srgbClr val="000066"/>
                </a:solidFill>
                <a:cs typeface="B Nazanin" pitchFamily="2" charset="-78"/>
              </a:rPr>
              <a:t>5.	تنها بيرون از خانه بودن .٥</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B: </a:t>
            </a:r>
            <a:r>
              <a:rPr lang="fa-IR" altLang="ar-SA" sz="1800" b="1" dirty="0">
                <a:solidFill>
                  <a:srgbClr val="000066"/>
                </a:solidFill>
                <a:cs typeface="B Nazanin" pitchFamily="2" charset="-78"/>
              </a:rPr>
              <a:t>فرد به علت اينكه فكر ميكند در صورت وقوع نشانه هاي شبه وحشتزدگي يا نشانه هاي ناتوان كننده يا خجالت آور ديگر (مثل ترس از زمين خوردن در سالخوردگان؛ ترس از بي اختياري ادرار يا مدفوع) گريختن ممكن است دشوار باشد يا امكان كمك ممكن است وجود نداشته باشد، از اين موقعيتها مي ترسد يا اجتناب ميكند.</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C: </a:t>
            </a:r>
            <a:r>
              <a:rPr lang="fa-IR" altLang="ar-SA" sz="1800" b="1" dirty="0">
                <a:solidFill>
                  <a:srgbClr val="000066"/>
                </a:solidFill>
                <a:cs typeface="B Nazanin" pitchFamily="2" charset="-78"/>
              </a:rPr>
              <a:t>موقعيتهاي آگورافوبيك تقريبا هميشه ترس يا اضطراب را تحريك مي كنند.</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D: </a:t>
            </a:r>
            <a:r>
              <a:rPr lang="fa-IR" altLang="ar-SA" sz="1800" b="1" dirty="0">
                <a:solidFill>
                  <a:srgbClr val="000066"/>
                </a:solidFill>
                <a:cs typeface="B Nazanin" pitchFamily="2" charset="-78"/>
              </a:rPr>
              <a:t>از موقعيت هاي آگورافوبيك به طور فعال اجتناب مي شود، اين موقعيت ها به حضور يك همراه نياز دارند،يا با ترس يا اضطراب شديد تحمل مي شوند.</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agoraphobia</a:t>
            </a:r>
          </a:p>
        </p:txBody>
      </p:sp>
    </p:spTree>
    <p:extLst>
      <p:ext uri="{BB962C8B-B14F-4D97-AF65-F5344CB8AC3E}">
        <p14:creationId xmlns:p14="http://schemas.microsoft.com/office/powerpoint/2010/main" val="162494986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0F2AC6DC-A422-47B3-B7DB-40A1116AAD2A}" type="slidenum">
              <a:rPr lang="ar-SA" sz="1400" smtClean="0">
                <a:solidFill>
                  <a:prstClr val="black"/>
                </a:solidFill>
              </a:rPr>
              <a:pPr rtl="0" fontAlgn="base">
                <a:spcBef>
                  <a:spcPct val="0"/>
                </a:spcBef>
                <a:spcAft>
                  <a:spcPct val="0"/>
                </a:spcAft>
              </a:pPr>
              <a:t>58</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2970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29701" name="Group 4"/>
          <p:cNvGrpSpPr>
            <a:grpSpLocks/>
          </p:cNvGrpSpPr>
          <p:nvPr/>
        </p:nvGrpSpPr>
        <p:grpSpPr bwMode="auto">
          <a:xfrm>
            <a:off x="533400" y="101650"/>
            <a:ext cx="8229600" cy="87313"/>
            <a:chOff x="0" y="900"/>
            <a:chExt cx="5759" cy="96"/>
          </a:xfrm>
        </p:grpSpPr>
        <p:sp>
          <p:nvSpPr>
            <p:cNvPr id="2970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2970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533400" y="1104900"/>
            <a:ext cx="8070850" cy="4662815"/>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just" fontAlgn="base">
              <a:lnSpc>
                <a:spcPct val="110000"/>
              </a:lnSpc>
              <a:spcBef>
                <a:spcPct val="0"/>
              </a:spcBef>
              <a:spcAft>
                <a:spcPct val="0"/>
              </a:spcAft>
            </a:pPr>
            <a:r>
              <a:rPr lang="fa-IR" altLang="ar-SA" sz="1800" b="1" dirty="0" smtClean="0">
                <a:solidFill>
                  <a:srgbClr val="000066"/>
                </a:solidFill>
                <a:cs typeface="B Nazanin" pitchFamily="2" charset="-78"/>
              </a:rPr>
              <a:t>معيار </a:t>
            </a:r>
            <a:r>
              <a:rPr lang="en-US" altLang="ar-SA" sz="1800" b="1" dirty="0">
                <a:solidFill>
                  <a:srgbClr val="000066"/>
                </a:solidFill>
                <a:cs typeface="B Nazanin" pitchFamily="2" charset="-78"/>
              </a:rPr>
              <a:t>E: </a:t>
            </a:r>
            <a:r>
              <a:rPr lang="fa-IR" altLang="ar-SA" sz="1800" b="1" dirty="0">
                <a:solidFill>
                  <a:srgbClr val="000066"/>
                </a:solidFill>
                <a:cs typeface="B Nazanin" pitchFamily="2" charset="-78"/>
              </a:rPr>
              <a:t>ترس يا اضطراب با خطر واقعي كه توسط موقعيتهاي آگورافوبياي ايجاد ميشوند و با مرقعيت اجتماعي - فرهنگي، متناسب نيست.</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F: </a:t>
            </a:r>
            <a:r>
              <a:rPr lang="fa-IR" altLang="ar-SA" sz="1800" b="1" dirty="0">
                <a:solidFill>
                  <a:srgbClr val="000066"/>
                </a:solidFill>
                <a:cs typeface="B Nazanin" pitchFamily="2" charset="-78"/>
              </a:rPr>
              <a:t>ترس، اضطراب، يا اجتناب مداوم است، معمولا به مدت ٦ ماه يا بيشتر ادامه مييابد.</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G: </a:t>
            </a:r>
            <a:r>
              <a:rPr lang="fa-IR" altLang="ar-SA" sz="1800" b="1" dirty="0">
                <a:solidFill>
                  <a:srgbClr val="000066"/>
                </a:solidFill>
                <a:cs typeface="B Nazanin" pitchFamily="2" charset="-78"/>
              </a:rPr>
              <a:t>ترس، اضطراب ، يا اجتناب ناراحتي يا اختلال قابل ملاحظه باليني در عملكرد اجتماعي، شغلي، يا زمينه هاي مهم ديگر اختلال ايجاد مي كند.</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H: </a:t>
            </a:r>
            <a:r>
              <a:rPr lang="fa-IR" altLang="ar-SA" sz="1800" b="1" dirty="0">
                <a:solidFill>
                  <a:srgbClr val="000066"/>
                </a:solidFill>
                <a:cs typeface="B Nazanin" pitchFamily="2" charset="-78"/>
              </a:rPr>
              <a:t>اگر بيماري جسماني ديگر )مثل بيماري روده ملتهب، بيماري پاركينسون وجود داشته باشد، ترس، اضطراب، يا</a:t>
            </a:r>
          </a:p>
          <a:p>
            <a:pPr algn="just" fontAlgn="base">
              <a:lnSpc>
                <a:spcPct val="110000"/>
              </a:lnSpc>
              <a:spcBef>
                <a:spcPct val="0"/>
              </a:spcBef>
              <a:spcAft>
                <a:spcPct val="0"/>
              </a:spcAft>
            </a:pPr>
            <a:r>
              <a:rPr lang="fa-IR" altLang="ar-SA" sz="1800" b="1" dirty="0">
                <a:solidFill>
                  <a:srgbClr val="000066"/>
                </a:solidFill>
                <a:cs typeface="B Nazanin" pitchFamily="2" charset="-78"/>
              </a:rPr>
              <a:t>اجتناب آشكارا بيش از حد است.</a:t>
            </a:r>
          </a:p>
          <a:p>
            <a:pPr algn="just" fontAlgn="base">
              <a:lnSpc>
                <a:spcPct val="110000"/>
              </a:lnSpc>
              <a:spcBef>
                <a:spcPct val="0"/>
              </a:spcBef>
              <a:spcAft>
                <a:spcPct val="0"/>
              </a:spcAft>
            </a:pPr>
            <a:r>
              <a:rPr lang="fa-IR" altLang="ar-SA" sz="1800" b="1" dirty="0">
                <a:solidFill>
                  <a:srgbClr val="000066"/>
                </a:solidFill>
                <a:cs typeface="B Nazanin" pitchFamily="2" charset="-78"/>
              </a:rPr>
              <a:t>معيار </a:t>
            </a:r>
            <a:r>
              <a:rPr lang="en-US" altLang="ar-SA" sz="1800" b="1" dirty="0">
                <a:solidFill>
                  <a:srgbClr val="000066"/>
                </a:solidFill>
                <a:cs typeface="B Nazanin" pitchFamily="2" charset="-78"/>
              </a:rPr>
              <a:t>I: </a:t>
            </a:r>
            <a:r>
              <a:rPr lang="fa-IR" altLang="ar-SA" sz="1800" b="1" dirty="0">
                <a:solidFill>
                  <a:srgbClr val="000066"/>
                </a:solidFill>
                <a:cs typeface="B Nazanin" pitchFamily="2" charset="-78"/>
              </a:rPr>
              <a:t>ترس، اضطراب، يا اجتناب با نشانه هاي اختلال رواني ديگر بهتر توجيه نمي شود - براي مثال، نشانه ها به فوبي خاص، از نوع موقعيتي، محدود نمي شوند: فقط موقعيتهاي اجتماعي (همچون در اختلال اضطراب اجتماعي) نقايصي يا عيب هايي در ظاهر جسماني (همچون در اختلال بدشكلي بدن)، يادآورهاي وقايع آسيب زا (همچون در اختلال استرس پس از آسيب) يا ترس از جدايي (همچون در اختلال اضطراب جدايي) را شامل نمي شوند.</a:t>
            </a:r>
          </a:p>
          <a:p>
            <a:pPr algn="just" fontAlgn="base">
              <a:lnSpc>
                <a:spcPct val="110000"/>
              </a:lnSpc>
              <a:spcBef>
                <a:spcPct val="0"/>
              </a:spcBef>
              <a:spcAft>
                <a:spcPct val="0"/>
              </a:spcAft>
            </a:pPr>
            <a:r>
              <a:rPr lang="fa-IR" altLang="ar-SA" sz="1800" b="1" dirty="0">
                <a:solidFill>
                  <a:srgbClr val="000066"/>
                </a:solidFill>
                <a:cs typeface="B Nazanin" pitchFamily="2" charset="-78"/>
              </a:rPr>
              <a:t>توجه : آگورافوبي صرف نظر از وجود اختلال وحشتزدگي تشخيص داده مي شود. اگر جلوه نشانه فرد ملاكهاي اختلال وحشتزدگي و آگورافوبي را برآورده كند، هر دو تشخيصي بايد داده شوند.</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agoraphobia</a:t>
            </a:r>
          </a:p>
        </p:txBody>
      </p:sp>
    </p:spTree>
    <p:extLst>
      <p:ext uri="{BB962C8B-B14F-4D97-AF65-F5344CB8AC3E}">
        <p14:creationId xmlns:p14="http://schemas.microsoft.com/office/powerpoint/2010/main" val="265101769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9BDE090-26F5-4534-B3DB-DF354150B6D9}" type="slidenum">
              <a:rPr lang="ar-SA" smtClean="0">
                <a:solidFill>
                  <a:prstClr val="black">
                    <a:tint val="75000"/>
                  </a:prstClr>
                </a:solidFill>
              </a:rPr>
              <a:pPr/>
              <a:t>59</a:t>
            </a:fld>
            <a:endParaRPr lang="en-US">
              <a:solidFill>
                <a:prstClr val="black">
                  <a:tint val="75000"/>
                </a:prstClr>
              </a:solidFill>
            </a:endParaRPr>
          </a:p>
        </p:txBody>
      </p:sp>
      <p:sp>
        <p:nvSpPr>
          <p:cNvPr id="3" name="Rectangle 2"/>
          <p:cNvSpPr/>
          <p:nvPr/>
        </p:nvSpPr>
        <p:spPr>
          <a:xfrm>
            <a:off x="611560" y="3140968"/>
            <a:ext cx="5245347" cy="923330"/>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fa-IR" altLang="ar-SA" sz="5400" dirty="0" smtClean="0">
                <a:solidFill>
                  <a:srgbClr val="000066"/>
                </a:solidFill>
                <a:cs typeface="B Nazanin" pitchFamily="2" charset="-78"/>
              </a:rPr>
              <a:t>اختلال خاموشی انتخابی</a:t>
            </a:r>
            <a:endParaRPr lang="fa-IR" sz="5400" dirty="0">
              <a:solidFill>
                <a:prstClr val="black"/>
              </a:solidFill>
            </a:endParaRPr>
          </a:p>
        </p:txBody>
      </p:sp>
    </p:spTree>
    <p:extLst>
      <p:ext uri="{BB962C8B-B14F-4D97-AF65-F5344CB8AC3E}">
        <p14:creationId xmlns:p14="http://schemas.microsoft.com/office/powerpoint/2010/main" val="77323397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B137039A-6C46-4DCA-8187-8F87916B342F}" type="slidenum">
              <a:rPr lang="ar-SA" sz="1400" smtClean="0">
                <a:solidFill>
                  <a:prstClr val="black"/>
                </a:solidFill>
              </a:rPr>
              <a:pPr rtl="0" fontAlgn="base">
                <a:spcBef>
                  <a:spcPct val="0"/>
                </a:spcBef>
                <a:spcAft>
                  <a:spcPct val="0"/>
                </a:spcAft>
              </a:pPr>
              <a:t>60</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482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4821" name="Group 4"/>
          <p:cNvGrpSpPr>
            <a:grpSpLocks/>
          </p:cNvGrpSpPr>
          <p:nvPr/>
        </p:nvGrpSpPr>
        <p:grpSpPr bwMode="auto">
          <a:xfrm>
            <a:off x="533400" y="101650"/>
            <a:ext cx="8229600" cy="87313"/>
            <a:chOff x="0" y="900"/>
            <a:chExt cx="5759" cy="96"/>
          </a:xfrm>
        </p:grpSpPr>
        <p:sp>
          <p:nvSpPr>
            <p:cNvPr id="3482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482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482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533400" y="1104941"/>
            <a:ext cx="8070850" cy="3917996"/>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a:t>
            </a:r>
            <a:r>
              <a:rPr lang="en-US" altLang="ar-SA" sz="1800" b="1" dirty="0">
                <a:solidFill>
                  <a:srgbClr val="FF0000"/>
                </a:solidFill>
                <a:cs typeface="B Nazanin" panose="00000400000000000000" pitchFamily="2" charset="-78"/>
              </a:rPr>
              <a:t>Mutism</a:t>
            </a: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ملاکهاي </a:t>
            </a:r>
            <a:r>
              <a:rPr lang="fa-IR" altLang="ar-SA" sz="1600" b="1" dirty="0">
                <a:solidFill>
                  <a:srgbClr val="000066"/>
                </a:solidFill>
                <a:cs typeface="B Nazanin" panose="00000400000000000000" pitchFamily="2" charset="-78"/>
              </a:rPr>
              <a:t>تشخيصي لالي انتخابي  </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معيار   </a:t>
            </a:r>
            <a:r>
              <a:rPr lang="en-US" altLang="ar-SA" sz="1600" b="1" dirty="0">
                <a:solidFill>
                  <a:srgbClr val="000066"/>
                </a:solidFill>
                <a:cs typeface="B Nazanin" panose="00000400000000000000" pitchFamily="2" charset="-78"/>
              </a:rPr>
              <a:t>A : </a:t>
            </a:r>
            <a:r>
              <a:rPr lang="fa-IR" altLang="ar-SA" sz="1600" b="1" dirty="0">
                <a:solidFill>
                  <a:srgbClr val="000066"/>
                </a:solidFill>
                <a:cs typeface="B Nazanin" panose="00000400000000000000" pitchFamily="2" charset="-78"/>
              </a:rPr>
              <a:t>ناتواني مداوم صحبت كردن در موقعيتهاي اجتماعي كه انتظار صحبت كردن از فرد مي رود مثلا در مدرسه ، و صحبت كردن در ساير مواقع.</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معيار   </a:t>
            </a:r>
            <a:r>
              <a:rPr lang="en-US" altLang="ar-SA" sz="1600" b="1" dirty="0">
                <a:solidFill>
                  <a:srgbClr val="000066"/>
                </a:solidFill>
                <a:cs typeface="B Nazanin" panose="00000400000000000000" pitchFamily="2" charset="-78"/>
              </a:rPr>
              <a:t>B : </a:t>
            </a:r>
            <a:r>
              <a:rPr lang="fa-IR" altLang="ar-SA" sz="1600" b="1" dirty="0">
                <a:solidFill>
                  <a:srgbClr val="000066"/>
                </a:solidFill>
                <a:cs typeface="B Nazanin" panose="00000400000000000000" pitchFamily="2" charset="-78"/>
              </a:rPr>
              <a:t>اين اختلالات پيشرفت تحصيلي يا شغلي يا ارتباط اجتماعي را مختل ميكند.</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معيار   </a:t>
            </a:r>
            <a:r>
              <a:rPr lang="en-US" altLang="ar-SA" sz="1600" b="1" dirty="0">
                <a:solidFill>
                  <a:srgbClr val="000066"/>
                </a:solidFill>
                <a:cs typeface="B Nazanin" panose="00000400000000000000" pitchFamily="2" charset="-78"/>
              </a:rPr>
              <a:t>C : </a:t>
            </a:r>
            <a:r>
              <a:rPr lang="fa-IR" altLang="ar-SA" sz="1600" b="1" dirty="0">
                <a:solidFill>
                  <a:srgbClr val="000066"/>
                </a:solidFill>
                <a:cs typeface="B Nazanin" panose="00000400000000000000" pitchFamily="2" charset="-78"/>
              </a:rPr>
              <a:t>اين مشكل حداقل ١ ماه ادامه دارد)و به اولين ماه مدرسه محدود نمي شود.</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معيار   </a:t>
            </a:r>
            <a:r>
              <a:rPr lang="en-US" altLang="ar-SA" sz="1600" b="1" dirty="0">
                <a:solidFill>
                  <a:srgbClr val="000066"/>
                </a:solidFill>
                <a:cs typeface="B Nazanin" panose="00000400000000000000" pitchFamily="2" charset="-78"/>
              </a:rPr>
              <a:t>D : </a:t>
            </a:r>
            <a:r>
              <a:rPr lang="fa-IR" altLang="ar-SA" sz="1600" b="1" dirty="0">
                <a:solidFill>
                  <a:srgbClr val="000066"/>
                </a:solidFill>
                <a:cs typeface="B Nazanin" panose="00000400000000000000" pitchFamily="2" charset="-78"/>
              </a:rPr>
              <a:t>در مدرسه اين حرف نزدن را نمي توان به آشنا نبودن، يا راحت نبودن، با زباني كه در محيط مدرسه صحبت مي</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شود، نسبت داد.</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معيار   </a:t>
            </a:r>
            <a:r>
              <a:rPr lang="en-US" altLang="ar-SA" sz="1600" b="1" dirty="0">
                <a:solidFill>
                  <a:srgbClr val="000066"/>
                </a:solidFill>
                <a:cs typeface="B Nazanin" panose="00000400000000000000" pitchFamily="2" charset="-78"/>
              </a:rPr>
              <a:t>E : </a:t>
            </a:r>
            <a:r>
              <a:rPr lang="fa-IR" altLang="ar-SA" sz="1600" b="1" dirty="0">
                <a:solidFill>
                  <a:srgbClr val="000066"/>
                </a:solidFill>
                <a:cs typeface="B Nazanin" panose="00000400000000000000" pitchFamily="2" charset="-78"/>
              </a:rPr>
              <a:t>اين اختلال بااختلال ارتباط )مثلا اختلال فصاحت با شروع كودكي( بهتر توجيه نمي شود و منحصراً در طول دوره</a:t>
            </a:r>
          </a:p>
          <a:p>
            <a:pPr marL="342900" indent="-342900" algn="just" fontAlgn="base">
              <a:lnSpc>
                <a:spcPct val="110000"/>
              </a:lnSpc>
              <a:spcBef>
                <a:spcPct val="0"/>
              </a:spcBef>
              <a:spcAft>
                <a:spcPct val="0"/>
              </a:spcAft>
              <a:buFontTx/>
              <a:buAutoNum type="alphaUcParenR"/>
              <a:defRPr/>
            </a:pPr>
            <a:r>
              <a:rPr lang="fa-IR" altLang="ar-SA" sz="1600" b="1" dirty="0">
                <a:solidFill>
                  <a:srgbClr val="000066"/>
                </a:solidFill>
                <a:cs typeface="B Nazanin" panose="00000400000000000000" pitchFamily="2" charset="-78"/>
              </a:rPr>
              <a:t>اختلال طيف او تيسم، اسكيزوفرني، يا اختلال روان پريشي ديگر روي نمي دهد.</a:t>
            </a:r>
          </a:p>
          <a:p>
            <a:pPr algn="just" fontAlgn="base">
              <a:lnSpc>
                <a:spcPct val="110000"/>
              </a:lnSpc>
              <a:spcBef>
                <a:spcPct val="0"/>
              </a:spcBef>
              <a:spcAft>
                <a:spcPct val="0"/>
              </a:spcAft>
              <a:buFontTx/>
              <a:buNone/>
              <a:defRPr/>
            </a:pPr>
            <a:endParaRPr lang="fa-IR" altLang="ar-SA" sz="16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 </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Selective Mutism</a:t>
            </a:r>
          </a:p>
        </p:txBody>
      </p:sp>
    </p:spTree>
    <p:extLst>
      <p:ext uri="{BB962C8B-B14F-4D97-AF65-F5344CB8AC3E}">
        <p14:creationId xmlns:p14="http://schemas.microsoft.com/office/powerpoint/2010/main" val="83642712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p:cNvSpPr txBox="1">
            <a:spLocks noGrp="1"/>
          </p:cNvSpPr>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rtl="0" fontAlgn="base">
              <a:spcBef>
                <a:spcPct val="0"/>
              </a:spcBef>
              <a:spcAft>
                <a:spcPct val="0"/>
              </a:spcAft>
            </a:pPr>
            <a:fld id="{B137039A-6C46-4DCA-8187-8F87916B342F}" type="slidenum">
              <a:rPr lang="ar-SA" sz="1400" smtClean="0">
                <a:solidFill>
                  <a:prstClr val="black"/>
                </a:solidFill>
              </a:rPr>
              <a:pPr rtl="0" fontAlgn="base">
                <a:spcBef>
                  <a:spcPct val="0"/>
                </a:spcBef>
                <a:spcAft>
                  <a:spcPct val="0"/>
                </a:spcAft>
              </a:pPr>
              <a:t>61</a:t>
            </a:fld>
            <a:endParaRPr lang="en-US" sz="1400" smtClean="0">
              <a:solidFill>
                <a:prstClr val="black"/>
              </a:solidFill>
              <a:cs typeface="Arial" pitchFamily="34" charset="0"/>
            </a:endParaRPr>
          </a:p>
        </p:txBody>
      </p:sp>
      <p:sp>
        <p:nvSpPr>
          <p:cNvPr id="366594" name="AutoShape 2"/>
          <p:cNvSpPr>
            <a:spLocks noChangeArrowheads="1"/>
          </p:cNvSpPr>
          <p:nvPr/>
        </p:nvSpPr>
        <p:spPr bwMode="auto">
          <a:xfrm>
            <a:off x="323850" y="692151"/>
            <a:ext cx="8496300" cy="5978525"/>
          </a:xfrm>
          <a:prstGeom prst="flowChartAlternateProcess">
            <a:avLst/>
          </a:prstGeom>
          <a:gradFill rotWithShape="1">
            <a:gsLst>
              <a:gs pos="0">
                <a:srgbClr val="CCFFFF"/>
              </a:gs>
              <a:gs pos="50000">
                <a:schemeClr val="bg1"/>
              </a:gs>
              <a:gs pos="100000">
                <a:srgbClr val="CCFFFF"/>
              </a:gs>
            </a:gsLst>
            <a:lin ang="5400000" scaled="1"/>
          </a:gradFill>
          <a:ln w="76200" cmpd="tri" algn="ctr">
            <a:solidFill>
              <a:srgbClr val="800000"/>
            </a:solidFill>
            <a:miter lim="800000"/>
            <a:headEnd/>
            <a:tailEnd/>
          </a:ln>
        </p:spPr>
        <p:txBody>
          <a:bodyPr vert="eaVert" wrap="none" anchor="ctr"/>
          <a:lstStyle/>
          <a:p>
            <a:pPr algn="l" rtl="0" fontAlgn="base">
              <a:spcBef>
                <a:spcPct val="0"/>
              </a:spcBef>
              <a:spcAft>
                <a:spcPct val="0"/>
              </a:spcAft>
              <a:defRPr/>
            </a:pPr>
            <a:endParaRPr lang="en-US">
              <a:solidFill>
                <a:prstClr val="black"/>
              </a:solidFill>
              <a:latin typeface="Arial" charset="0"/>
              <a:cs typeface="B Nazanin" pitchFamily="2" charset="-78"/>
            </a:endParaRPr>
          </a:p>
        </p:txBody>
      </p:sp>
      <p:sp>
        <p:nvSpPr>
          <p:cNvPr id="34820" name="AutoShape 3"/>
          <p:cNvSpPr>
            <a:spLocks noChangeArrowheads="1"/>
          </p:cNvSpPr>
          <p:nvPr/>
        </p:nvSpPr>
        <p:spPr bwMode="auto">
          <a:xfrm>
            <a:off x="2286000" y="239713"/>
            <a:ext cx="4419600" cy="3810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gradFill rotWithShape="1">
            <a:gsLst>
              <a:gs pos="0">
                <a:srgbClr val="000066"/>
              </a:gs>
              <a:gs pos="50000">
                <a:srgbClr val="000000"/>
              </a:gs>
              <a:gs pos="100000">
                <a:srgbClr val="000066"/>
              </a:gs>
            </a:gsLst>
            <a:lin ang="5400000" scaled="1"/>
          </a:gradFill>
          <a:ln w="38100" algn="ctr">
            <a:solidFill>
              <a:srgbClr val="800000"/>
            </a:solidFill>
            <a:miter lim="800000"/>
            <a:headEnd/>
            <a:tailEnd/>
          </a:ln>
        </p:spPr>
        <p:txBody>
          <a:bodyPr wrap="none" anchor="ctr"/>
          <a:lstStyle/>
          <a:p>
            <a:pPr algn="l" rtl="0" eaLnBrk="0" fontAlgn="base" hangingPunct="0">
              <a:spcBef>
                <a:spcPct val="0"/>
              </a:spcBef>
              <a:spcAft>
                <a:spcPct val="0"/>
              </a:spcAft>
            </a:pPr>
            <a:endParaRPr lang="fa-IR" u="sng" smtClean="0">
              <a:solidFill>
                <a:prstClr val="black"/>
              </a:solidFill>
              <a:latin typeface="Arial" pitchFamily="34" charset="0"/>
              <a:cs typeface="B Kamran" pitchFamily="2" charset="-78"/>
            </a:endParaRPr>
          </a:p>
        </p:txBody>
      </p:sp>
      <p:grpSp>
        <p:nvGrpSpPr>
          <p:cNvPr id="34821" name="Group 4"/>
          <p:cNvGrpSpPr>
            <a:grpSpLocks/>
          </p:cNvGrpSpPr>
          <p:nvPr/>
        </p:nvGrpSpPr>
        <p:grpSpPr bwMode="auto">
          <a:xfrm>
            <a:off x="533400" y="101650"/>
            <a:ext cx="8229600" cy="87313"/>
            <a:chOff x="0" y="900"/>
            <a:chExt cx="5759" cy="96"/>
          </a:xfrm>
        </p:grpSpPr>
        <p:sp>
          <p:nvSpPr>
            <p:cNvPr id="34825" name="Rectangle 5"/>
            <p:cNvSpPr>
              <a:spLocks noChangeArrowheads="1"/>
            </p:cNvSpPr>
            <p:nvPr/>
          </p:nvSpPr>
          <p:spPr bwMode="ltGray">
            <a:xfrm>
              <a:off x="0" y="900"/>
              <a:ext cx="5759" cy="47"/>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34826" name="Rectangle 6"/>
            <p:cNvSpPr>
              <a:spLocks noChangeArrowheads="1"/>
            </p:cNvSpPr>
            <p:nvPr/>
          </p:nvSpPr>
          <p:spPr bwMode="ltGray">
            <a:xfrm>
              <a:off x="0" y="972"/>
              <a:ext cx="5759" cy="24"/>
            </a:xfrm>
            <a:prstGeom prst="rect">
              <a:avLst/>
            </a:prstGeom>
            <a:gradFill rotWithShape="0">
              <a:gsLst>
                <a:gs pos="0">
                  <a:srgbClr val="CCFFCC"/>
                </a:gs>
                <a:gs pos="50000">
                  <a:srgbClr val="5E765E"/>
                </a:gs>
                <a:gs pos="100000">
                  <a:srgbClr val="CCFFCC"/>
                </a:gs>
              </a:gsLst>
              <a:lin ang="0" scaled="1"/>
            </a:gradFill>
            <a:ln w="28575">
              <a:solidFill>
                <a:srgbClr val="9900CC"/>
              </a:solidFill>
              <a:miter lim="800000"/>
              <a:headEnd/>
              <a:tailEnd/>
            </a:ln>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grpSp>
      <p:sp>
        <p:nvSpPr>
          <p:cNvPr id="34822" name="Rectangle 7"/>
          <p:cNvSpPr>
            <a:spLocks noChangeArrowheads="1"/>
          </p:cNvSpPr>
          <p:nvPr/>
        </p:nvSpPr>
        <p:spPr bwMode="auto">
          <a:xfrm>
            <a:off x="0" y="0"/>
            <a:ext cx="9144000" cy="6858000"/>
          </a:xfrm>
          <a:prstGeom prst="rect">
            <a:avLst/>
          </a:prstGeom>
          <a:noFill/>
          <a:ln w="7620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l" rtl="0" fontAlgn="base">
              <a:spcBef>
                <a:spcPct val="0"/>
              </a:spcBef>
              <a:spcAft>
                <a:spcPct val="0"/>
              </a:spcAft>
            </a:pPr>
            <a:endParaRPr lang="fa-IR" smtClean="0">
              <a:solidFill>
                <a:prstClr val="black"/>
              </a:solidFill>
              <a:latin typeface="Arial" pitchFamily="34" charset="0"/>
              <a:cs typeface="B Nazanin" pitchFamily="2" charset="-78"/>
            </a:endParaRPr>
          </a:p>
        </p:txBody>
      </p:sp>
      <p:sp>
        <p:nvSpPr>
          <p:cNvPr id="29703" name="Text Box 9"/>
          <p:cNvSpPr txBox="1">
            <a:spLocks noChangeArrowheads="1"/>
          </p:cNvSpPr>
          <p:nvPr/>
        </p:nvSpPr>
        <p:spPr bwMode="auto">
          <a:xfrm>
            <a:off x="533400" y="1104941"/>
            <a:ext cx="8070850" cy="4933658"/>
          </a:xfrm>
          <a:prstGeom prst="rect">
            <a:avLst/>
          </a:prstGeom>
          <a:solidFill>
            <a:srgbClr val="CCFFCC">
              <a:alpha val="52940"/>
            </a:srgbClr>
          </a:solidFill>
          <a:ln>
            <a:noFill/>
          </a:ln>
          <a:extLs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rtl="0" fontAlgn="base">
              <a:lnSpc>
                <a:spcPct val="110000"/>
              </a:lnSpc>
              <a:spcBef>
                <a:spcPct val="0"/>
              </a:spcBef>
              <a:spcAft>
                <a:spcPct val="0"/>
              </a:spcAft>
              <a:buFontTx/>
              <a:buNone/>
              <a:defRPr/>
            </a:pPr>
            <a:r>
              <a:rPr lang="en-US" altLang="ar-SA" sz="1800" b="1" dirty="0" smtClean="0">
                <a:solidFill>
                  <a:srgbClr val="FF0000"/>
                </a:solidFill>
                <a:cs typeface="B Nazanin" panose="00000400000000000000" pitchFamily="2" charset="-78"/>
              </a:rPr>
              <a:t>criteria for </a:t>
            </a:r>
            <a:r>
              <a:rPr lang="en-US" altLang="ar-SA" sz="1800" b="1" dirty="0">
                <a:solidFill>
                  <a:srgbClr val="FF0000"/>
                </a:solidFill>
                <a:cs typeface="B Nazanin" panose="00000400000000000000" pitchFamily="2" charset="-78"/>
              </a:rPr>
              <a:t>Mutism</a:t>
            </a: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smtClean="0">
                <a:solidFill>
                  <a:srgbClr val="000066"/>
                </a:solidFill>
                <a:cs typeface="B Nazanin" panose="00000400000000000000" pitchFamily="2" charset="-78"/>
              </a:rPr>
              <a:t>شیوع این اختلال 0/2 تا 2 درصد است و بین 3 تا 6 سالگی خود را نشان میدهد و فراوانی ان در دختر و پسر برابر است.</a:t>
            </a: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smtClean="0">
                <a:solidFill>
                  <a:srgbClr val="000066"/>
                </a:solidFill>
                <a:cs typeface="B Nazanin" panose="00000400000000000000" pitchFamily="2" charset="-78"/>
              </a:rPr>
              <a:t>جزو </a:t>
            </a:r>
            <a:r>
              <a:rPr lang="fa-IR" altLang="ar-SA" sz="1800" b="1" dirty="0">
                <a:solidFill>
                  <a:srgbClr val="000066"/>
                </a:solidFill>
                <a:cs typeface="B Nazanin" panose="00000400000000000000" pitchFamily="2" charset="-78"/>
              </a:rPr>
              <a:t>اختلالات اضطرابي ميداند "زيرا" اضطراب مانع از حرف زدن افراد (اكثرا كودكان) مي شود. </a:t>
            </a:r>
            <a:r>
              <a:rPr lang="fa-IR" altLang="ar-SA" sz="1800" b="1" dirty="0" smtClean="0">
                <a:solidFill>
                  <a:srgbClr val="000066"/>
                </a:solidFill>
                <a:cs typeface="B Nazanin" panose="00000400000000000000" pitchFamily="2" charset="-78"/>
              </a:rPr>
              <a:t>همچنین در مدرسه بیشتر می بینم نه در خانه.</a:t>
            </a:r>
            <a:endParaRPr lang="fa-IR" altLang="ar-SA" sz="1800" b="1" dirty="0">
              <a:solidFill>
                <a:srgbClr val="000066"/>
              </a:solidFill>
              <a:cs typeface="B Nazanin" panose="00000400000000000000" pitchFamily="2" charset="-78"/>
            </a:endParaRP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a:solidFill>
                  <a:srgbClr val="000066"/>
                </a:solidFill>
                <a:cs typeface="B Nazanin" panose="00000400000000000000" pitchFamily="2" charset="-78"/>
              </a:rPr>
              <a:t>كودكان مبتلا به سلكتيو ميوتيسم در خانه ي خود و در حضور اعضاي درجه يك خانواده حرف مي زنند، اما معمولا حتي جلوي دوستان صميمي يا خويشاوندان درجه دو نيز حرف نمي زنند. </a:t>
            </a:r>
            <a:endParaRPr lang="fa-IR" altLang="ar-SA" sz="1800" b="1" dirty="0" smtClean="0">
              <a:solidFill>
                <a:srgbClr val="000066"/>
              </a:solidFill>
              <a:cs typeface="B Nazanin" panose="00000400000000000000" pitchFamily="2" charset="-78"/>
            </a:endParaRP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smtClean="0">
                <a:solidFill>
                  <a:srgbClr val="000066"/>
                </a:solidFill>
                <a:cs typeface="B Nazanin" panose="00000400000000000000" pitchFamily="2" charset="-78"/>
              </a:rPr>
              <a:t>اين </a:t>
            </a:r>
            <a:r>
              <a:rPr lang="fa-IR" altLang="ar-SA" sz="1800" b="1" dirty="0">
                <a:solidFill>
                  <a:srgbClr val="000066"/>
                </a:solidFill>
                <a:cs typeface="B Nazanin" panose="00000400000000000000" pitchFamily="2" charset="-78"/>
              </a:rPr>
              <a:t>اختلال معمولا با "اضطراب اجتماعي" شديدي همراه است. </a:t>
            </a: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a:solidFill>
                  <a:srgbClr val="000066"/>
                </a:solidFill>
                <a:cs typeface="B Nazanin" panose="00000400000000000000" pitchFamily="2" charset="-78"/>
              </a:rPr>
              <a:t>از جمله ويژگي هاي اين كودكان ميتوان از موارد زير نام برد:1. خجالتي بودن مفرط 2.ترس از خجالت كشيدن جلوي ديگران 3. انزواي اجتماعي و گوشه گيري 4. چسبيدن به مادر 5. صفات كامپالسيو 6.نگاتيويسم  7. قشقرق راه انداختن يا رفتارهاي نافرماني اما در سطح خفيف. </a:t>
            </a:r>
            <a:endParaRPr lang="fa-IR" altLang="ar-SA" sz="1800" b="1" dirty="0" smtClean="0">
              <a:solidFill>
                <a:srgbClr val="000066"/>
              </a:solidFill>
              <a:cs typeface="B Nazanin" panose="00000400000000000000" pitchFamily="2" charset="-78"/>
            </a:endParaRP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smtClean="0">
                <a:solidFill>
                  <a:srgbClr val="000066"/>
                </a:solidFill>
                <a:cs typeface="B Nazanin" panose="00000400000000000000" pitchFamily="2" charset="-78"/>
              </a:rPr>
              <a:t>اين </a:t>
            </a:r>
            <a:r>
              <a:rPr lang="fa-IR" altLang="ar-SA" sz="1800" b="1" dirty="0">
                <a:solidFill>
                  <a:srgbClr val="000066"/>
                </a:solidFill>
                <a:cs typeface="B Nazanin" panose="00000400000000000000" pitchFamily="2" charset="-78"/>
              </a:rPr>
              <a:t>كودكان مهارتهاي زباني نرمال دارند، با اين حال گاهي ممكن است يك "اختلال ارتباطي" نيز داشته باشند. </a:t>
            </a:r>
            <a:endParaRPr lang="fa-IR" altLang="ar-SA" sz="1800" b="1" dirty="0" smtClean="0">
              <a:solidFill>
                <a:srgbClr val="000066"/>
              </a:solidFill>
              <a:cs typeface="B Nazanin" panose="00000400000000000000" pitchFamily="2" charset="-78"/>
            </a:endParaRP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smtClean="0">
                <a:solidFill>
                  <a:srgbClr val="000066"/>
                </a:solidFill>
                <a:cs typeface="B Nazanin" panose="00000400000000000000" pitchFamily="2" charset="-78"/>
              </a:rPr>
              <a:t>خط اول درمان شکل دهی است</a:t>
            </a:r>
          </a:p>
          <a:p>
            <a:pPr marL="285750" indent="-285750" algn="just" fontAlgn="base">
              <a:lnSpc>
                <a:spcPct val="110000"/>
              </a:lnSpc>
              <a:spcBef>
                <a:spcPct val="0"/>
              </a:spcBef>
              <a:spcAft>
                <a:spcPct val="0"/>
              </a:spcAft>
              <a:buFont typeface="Arial" panose="020B0604020202020204" pitchFamily="34" charset="0"/>
              <a:buChar char="•"/>
              <a:defRPr/>
            </a:pPr>
            <a:r>
              <a:rPr lang="fa-IR" altLang="ar-SA" sz="1800" b="1" dirty="0">
                <a:solidFill>
                  <a:srgbClr val="000066"/>
                </a:solidFill>
                <a:cs typeface="B Nazanin" panose="00000400000000000000" pitchFamily="2" charset="-78"/>
              </a:rPr>
              <a:t>داروهاي آنتي دپرسانت مثل </a:t>
            </a:r>
            <a:r>
              <a:rPr lang="en-US" altLang="ar-SA" sz="1800" b="1" dirty="0">
                <a:solidFill>
                  <a:srgbClr val="000066"/>
                </a:solidFill>
                <a:cs typeface="B Nazanin" panose="00000400000000000000" pitchFamily="2" charset="-78"/>
              </a:rPr>
              <a:t>SSRI </a:t>
            </a:r>
            <a:r>
              <a:rPr lang="fa-IR" altLang="ar-SA" sz="1800" b="1" dirty="0">
                <a:solidFill>
                  <a:srgbClr val="000066"/>
                </a:solidFill>
                <a:cs typeface="B Nazanin" panose="00000400000000000000" pitchFamily="2" charset="-78"/>
              </a:rPr>
              <a:t>ها به درمان اين اختلال كمك مي كنند</a:t>
            </a:r>
            <a:endParaRPr lang="fa-IR" altLang="ar-SA" sz="1800" b="1" dirty="0" smtClean="0">
              <a:solidFill>
                <a:srgbClr val="000066"/>
              </a:solidFill>
              <a:cs typeface="B Nazanin" panose="00000400000000000000" pitchFamily="2" charset="-78"/>
            </a:endParaRPr>
          </a:p>
          <a:p>
            <a:pPr algn="just" fontAlgn="base">
              <a:lnSpc>
                <a:spcPct val="110000"/>
              </a:lnSpc>
              <a:spcBef>
                <a:spcPct val="0"/>
              </a:spcBef>
              <a:spcAft>
                <a:spcPct val="0"/>
              </a:spcAft>
              <a:buFontTx/>
              <a:buNone/>
              <a:defRPr/>
            </a:pPr>
            <a:r>
              <a:rPr lang="fa-IR" altLang="ar-SA" sz="1600" b="1" dirty="0" smtClean="0">
                <a:solidFill>
                  <a:srgbClr val="000066"/>
                </a:solidFill>
                <a:cs typeface="B Nazanin" panose="00000400000000000000" pitchFamily="2" charset="-78"/>
              </a:rPr>
              <a:t> </a:t>
            </a:r>
          </a:p>
        </p:txBody>
      </p:sp>
      <p:sp>
        <p:nvSpPr>
          <p:cNvPr id="27658" name="Text Box 12"/>
          <p:cNvSpPr txBox="1">
            <a:spLocks noChangeArrowheads="1"/>
          </p:cNvSpPr>
          <p:nvPr/>
        </p:nvSpPr>
        <p:spPr bwMode="auto">
          <a:xfrm>
            <a:off x="2916238" y="188963"/>
            <a:ext cx="3124200" cy="338137"/>
          </a:xfrm>
          <a:prstGeom prst="rect">
            <a:avLst/>
          </a:prstGeom>
          <a:noFill/>
          <a:ln w="19050">
            <a:noFill/>
            <a:miter lim="800000"/>
            <a:headEnd/>
            <a:tailEnd/>
          </a:ln>
        </p:spPr>
        <p:txBody>
          <a:bodyPr>
            <a:spAutoFit/>
          </a:bodyPr>
          <a:lstStyle/>
          <a:p>
            <a:pPr algn="ctr" eaLnBrk="0" fontAlgn="base" hangingPunct="0">
              <a:spcBef>
                <a:spcPct val="0"/>
              </a:spcBef>
              <a:spcAft>
                <a:spcPct val="0"/>
              </a:spcAft>
              <a:defRPr/>
            </a:pPr>
            <a:r>
              <a:rPr lang="en-US" altLang="ar-SA" sz="1600" dirty="0">
                <a:solidFill>
                  <a:srgbClr val="FFFF99"/>
                </a:solidFill>
                <a:cs typeface="B Kamran" pitchFamily="2" charset="-78"/>
              </a:rPr>
              <a:t>Selective Mutism</a:t>
            </a:r>
          </a:p>
        </p:txBody>
      </p:sp>
    </p:spTree>
    <p:extLst>
      <p:ext uri="{BB962C8B-B14F-4D97-AF65-F5344CB8AC3E}">
        <p14:creationId xmlns:p14="http://schemas.microsoft.com/office/powerpoint/2010/main" val="579223037"/>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a-IR" dirty="0" smtClean="0">
                <a:effectLst>
                  <a:glow rad="228600">
                    <a:schemeClr val="accent6">
                      <a:satMod val="175000"/>
                      <a:alpha val="40000"/>
                    </a:schemeClr>
                  </a:glow>
                </a:effectLst>
                <a:cs typeface="B Kamran" pitchFamily="2" charset="-78"/>
              </a:rPr>
              <a:t>نشانه های دیگر در کودکان مضطرب</a:t>
            </a:r>
            <a:endParaRPr lang="en-US" dirty="0">
              <a:effectLst>
                <a:glow rad="228600">
                  <a:schemeClr val="accent6">
                    <a:satMod val="175000"/>
                    <a:alpha val="40000"/>
                  </a:schemeClr>
                </a:glow>
              </a:effectLst>
              <a:cs typeface="B Kamran" pitchFamily="2" charset="-78"/>
            </a:endParaRPr>
          </a:p>
        </p:txBody>
      </p:sp>
      <p:sp>
        <p:nvSpPr>
          <p:cNvPr id="3" name="Content Placeholder 2"/>
          <p:cNvSpPr>
            <a:spLocks noGrp="1"/>
          </p:cNvSpPr>
          <p:nvPr>
            <p:ph idx="1"/>
          </p:nvPr>
        </p:nvSpPr>
        <p:spPr/>
        <p:txBody>
          <a:bodyPr>
            <a:normAutofit fontScale="92500" lnSpcReduction="20000"/>
          </a:bodyPr>
          <a:lstStyle/>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-مطیع بودن</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-مهارت حل مسئله ضعیف</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 وابستگی به دیگران</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-جسمانی سازی علائم</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-کمال گرایی</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-نقص در برانگیختگی و خوگیری</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-اطمینان طلبی</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-نقایص شناختی</a:t>
            </a:r>
          </a:p>
          <a:p>
            <a:pPr algn="r">
              <a:buNone/>
            </a:pPr>
            <a:r>
              <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rPr>
              <a:t>-اشکال در عملکرد</a:t>
            </a:r>
          </a:p>
          <a:p>
            <a:pPr algn="r">
              <a:buNone/>
            </a:pPr>
            <a:endParaRPr lang="fa-IR" dirty="0" smtClean="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endParaRPr>
          </a:p>
          <a:p>
            <a:pPr algn="r">
              <a:buNone/>
            </a:pPr>
            <a:endParaRPr lang="en-US" dirty="0">
              <a:ln w="18415" cmpd="sng">
                <a:solidFill>
                  <a:srgbClr val="FFFFFF"/>
                </a:solidFill>
                <a:prstDash val="solid"/>
              </a:ln>
              <a:solidFill>
                <a:srgbClr val="FFFFFF"/>
              </a:solidFill>
              <a:effectLst>
                <a:glow rad="228600">
                  <a:schemeClr val="accent2">
                    <a:satMod val="175000"/>
                    <a:alpha val="40000"/>
                  </a:schemeClr>
                </a:glow>
                <a:outerShdw blurRad="63500" dir="3600000" algn="tl" rotWithShape="0">
                  <a:srgbClr val="000000">
                    <a:alpha val="70000"/>
                  </a:srgbClr>
                </a:outerShdw>
              </a:effectLst>
              <a:cs typeface="B Typographer" panose="00000400000000000000" pitchFamily="2" charset="-78"/>
            </a:endParaRPr>
          </a:p>
        </p:txBody>
      </p:sp>
    </p:spTree>
    <p:extLst>
      <p:ext uri="{BB962C8B-B14F-4D97-AF65-F5344CB8AC3E}">
        <p14:creationId xmlns:p14="http://schemas.microsoft.com/office/powerpoint/2010/main" val="174724652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4584" y="2780928"/>
            <a:ext cx="9397553" cy="2554545"/>
          </a:xfrm>
          <a:prstGeom prst="rect">
            <a:avLst/>
          </a:prstGeom>
        </p:spPr>
        <p:txBody>
          <a:bodyPr wrap="square">
            <a:spAutoFit/>
          </a:bodyPr>
          <a:lstStyle/>
          <a:p>
            <a:r>
              <a:rPr lang="fa-IR" sz="2000" b="1" dirty="0">
                <a:cs typeface="B Typographer" panose="00000400000000000000" pitchFamily="2" charset="-78"/>
              </a:rPr>
              <a:t>علامت                               </a:t>
            </a:r>
            <a:r>
              <a:rPr lang="fa-IR" sz="2000" b="1" dirty="0" smtClean="0">
                <a:cs typeface="B Typographer" panose="00000400000000000000" pitchFamily="2" charset="-78"/>
              </a:rPr>
              <a:t>	   </a:t>
            </a:r>
            <a:r>
              <a:rPr lang="fa-IR" sz="2000" b="1" dirty="0">
                <a:cs typeface="B Typographer" panose="00000400000000000000" pitchFamily="2" charset="-78"/>
              </a:rPr>
              <a:t>میزان شیوع       </a:t>
            </a:r>
            <a:r>
              <a:rPr lang="fa-IR" sz="2000" b="1" dirty="0" smtClean="0">
                <a:cs typeface="B Typographer" panose="00000400000000000000" pitchFamily="2" charset="-78"/>
              </a:rPr>
              <a:t>          جنسیت                              </a:t>
            </a:r>
            <a:r>
              <a:rPr lang="fa-IR" sz="2000" b="1" dirty="0">
                <a:cs typeface="B Typographer" panose="00000400000000000000" pitchFamily="2" charset="-78"/>
              </a:rPr>
              <a:t>سن                              </a:t>
            </a:r>
            <a:r>
              <a:rPr lang="fa-IR" sz="2000" b="1" dirty="0" smtClean="0">
                <a:solidFill>
                  <a:srgbClr val="0070C0"/>
                </a:solidFill>
                <a:cs typeface="B Typographer" panose="00000400000000000000" pitchFamily="2" charset="-78"/>
              </a:rPr>
              <a:t>اضطراب </a:t>
            </a:r>
            <a:r>
              <a:rPr lang="fa-IR" sz="2000" b="1" dirty="0">
                <a:solidFill>
                  <a:srgbClr val="0070C0"/>
                </a:solidFill>
                <a:cs typeface="B Typographer" panose="00000400000000000000" pitchFamily="2" charset="-78"/>
              </a:rPr>
              <a:t>جدایی             </a:t>
            </a:r>
            <a:r>
              <a:rPr lang="fa-IR" sz="2000" b="1" dirty="0" smtClean="0">
                <a:solidFill>
                  <a:srgbClr val="0070C0"/>
                </a:solidFill>
                <a:cs typeface="B Typographer" panose="00000400000000000000" pitchFamily="2" charset="-78"/>
              </a:rPr>
              <a:t>	3/5-12/5</a:t>
            </a:r>
            <a:r>
              <a:rPr lang="fa-IR" sz="2000" b="1" dirty="0">
                <a:solidFill>
                  <a:srgbClr val="0070C0"/>
                </a:solidFill>
                <a:cs typeface="B Typographer" panose="00000400000000000000" pitchFamily="2" charset="-78"/>
              </a:rPr>
              <a:t>%     </a:t>
            </a:r>
            <a:r>
              <a:rPr lang="fa-IR" sz="2000" b="1" dirty="0" smtClean="0">
                <a:solidFill>
                  <a:srgbClr val="0070C0"/>
                </a:solidFill>
                <a:cs typeface="B Typographer" panose="00000400000000000000" pitchFamily="2" charset="-78"/>
              </a:rPr>
              <a:t>     </a:t>
            </a:r>
            <a:r>
              <a:rPr lang="fa-IR" sz="1600" b="1" dirty="0">
                <a:solidFill>
                  <a:srgbClr val="0070C0"/>
                </a:solidFill>
                <a:cs typeface="B Typographer" panose="00000400000000000000" pitchFamily="2" charset="-78"/>
              </a:rPr>
              <a:t>درمیان دختران اندکی بیشتر      </a:t>
            </a:r>
            <a:r>
              <a:rPr lang="fa-IR" sz="1600" b="1" dirty="0" smtClean="0">
                <a:solidFill>
                  <a:srgbClr val="0070C0"/>
                </a:solidFill>
                <a:cs typeface="B Typographer" panose="00000400000000000000" pitchFamily="2" charset="-78"/>
              </a:rPr>
              <a:t>	 </a:t>
            </a:r>
            <a:r>
              <a:rPr lang="fa-IR" b="1" dirty="0" smtClean="0">
                <a:solidFill>
                  <a:srgbClr val="0070C0"/>
                </a:solidFill>
                <a:cs typeface="B Typographer" panose="00000400000000000000" pitchFamily="2" charset="-78"/>
              </a:rPr>
              <a:t> </a:t>
            </a:r>
            <a:r>
              <a:rPr lang="fa-IR" sz="1400" b="1" dirty="0">
                <a:solidFill>
                  <a:srgbClr val="0070C0"/>
                </a:solidFill>
                <a:cs typeface="B Typographer" panose="00000400000000000000" pitchFamily="2" charset="-78"/>
              </a:rPr>
              <a:t>در میان کودکان شایع تر</a:t>
            </a:r>
            <a:r>
              <a:rPr lang="en-US" sz="1400" b="1" dirty="0">
                <a:solidFill>
                  <a:srgbClr val="0070C0"/>
                </a:solidFill>
                <a:cs typeface="B Typographer" panose="00000400000000000000" pitchFamily="2" charset="-78"/>
              </a:rPr>
              <a:t>          </a:t>
            </a:r>
            <a:endParaRPr lang="fa-IR" sz="2000" b="1" dirty="0">
              <a:solidFill>
                <a:srgbClr val="0070C0"/>
              </a:solidFill>
              <a:cs typeface="B Typographer" panose="00000400000000000000" pitchFamily="2" charset="-78"/>
            </a:endParaRPr>
          </a:p>
          <a:p>
            <a:r>
              <a:rPr lang="fa-IR" sz="2000" b="1" dirty="0">
                <a:solidFill>
                  <a:srgbClr val="0070C0"/>
                </a:solidFill>
                <a:cs typeface="B Typographer" panose="00000400000000000000" pitchFamily="2" charset="-78"/>
              </a:rPr>
              <a:t>اختلال اضطراب تعمیم یافته        2/9-12/4%      </a:t>
            </a:r>
            <a:r>
              <a:rPr lang="fa-IR" sz="2000" b="1" dirty="0" smtClean="0">
                <a:solidFill>
                  <a:srgbClr val="0070C0"/>
                </a:solidFill>
                <a:cs typeface="B Typographer" panose="00000400000000000000" pitchFamily="2" charset="-78"/>
              </a:rPr>
              <a:t>             </a:t>
            </a:r>
            <a:r>
              <a:rPr lang="fa-IR" sz="1600" b="1" dirty="0" smtClean="0">
                <a:solidFill>
                  <a:srgbClr val="0070C0"/>
                </a:solidFill>
                <a:cs typeface="B Typographer" panose="00000400000000000000" pitchFamily="2" charset="-78"/>
              </a:rPr>
              <a:t>یافته </a:t>
            </a:r>
            <a:r>
              <a:rPr lang="fa-IR" sz="1600" b="1" dirty="0">
                <a:solidFill>
                  <a:srgbClr val="0070C0"/>
                </a:solidFill>
                <a:cs typeface="B Typographer" panose="00000400000000000000" pitchFamily="2" charset="-78"/>
              </a:rPr>
              <a:t>های متنوع             </a:t>
            </a:r>
            <a:r>
              <a:rPr lang="fa-IR" sz="1600" b="1" dirty="0" smtClean="0">
                <a:solidFill>
                  <a:srgbClr val="0070C0"/>
                </a:solidFill>
                <a:cs typeface="B Typographer" panose="00000400000000000000" pitchFamily="2" charset="-78"/>
              </a:rPr>
              <a:t>       	  </a:t>
            </a:r>
            <a:r>
              <a:rPr lang="fa-IR" sz="1200" b="1" dirty="0">
                <a:solidFill>
                  <a:srgbClr val="0070C0"/>
                </a:solidFill>
                <a:cs typeface="B Typographer" panose="00000400000000000000" pitchFamily="2" charset="-78"/>
              </a:rPr>
              <a:t>در میان </a:t>
            </a:r>
            <a:r>
              <a:rPr lang="fa-IR" sz="1100" b="1" dirty="0">
                <a:solidFill>
                  <a:srgbClr val="0070C0"/>
                </a:solidFill>
                <a:cs typeface="B Typographer" panose="00000400000000000000" pitchFamily="2" charset="-78"/>
              </a:rPr>
              <a:t>نوجوانان</a:t>
            </a:r>
            <a:r>
              <a:rPr lang="fa-IR" sz="1600" b="1" dirty="0">
                <a:solidFill>
                  <a:srgbClr val="0070C0"/>
                </a:solidFill>
                <a:cs typeface="B Typographer" panose="00000400000000000000" pitchFamily="2" charset="-78"/>
              </a:rPr>
              <a:t> شایع تر</a:t>
            </a:r>
            <a:endParaRPr lang="fa-IR" sz="2000" b="1" dirty="0">
              <a:solidFill>
                <a:srgbClr val="0070C0"/>
              </a:solidFill>
              <a:cs typeface="B Typographer" panose="00000400000000000000" pitchFamily="2" charset="-78"/>
            </a:endParaRPr>
          </a:p>
          <a:p>
            <a:r>
              <a:rPr lang="fa-IR" sz="2000" b="1" dirty="0">
                <a:solidFill>
                  <a:srgbClr val="0070C0"/>
                </a:solidFill>
                <a:cs typeface="B Typographer" panose="00000400000000000000" pitchFamily="2" charset="-78"/>
              </a:rPr>
              <a:t>هراس اجتماعی               </a:t>
            </a:r>
            <a:r>
              <a:rPr lang="fa-IR" sz="2000" b="1" dirty="0" smtClean="0">
                <a:solidFill>
                  <a:srgbClr val="0070C0"/>
                </a:solidFill>
                <a:cs typeface="B Typographer" panose="00000400000000000000" pitchFamily="2" charset="-78"/>
              </a:rPr>
              <a:t>	        </a:t>
            </a:r>
            <a:r>
              <a:rPr lang="fa-IR" sz="2000" b="1" dirty="0">
                <a:solidFill>
                  <a:srgbClr val="0070C0"/>
                </a:solidFill>
                <a:cs typeface="B Typographer" panose="00000400000000000000" pitchFamily="2" charset="-78"/>
              </a:rPr>
              <a:t>1/1-6/3%      </a:t>
            </a:r>
            <a:r>
              <a:rPr lang="fa-IR" sz="2000" b="1" dirty="0" smtClean="0">
                <a:solidFill>
                  <a:srgbClr val="0070C0"/>
                </a:solidFill>
                <a:cs typeface="B Typographer" panose="00000400000000000000" pitchFamily="2" charset="-78"/>
              </a:rPr>
              <a:t>        </a:t>
            </a:r>
            <a:r>
              <a:rPr lang="fa-IR" sz="1600" b="1" dirty="0">
                <a:solidFill>
                  <a:srgbClr val="0070C0"/>
                </a:solidFill>
                <a:cs typeface="B Typographer" panose="00000400000000000000" pitchFamily="2" charset="-78"/>
              </a:rPr>
              <a:t>یافته های متنوع          </a:t>
            </a:r>
            <a:r>
              <a:rPr lang="fa-IR" sz="1600" b="1" dirty="0" smtClean="0">
                <a:solidFill>
                  <a:srgbClr val="0070C0"/>
                </a:solidFill>
                <a:cs typeface="B Typographer" panose="00000400000000000000" pitchFamily="2" charset="-78"/>
              </a:rPr>
              <a:t>         </a:t>
            </a:r>
            <a:r>
              <a:rPr lang="fa-IR" sz="1400" b="1" dirty="0">
                <a:solidFill>
                  <a:srgbClr val="0070C0"/>
                </a:solidFill>
                <a:cs typeface="B Typographer" panose="00000400000000000000" pitchFamily="2" charset="-78"/>
              </a:rPr>
              <a:t>در میان </a:t>
            </a:r>
            <a:r>
              <a:rPr lang="fa-IR" sz="1200" b="1" dirty="0">
                <a:solidFill>
                  <a:srgbClr val="0070C0"/>
                </a:solidFill>
                <a:cs typeface="B Typographer" panose="00000400000000000000" pitchFamily="2" charset="-78"/>
              </a:rPr>
              <a:t>نوجوانان</a:t>
            </a:r>
            <a:r>
              <a:rPr lang="fa-IR" b="1" dirty="0">
                <a:solidFill>
                  <a:srgbClr val="0070C0"/>
                </a:solidFill>
                <a:cs typeface="B Typographer" panose="00000400000000000000" pitchFamily="2" charset="-78"/>
              </a:rPr>
              <a:t> </a:t>
            </a:r>
            <a:r>
              <a:rPr lang="fa-IR" sz="1600" b="1" dirty="0">
                <a:solidFill>
                  <a:srgbClr val="0070C0"/>
                </a:solidFill>
                <a:cs typeface="B Typographer" panose="00000400000000000000" pitchFamily="2" charset="-78"/>
              </a:rPr>
              <a:t>شایع تر</a:t>
            </a:r>
            <a:endParaRPr lang="fa-IR" sz="2000" b="1" dirty="0">
              <a:solidFill>
                <a:srgbClr val="0070C0"/>
              </a:solidFill>
              <a:cs typeface="B Typographer" panose="00000400000000000000" pitchFamily="2" charset="-78"/>
            </a:endParaRPr>
          </a:p>
          <a:p>
            <a:r>
              <a:rPr lang="fa-IR" sz="2000" b="1" dirty="0">
                <a:solidFill>
                  <a:srgbClr val="0070C0"/>
                </a:solidFill>
                <a:cs typeface="B Typographer" panose="00000400000000000000" pitchFamily="2" charset="-78"/>
              </a:rPr>
              <a:t>هراس خاص                   </a:t>
            </a:r>
            <a:r>
              <a:rPr lang="fa-IR" sz="2000" b="1" dirty="0" smtClean="0">
                <a:solidFill>
                  <a:srgbClr val="0070C0"/>
                </a:solidFill>
                <a:cs typeface="B Typographer" panose="00000400000000000000" pitchFamily="2" charset="-78"/>
              </a:rPr>
              <a:t>	       </a:t>
            </a:r>
            <a:r>
              <a:rPr lang="fa-IR" sz="2000" b="1" dirty="0">
                <a:solidFill>
                  <a:srgbClr val="0070C0"/>
                </a:solidFill>
                <a:cs typeface="B Typographer" panose="00000400000000000000" pitchFamily="2" charset="-78"/>
              </a:rPr>
              <a:t>3/5-9/2%       </a:t>
            </a:r>
            <a:r>
              <a:rPr lang="fa-IR" sz="2000" b="1" dirty="0" smtClean="0">
                <a:solidFill>
                  <a:srgbClr val="0070C0"/>
                </a:solidFill>
                <a:cs typeface="B Typographer" panose="00000400000000000000" pitchFamily="2" charset="-78"/>
              </a:rPr>
              <a:t>         </a:t>
            </a:r>
            <a:r>
              <a:rPr lang="fa-IR" b="1" dirty="0" smtClean="0">
                <a:solidFill>
                  <a:srgbClr val="0070C0"/>
                </a:solidFill>
                <a:cs typeface="B Typographer" panose="00000400000000000000" pitchFamily="2" charset="-78"/>
              </a:rPr>
              <a:t>شیوع </a:t>
            </a:r>
            <a:r>
              <a:rPr lang="fa-IR" b="1" dirty="0">
                <a:solidFill>
                  <a:srgbClr val="0070C0"/>
                </a:solidFill>
                <a:cs typeface="B Typographer" panose="00000400000000000000" pitchFamily="2" charset="-78"/>
              </a:rPr>
              <a:t>برابر              </a:t>
            </a:r>
            <a:r>
              <a:rPr lang="fa-IR" b="1" dirty="0" smtClean="0">
                <a:solidFill>
                  <a:srgbClr val="0070C0"/>
                </a:solidFill>
                <a:cs typeface="B Typographer" panose="00000400000000000000" pitchFamily="2" charset="-78"/>
              </a:rPr>
              <a:t>  	       </a:t>
            </a:r>
            <a:r>
              <a:rPr lang="fa-IR" b="1" dirty="0">
                <a:solidFill>
                  <a:srgbClr val="0070C0"/>
                </a:solidFill>
                <a:cs typeface="B Typographer" panose="00000400000000000000" pitchFamily="2" charset="-78"/>
              </a:rPr>
              <a:t>شیوع برابر</a:t>
            </a:r>
            <a:endParaRPr lang="fa-IR" sz="2000" b="1" dirty="0">
              <a:solidFill>
                <a:srgbClr val="0070C0"/>
              </a:solidFill>
              <a:cs typeface="B Typographer" panose="00000400000000000000" pitchFamily="2" charset="-78"/>
            </a:endParaRPr>
          </a:p>
          <a:p>
            <a:r>
              <a:rPr lang="fa-IR" sz="2000" b="1" dirty="0">
                <a:solidFill>
                  <a:srgbClr val="0070C0"/>
                </a:solidFill>
                <a:cs typeface="B Typographer" panose="00000400000000000000" pitchFamily="2" charset="-78"/>
              </a:rPr>
              <a:t>اختلال وسواس- بی اختیار    </a:t>
            </a:r>
            <a:r>
              <a:rPr lang="fa-IR" sz="2000" b="1" dirty="0" smtClean="0">
                <a:solidFill>
                  <a:srgbClr val="0070C0"/>
                </a:solidFill>
                <a:cs typeface="B Typographer" panose="00000400000000000000" pitchFamily="2" charset="-78"/>
              </a:rPr>
              <a:t>	       </a:t>
            </a:r>
            <a:r>
              <a:rPr lang="fa-IR" sz="2000" b="1" dirty="0">
                <a:solidFill>
                  <a:srgbClr val="0070C0"/>
                </a:solidFill>
                <a:cs typeface="B Typographer" panose="00000400000000000000" pitchFamily="2" charset="-78"/>
              </a:rPr>
              <a:t>0/8-4%         </a:t>
            </a:r>
            <a:r>
              <a:rPr lang="fa-IR" sz="1600" b="1" dirty="0">
                <a:solidFill>
                  <a:srgbClr val="0070C0"/>
                </a:solidFill>
                <a:cs typeface="B Typographer" panose="00000400000000000000" pitchFamily="2" charset="-78"/>
              </a:rPr>
              <a:t>درمیان پسران اندکی </a:t>
            </a:r>
            <a:r>
              <a:rPr lang="fa-IR" sz="1400" b="1" dirty="0">
                <a:solidFill>
                  <a:srgbClr val="0070C0"/>
                </a:solidFill>
                <a:cs typeface="B Typographer" panose="00000400000000000000" pitchFamily="2" charset="-78"/>
              </a:rPr>
              <a:t>بیشتر   </a:t>
            </a:r>
            <a:r>
              <a:rPr lang="fa-IR" sz="1400" b="1" dirty="0" smtClean="0">
                <a:solidFill>
                  <a:srgbClr val="0070C0"/>
                </a:solidFill>
                <a:cs typeface="B Typographer" panose="00000400000000000000" pitchFamily="2" charset="-78"/>
              </a:rPr>
              <a:t>       </a:t>
            </a:r>
            <a:r>
              <a:rPr lang="fa-IR" sz="1600" b="1" dirty="0" smtClean="0">
                <a:solidFill>
                  <a:srgbClr val="0070C0"/>
                </a:solidFill>
                <a:cs typeface="B Typographer" panose="00000400000000000000" pitchFamily="2" charset="-78"/>
              </a:rPr>
              <a:t>درمیان </a:t>
            </a:r>
            <a:r>
              <a:rPr lang="fa-IR" sz="1600" b="1" dirty="0">
                <a:solidFill>
                  <a:srgbClr val="0070C0"/>
                </a:solidFill>
                <a:cs typeface="B Typographer" panose="00000400000000000000" pitchFamily="2" charset="-78"/>
              </a:rPr>
              <a:t>نوجوانان کمی</a:t>
            </a:r>
            <a:r>
              <a:rPr lang="fa-IR" sz="1200" b="1" dirty="0">
                <a:solidFill>
                  <a:srgbClr val="0070C0"/>
                </a:solidFill>
                <a:cs typeface="B Typographer" panose="00000400000000000000" pitchFamily="2" charset="-78"/>
              </a:rPr>
              <a:t> </a:t>
            </a:r>
            <a:r>
              <a:rPr lang="fa-IR" b="1" dirty="0">
                <a:solidFill>
                  <a:srgbClr val="0070C0"/>
                </a:solidFill>
                <a:cs typeface="B Typographer" panose="00000400000000000000" pitchFamily="2" charset="-78"/>
              </a:rPr>
              <a:t>بیشتر</a:t>
            </a:r>
            <a:endParaRPr lang="fa-IR" sz="2000" b="1" dirty="0">
              <a:solidFill>
                <a:srgbClr val="0070C0"/>
              </a:solidFill>
              <a:cs typeface="B Typographer" panose="00000400000000000000" pitchFamily="2" charset="-78"/>
            </a:endParaRPr>
          </a:p>
          <a:p>
            <a:r>
              <a:rPr lang="fa-IR" sz="2000" b="1" dirty="0">
                <a:solidFill>
                  <a:srgbClr val="0070C0"/>
                </a:solidFill>
                <a:cs typeface="B Typographer" panose="00000400000000000000" pitchFamily="2" charset="-78"/>
              </a:rPr>
              <a:t>اختلال وحشت زدگی         </a:t>
            </a:r>
            <a:r>
              <a:rPr lang="fa-IR" sz="2000" b="1" dirty="0" smtClean="0">
                <a:solidFill>
                  <a:srgbClr val="0070C0"/>
                </a:solidFill>
                <a:cs typeface="B Typographer" panose="00000400000000000000" pitchFamily="2" charset="-78"/>
              </a:rPr>
              <a:t>	           </a:t>
            </a:r>
            <a:r>
              <a:rPr lang="fa-IR" sz="2000" b="1" dirty="0">
                <a:solidFill>
                  <a:srgbClr val="0070C0"/>
                </a:solidFill>
                <a:cs typeface="B Typographer" panose="00000400000000000000" pitchFamily="2" charset="-78"/>
              </a:rPr>
              <a:t>4/7%         </a:t>
            </a:r>
            <a:r>
              <a:rPr lang="fa-IR" sz="1600" b="1" dirty="0">
                <a:solidFill>
                  <a:srgbClr val="0070C0"/>
                </a:solidFill>
                <a:cs typeface="B Typographer" panose="00000400000000000000" pitchFamily="2" charset="-78"/>
              </a:rPr>
              <a:t>در میان دختران اندکی بیشتر   </a:t>
            </a:r>
            <a:r>
              <a:rPr lang="fa-IR" sz="1600" b="1" dirty="0" smtClean="0">
                <a:solidFill>
                  <a:srgbClr val="0070C0"/>
                </a:solidFill>
                <a:cs typeface="B Typographer" panose="00000400000000000000" pitchFamily="2" charset="-78"/>
              </a:rPr>
              <a:t>         </a:t>
            </a:r>
            <a:r>
              <a:rPr lang="fa-IR" sz="1400" b="1" dirty="0" smtClean="0">
                <a:solidFill>
                  <a:srgbClr val="0070C0"/>
                </a:solidFill>
                <a:cs typeface="B Typographer" panose="00000400000000000000" pitchFamily="2" charset="-78"/>
              </a:rPr>
              <a:t>در </a:t>
            </a:r>
            <a:r>
              <a:rPr lang="fa-IR" sz="1400" b="1" dirty="0">
                <a:solidFill>
                  <a:srgbClr val="0070C0"/>
                </a:solidFill>
                <a:cs typeface="B Typographer" panose="00000400000000000000" pitchFamily="2" charset="-78"/>
              </a:rPr>
              <a:t>میان نوجوانان شایع تر</a:t>
            </a:r>
            <a:endParaRPr lang="fa-IR" sz="2000" b="1" dirty="0">
              <a:solidFill>
                <a:srgbClr val="0070C0"/>
              </a:solidFill>
              <a:cs typeface="B Typographer" panose="00000400000000000000" pitchFamily="2" charset="-78"/>
            </a:endParaRPr>
          </a:p>
          <a:p>
            <a:r>
              <a:rPr lang="fa-IR" sz="2000" b="1" dirty="0">
                <a:solidFill>
                  <a:srgbClr val="0070C0"/>
                </a:solidFill>
                <a:cs typeface="B Typographer" panose="00000400000000000000" pitchFamily="2" charset="-78"/>
              </a:rPr>
              <a:t>اختلال استرس پس ضربه    </a:t>
            </a:r>
            <a:r>
              <a:rPr lang="fa-IR" sz="2000" b="1" dirty="0" smtClean="0">
                <a:solidFill>
                  <a:srgbClr val="0070C0"/>
                </a:solidFill>
                <a:cs typeface="B Typographer" panose="00000400000000000000" pitchFamily="2" charset="-78"/>
              </a:rPr>
              <a:t>	           </a:t>
            </a:r>
            <a:r>
              <a:rPr lang="fa-IR" sz="2000" b="1" dirty="0">
                <a:solidFill>
                  <a:srgbClr val="0070C0"/>
                </a:solidFill>
                <a:cs typeface="B Typographer" panose="00000400000000000000" pitchFamily="2" charset="-78"/>
              </a:rPr>
              <a:t>1-3%        </a:t>
            </a:r>
            <a:r>
              <a:rPr lang="fa-IR" sz="1600" b="1" dirty="0">
                <a:solidFill>
                  <a:srgbClr val="0070C0"/>
                </a:solidFill>
                <a:cs typeface="B Typographer" panose="00000400000000000000" pitchFamily="2" charset="-78"/>
              </a:rPr>
              <a:t>در میان دختران شایع تر     </a:t>
            </a:r>
            <a:r>
              <a:rPr lang="fa-IR" sz="1600" b="1" dirty="0" smtClean="0">
                <a:solidFill>
                  <a:srgbClr val="0070C0"/>
                </a:solidFill>
                <a:cs typeface="B Typographer" panose="00000400000000000000" pitchFamily="2" charset="-78"/>
              </a:rPr>
              <a:t>               </a:t>
            </a:r>
            <a:r>
              <a:rPr lang="fa-IR" b="1" dirty="0">
                <a:solidFill>
                  <a:srgbClr val="0070C0"/>
                </a:solidFill>
                <a:cs typeface="B Typographer" panose="00000400000000000000" pitchFamily="2" charset="-78"/>
              </a:rPr>
              <a:t>یافته های متنوع</a:t>
            </a:r>
            <a:endParaRPr lang="fa-IR" sz="2000" b="1" dirty="0">
              <a:solidFill>
                <a:srgbClr val="0070C0"/>
              </a:solidFill>
              <a:cs typeface="B Typographer" panose="00000400000000000000" pitchFamily="2" charset="-78"/>
            </a:endParaRPr>
          </a:p>
        </p:txBody>
      </p:sp>
      <p:sp>
        <p:nvSpPr>
          <p:cNvPr id="3" name="Rectangle 2"/>
          <p:cNvSpPr/>
          <p:nvPr/>
        </p:nvSpPr>
        <p:spPr>
          <a:xfrm>
            <a:off x="251519" y="804794"/>
            <a:ext cx="8461449" cy="584775"/>
          </a:xfrm>
          <a:prstGeom prst="rect">
            <a:avLst/>
          </a:prstGeom>
        </p:spPr>
        <p:txBody>
          <a:bodyPr wrap="square">
            <a:spAutoFit/>
          </a:bodyPr>
          <a:lstStyle/>
          <a:p>
            <a:r>
              <a:rPr lang="fa-IR" sz="3200" dirty="0">
                <a:cs typeface="B Typographer Book" panose="00000400000000000000" pitchFamily="2" charset="-78"/>
              </a:rPr>
              <a:t>ا</a:t>
            </a:r>
            <a:r>
              <a:rPr lang="fa-IR" sz="2800" dirty="0">
                <a:cs typeface="B Typographer Book" panose="00000400000000000000" pitchFamily="2" charset="-78"/>
              </a:rPr>
              <a:t>لگوهای پراکندگی اختلال اضطرابی در بین کودکان و نوجوانان</a:t>
            </a:r>
          </a:p>
        </p:txBody>
      </p:sp>
    </p:spTree>
    <p:extLst>
      <p:ext uri="{BB962C8B-B14F-4D97-AF65-F5344CB8AC3E}">
        <p14:creationId xmlns:p14="http://schemas.microsoft.com/office/powerpoint/2010/main" val="1541169218"/>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sz="2400" dirty="0">
                <a:solidFill>
                  <a:prstClr val="black"/>
                </a:solidFill>
                <a:cs typeface="B Titr" panose="00000700000000000000" pitchFamily="2" charset="-78"/>
              </a:rPr>
              <a:t>مقیاس اضطراب کودکان پیش </a:t>
            </a:r>
            <a:r>
              <a:rPr lang="fa-IR" sz="2400" dirty="0" smtClean="0">
                <a:solidFill>
                  <a:prstClr val="black"/>
                </a:solidFill>
                <a:cs typeface="B Titr" panose="00000700000000000000" pitchFamily="2" charset="-78"/>
              </a:rPr>
              <a:t>دبستانی اسپنس</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5650449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hlinkClick r:id="rId7" action="ppaction://hlinkfile"/>
          </p:cNvPr>
          <p:cNvSpPr/>
          <p:nvPr/>
        </p:nvSpPr>
        <p:spPr>
          <a:xfrm>
            <a:off x="241057" y="5733276"/>
            <a:ext cx="1715534" cy="701731"/>
          </a:xfrm>
          <a:prstGeom prst="rect">
            <a:avLst/>
          </a:prstGeom>
        </p:spPr>
        <p:txBody>
          <a:bodyPr wrap="none">
            <a:spAutoFit/>
          </a:bodyPr>
          <a:lstStyle/>
          <a:p>
            <a:pPr lvl="0" algn="just" fontAlgn="base">
              <a:lnSpc>
                <a:spcPct val="110000"/>
              </a:lnSpc>
              <a:spcBef>
                <a:spcPct val="0"/>
              </a:spcBef>
              <a:spcAft>
                <a:spcPct val="0"/>
              </a:spcAft>
            </a:pPr>
            <a:r>
              <a:rPr lang="fa-IR" altLang="ar-SA" dirty="0" smtClean="0">
                <a:solidFill>
                  <a:srgbClr val="000066"/>
                </a:solidFill>
                <a:cs typeface="B Nazanin" pitchFamily="2" charset="-78"/>
              </a:rPr>
              <a:t>تغییر مکان کارگاه</a:t>
            </a:r>
          </a:p>
          <a:p>
            <a:pPr lvl="0" algn="just" fontAlgn="base">
              <a:lnSpc>
                <a:spcPct val="110000"/>
              </a:lnSpc>
              <a:spcBef>
                <a:spcPct val="0"/>
              </a:spcBef>
              <a:spcAft>
                <a:spcPct val="0"/>
              </a:spcAft>
            </a:pPr>
            <a:r>
              <a:rPr lang="fa-IR" altLang="ar-SA" dirty="0" smtClean="0">
                <a:solidFill>
                  <a:srgbClr val="000066"/>
                </a:solidFill>
                <a:cs typeface="B Nazanin" pitchFamily="2" charset="-78"/>
              </a:rPr>
              <a:t>پخش تست اسپنس</a:t>
            </a:r>
            <a:endParaRPr lang="fa-IR" altLang="ar-SA" dirty="0">
              <a:solidFill>
                <a:srgbClr val="000066"/>
              </a:solidFill>
              <a:cs typeface="B Nazanin" pitchFamily="2" charset="-78"/>
            </a:endParaRPr>
          </a:p>
        </p:txBody>
      </p:sp>
    </p:spTree>
    <p:extLst>
      <p:ext uri="{BB962C8B-B14F-4D97-AF65-F5344CB8AC3E}">
        <p14:creationId xmlns:p14="http://schemas.microsoft.com/office/powerpoint/2010/main" val="158389980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30300" y="436250"/>
            <a:ext cx="5825202" cy="974096"/>
          </a:xfrm>
        </p:spPr>
        <p:txBody>
          <a:bodyPr/>
          <a:lstStyle/>
          <a:p>
            <a:pPr algn="ctr"/>
            <a:r>
              <a:rPr lang="fa-IR" sz="2800" dirty="0" smtClean="0">
                <a:cs typeface="B Titr" panose="00000700000000000000" pitchFamily="2" charset="-78"/>
              </a:rPr>
              <a:t>اختلال اضطراب جدایی</a:t>
            </a:r>
            <a:endParaRPr lang="en-US" sz="2800" dirty="0">
              <a:cs typeface="B Titr" panose="00000700000000000000" pitchFamily="2" charset="-78"/>
            </a:endParaRPr>
          </a:p>
        </p:txBody>
      </p:sp>
      <p:sp>
        <p:nvSpPr>
          <p:cNvPr id="3" name="Subtitle 2"/>
          <p:cNvSpPr>
            <a:spLocks noGrp="1"/>
          </p:cNvSpPr>
          <p:nvPr>
            <p:ph type="subTitle" idx="1"/>
          </p:nvPr>
        </p:nvSpPr>
        <p:spPr>
          <a:xfrm>
            <a:off x="1130300" y="2082552"/>
            <a:ext cx="5825202" cy="3127174"/>
          </a:xfrm>
        </p:spPr>
        <p:txBody>
          <a:bodyPr>
            <a:normAutofit/>
          </a:bodyPr>
          <a:lstStyle/>
          <a:p>
            <a:pPr rtl="1"/>
            <a:r>
              <a:rPr lang="fa-IR" sz="2000" b="1" dirty="0">
                <a:solidFill>
                  <a:schemeClr val="tx1"/>
                </a:solidFill>
                <a:cs typeface="B Lotus" panose="00000400000000000000" pitchFamily="2" charset="-78"/>
              </a:rPr>
              <a:t>6. از این که بدون شما به خواب برود و یا از خانه دور باشد  بی میلی نشان می دهد </a:t>
            </a:r>
            <a:endParaRPr lang="en-US" sz="2000" b="1" dirty="0">
              <a:solidFill>
                <a:schemeClr val="tx1"/>
              </a:solidFill>
              <a:cs typeface="B Lotus" panose="00000400000000000000" pitchFamily="2" charset="-78"/>
            </a:endParaRPr>
          </a:p>
          <a:p>
            <a:pPr rtl="1"/>
            <a:r>
              <a:rPr lang="fa-IR" sz="2000" b="1" dirty="0">
                <a:solidFill>
                  <a:schemeClr val="tx1"/>
                </a:solidFill>
                <a:cs typeface="B Lotus" panose="00000400000000000000" pitchFamily="2" charset="-78"/>
              </a:rPr>
              <a:t>12. نگران است که اتفاق بدی برای والدینش بیفتد</a:t>
            </a:r>
            <a:endParaRPr lang="en-US" sz="2000" b="1" dirty="0">
              <a:solidFill>
                <a:schemeClr val="tx1"/>
              </a:solidFill>
              <a:cs typeface="B Lotus" panose="00000400000000000000" pitchFamily="2" charset="-78"/>
            </a:endParaRPr>
          </a:p>
          <a:p>
            <a:pPr rtl="1"/>
            <a:r>
              <a:rPr lang="fa-IR" sz="2000" b="1" dirty="0">
                <a:solidFill>
                  <a:schemeClr val="tx1"/>
                </a:solidFill>
                <a:cs typeface="B Lotus" panose="00000400000000000000" pitchFamily="2" charset="-78"/>
              </a:rPr>
              <a:t>16. نگران است که اتفاق بدی برای خودش بیفتد به طوری که دیگر نتواند والدینش را ببیند(مثلا دزدیده شدن و یا گم شدن)</a:t>
            </a:r>
            <a:endParaRPr lang="en-US" sz="2000" b="1" dirty="0">
              <a:solidFill>
                <a:schemeClr val="tx1"/>
              </a:solidFill>
              <a:cs typeface="B Lotus" panose="00000400000000000000" pitchFamily="2" charset="-78"/>
            </a:endParaRPr>
          </a:p>
          <a:p>
            <a:pPr rtl="1"/>
            <a:r>
              <a:rPr lang="fa-IR" sz="2000" b="1" dirty="0">
                <a:solidFill>
                  <a:schemeClr val="tx1"/>
                </a:solidFill>
                <a:cs typeface="B Lotus" panose="00000400000000000000" pitchFamily="2" charset="-78"/>
              </a:rPr>
              <a:t>22. هنگام ترک کردن وی در مهد و یا پرستار دچار اضطراب می شود</a:t>
            </a:r>
            <a:endParaRPr lang="en-US" sz="2000" b="1" dirty="0">
              <a:solidFill>
                <a:schemeClr val="tx1"/>
              </a:solidFill>
              <a:cs typeface="B Lotus" panose="00000400000000000000" pitchFamily="2" charset="-78"/>
            </a:endParaRPr>
          </a:p>
          <a:p>
            <a:pPr rtl="1"/>
            <a:r>
              <a:rPr lang="fa-IR" sz="2000" b="1" dirty="0">
                <a:solidFill>
                  <a:schemeClr val="tx1"/>
                </a:solidFill>
                <a:cs typeface="B Lotus" panose="00000400000000000000" pitchFamily="2" charset="-78"/>
              </a:rPr>
              <a:t>25. کابوس هایی با موضوع جدا شدن از شما می بیند</a:t>
            </a:r>
            <a:endParaRPr lang="en-US" sz="2000" b="1" dirty="0">
              <a:solidFill>
                <a:schemeClr val="tx1"/>
              </a:solidFill>
              <a:cs typeface="B Lotus" panose="00000400000000000000" pitchFamily="2" charset="-78"/>
            </a:endParaRPr>
          </a:p>
          <a:p>
            <a:endParaRPr lang="en-US" dirty="0"/>
          </a:p>
        </p:txBody>
      </p:sp>
    </p:spTree>
    <p:extLst>
      <p:ext uri="{BB962C8B-B14F-4D97-AF65-F5344CB8AC3E}">
        <p14:creationId xmlns:p14="http://schemas.microsoft.com/office/powerpoint/2010/main" val="112636640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sz="2800" dirty="0">
                <a:cs typeface="B Titr" panose="00000700000000000000" pitchFamily="2" charset="-78"/>
              </a:rPr>
              <a:t>اختلال اضطراب اجتماعی</a:t>
            </a:r>
            <a:r>
              <a:rPr lang="en-US" dirty="0"/>
              <a:t/>
            </a:r>
            <a:br>
              <a:rPr lang="en-US" dirty="0"/>
            </a:br>
            <a:endParaRPr lang="en-US" dirty="0"/>
          </a:p>
        </p:txBody>
      </p:sp>
      <p:sp>
        <p:nvSpPr>
          <p:cNvPr id="3" name="Content Placeholder 2"/>
          <p:cNvSpPr>
            <a:spLocks noGrp="1"/>
          </p:cNvSpPr>
          <p:nvPr>
            <p:ph idx="1"/>
          </p:nvPr>
        </p:nvSpPr>
        <p:spPr/>
        <p:txBody>
          <a:bodyPr/>
          <a:lstStyle/>
          <a:p>
            <a:pPr algn="r" rtl="1"/>
            <a:r>
              <a:rPr lang="fa-IR" sz="2000" b="1" dirty="0" smtClean="0">
                <a:cs typeface="B Lotus" panose="00000400000000000000" pitchFamily="2" charset="-78"/>
              </a:rPr>
              <a:t>2</a:t>
            </a:r>
            <a:r>
              <a:rPr lang="fa-IR" sz="2000" b="1" dirty="0">
                <a:cs typeface="B Lotus" panose="00000400000000000000" pitchFamily="2" charset="-78"/>
              </a:rPr>
              <a:t>. از این که کاری انجام دهد که از نظر بقیه عاقلانه به نظر نرسد نگران است</a:t>
            </a:r>
            <a:endParaRPr lang="en-US" sz="2000" b="1" dirty="0">
              <a:cs typeface="B Lotus" panose="00000400000000000000" pitchFamily="2" charset="-78"/>
            </a:endParaRPr>
          </a:p>
          <a:p>
            <a:pPr algn="r" rtl="1"/>
            <a:r>
              <a:rPr lang="fa-IR" sz="2000" b="1" dirty="0">
                <a:cs typeface="B Lotus" panose="00000400000000000000" pitchFamily="2" charset="-78"/>
              </a:rPr>
              <a:t>5. از این که از بزرگسالان کمک بگیرد می ترسد(مثلا معلم کلاس)</a:t>
            </a:r>
            <a:endParaRPr lang="en-US" sz="2000" b="1" dirty="0">
              <a:cs typeface="B Lotus" panose="00000400000000000000" pitchFamily="2" charset="-78"/>
            </a:endParaRPr>
          </a:p>
          <a:p>
            <a:pPr algn="r" rtl="1"/>
            <a:r>
              <a:rPr lang="fa-IR" sz="2000" b="1" dirty="0">
                <a:cs typeface="B Lotus" panose="00000400000000000000" pitchFamily="2" charset="-78"/>
              </a:rPr>
              <a:t>11. از این که با افراد غریبه ملاقات کند و یا با آنها صحبت کند می ترسد</a:t>
            </a:r>
            <a:endParaRPr lang="en-US" sz="2000" b="1" dirty="0">
              <a:cs typeface="B Lotus" panose="00000400000000000000" pitchFamily="2" charset="-78"/>
            </a:endParaRPr>
          </a:p>
          <a:p>
            <a:pPr algn="r" rtl="1"/>
            <a:r>
              <a:rPr lang="fa-IR" sz="2000" b="1" dirty="0">
                <a:cs typeface="B Lotus" panose="00000400000000000000" pitchFamily="2" charset="-78"/>
              </a:rPr>
              <a:t>15. از این که در برابر همکلاسی هایش  صحبت کند نگران است(گروه همسالان)</a:t>
            </a:r>
            <a:endParaRPr lang="en-US" sz="2000" b="1" dirty="0">
              <a:cs typeface="B Lotus" panose="00000400000000000000" pitchFamily="2" charset="-78"/>
            </a:endParaRPr>
          </a:p>
          <a:p>
            <a:pPr algn="r" rtl="1"/>
            <a:r>
              <a:rPr lang="fa-IR" sz="2000" b="1" dirty="0">
                <a:cs typeface="B Lotus" panose="00000400000000000000" pitchFamily="2" charset="-78"/>
              </a:rPr>
              <a:t>19. نگران است که در برابر مردم کاری انجام دهد که خجالت آور باشد</a:t>
            </a:r>
            <a:endParaRPr lang="en-US" sz="2000" b="1" dirty="0">
              <a:cs typeface="B Lotus" panose="00000400000000000000" pitchFamily="2" charset="-78"/>
            </a:endParaRPr>
          </a:p>
          <a:p>
            <a:pPr algn="r" rtl="1"/>
            <a:r>
              <a:rPr lang="fa-IR" sz="2000" b="1" dirty="0">
                <a:cs typeface="B Lotus" panose="00000400000000000000" pitchFamily="2" charset="-78"/>
              </a:rPr>
              <a:t>23. از این که به گروه کودکان و فعالیت های انان ملحق شود می ترسد</a:t>
            </a:r>
            <a:endParaRPr lang="en-US" sz="2000" b="1" dirty="0">
              <a:cs typeface="B Lotus" panose="00000400000000000000" pitchFamily="2" charset="-78"/>
            </a:endParaRPr>
          </a:p>
          <a:p>
            <a:endParaRPr lang="en-US" dirty="0"/>
          </a:p>
        </p:txBody>
      </p:sp>
    </p:spTree>
    <p:extLst>
      <p:ext uri="{BB962C8B-B14F-4D97-AF65-F5344CB8AC3E}">
        <p14:creationId xmlns:p14="http://schemas.microsoft.com/office/powerpoint/2010/main" val="25248109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a-IR" sz="2800" dirty="0">
                <a:cs typeface="B Titr" panose="00000700000000000000" pitchFamily="2" charset="-78"/>
              </a:rPr>
              <a:t>اختلال اضطراب تعمیم یافته</a:t>
            </a:r>
            <a:r>
              <a:rPr lang="en-US" sz="2800" dirty="0">
                <a:cs typeface="B Titr" panose="00000700000000000000" pitchFamily="2" charset="-78"/>
              </a:rPr>
              <a:t/>
            </a:r>
            <a:br>
              <a:rPr lang="en-US" sz="2800" dirty="0">
                <a:cs typeface="B Titr" panose="00000700000000000000" pitchFamily="2" charset="-78"/>
              </a:rPr>
            </a:br>
            <a:endParaRPr lang="en-US" sz="2800" dirty="0">
              <a:cs typeface="B Titr" panose="00000700000000000000" pitchFamily="2" charset="-78"/>
            </a:endParaRPr>
          </a:p>
        </p:txBody>
      </p:sp>
      <p:sp>
        <p:nvSpPr>
          <p:cNvPr id="3" name="Content Placeholder 2"/>
          <p:cNvSpPr>
            <a:spLocks noGrp="1"/>
          </p:cNvSpPr>
          <p:nvPr>
            <p:ph idx="1"/>
          </p:nvPr>
        </p:nvSpPr>
        <p:spPr/>
        <p:txBody>
          <a:bodyPr/>
          <a:lstStyle/>
          <a:p>
            <a:pPr lvl="0" algn="r" rtl="1"/>
            <a:r>
              <a:rPr lang="fa-IR" sz="2000" b="1" dirty="0" smtClean="0">
                <a:cs typeface="B Lotus" panose="00000400000000000000" pitchFamily="2" charset="-78"/>
              </a:rPr>
              <a:t>1. نگران </a:t>
            </a:r>
            <a:r>
              <a:rPr lang="fa-IR" sz="2000" b="1" dirty="0">
                <a:cs typeface="B Lotus" panose="00000400000000000000" pitchFamily="2" charset="-78"/>
              </a:rPr>
              <a:t>است</a:t>
            </a:r>
            <a:endParaRPr lang="en-US" sz="2000" b="1" dirty="0">
              <a:cs typeface="B Lotus" panose="00000400000000000000" pitchFamily="2" charset="-78"/>
            </a:endParaRPr>
          </a:p>
          <a:p>
            <a:pPr algn="r" rtl="1"/>
            <a:r>
              <a:rPr lang="fa-IR" sz="2000" b="1" dirty="0">
                <a:cs typeface="B Lotus" panose="00000400000000000000" pitchFamily="2" charset="-78"/>
              </a:rPr>
              <a:t>4. به علت نگرانی که دارد بی قرار و تحریک پذیر است</a:t>
            </a:r>
            <a:endParaRPr lang="en-US" sz="2000" b="1" dirty="0">
              <a:cs typeface="B Lotus" panose="00000400000000000000" pitchFamily="2" charset="-78"/>
            </a:endParaRPr>
          </a:p>
          <a:p>
            <a:pPr algn="r" rtl="1"/>
            <a:r>
              <a:rPr lang="fa-IR" sz="2000" b="1" dirty="0">
                <a:cs typeface="B Lotus" panose="00000400000000000000" pitchFamily="2" charset="-78"/>
              </a:rPr>
              <a:t>8. به دلیل نگرانی ، برای به خواب رفتن دچار مشکل می شود</a:t>
            </a:r>
            <a:endParaRPr lang="en-US" sz="2000" b="1" dirty="0">
              <a:cs typeface="B Lotus" panose="00000400000000000000" pitchFamily="2" charset="-78"/>
            </a:endParaRPr>
          </a:p>
          <a:p>
            <a:pPr algn="r" rtl="1"/>
            <a:r>
              <a:rPr lang="fa-IR" sz="2000" b="1" dirty="0">
                <a:cs typeface="B Lotus" panose="00000400000000000000" pitchFamily="2" charset="-78"/>
              </a:rPr>
              <a:t>14. در طول روز اوقات زیادی را به نگرانی درباره موارد مختلف می پردازد</a:t>
            </a:r>
            <a:endParaRPr lang="en-US" sz="2000" b="1" dirty="0">
              <a:cs typeface="B Lotus" panose="00000400000000000000" pitchFamily="2" charset="-78"/>
            </a:endParaRPr>
          </a:p>
          <a:p>
            <a:pPr algn="r" rtl="1"/>
            <a:r>
              <a:rPr lang="fa-IR" sz="2000" b="1" dirty="0">
                <a:cs typeface="B Lotus" panose="00000400000000000000" pitchFamily="2" charset="-78"/>
              </a:rPr>
              <a:t>28. حتی هنگامی که لازم نیست برای اطمینان خاطر از شما سوال می کند</a:t>
            </a:r>
            <a:endParaRPr lang="en-US" sz="2000" b="1" dirty="0">
              <a:cs typeface="B Lotus" panose="00000400000000000000" pitchFamily="2" charset="-78"/>
            </a:endParaRPr>
          </a:p>
          <a:p>
            <a:endParaRPr lang="en-US" dirty="0"/>
          </a:p>
        </p:txBody>
      </p:sp>
    </p:spTree>
    <p:extLst>
      <p:ext uri="{BB962C8B-B14F-4D97-AF65-F5344CB8AC3E}">
        <p14:creationId xmlns:p14="http://schemas.microsoft.com/office/powerpoint/2010/main" val="315040050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a-IR" sz="2800" dirty="0">
                <a:cs typeface="B Titr" panose="00000700000000000000" pitchFamily="2" charset="-78"/>
              </a:rPr>
              <a:t>ترس از جراحات جسمانی</a:t>
            </a:r>
            <a:r>
              <a:rPr lang="en-US" sz="2800" dirty="0">
                <a:cs typeface="B Titr" panose="00000700000000000000" pitchFamily="2" charset="-78"/>
              </a:rPr>
              <a:t/>
            </a:r>
            <a:br>
              <a:rPr lang="en-US" sz="2800" dirty="0">
                <a:cs typeface="B Titr" panose="00000700000000000000" pitchFamily="2" charset="-78"/>
              </a:rPr>
            </a:br>
            <a:endParaRPr lang="en-US" sz="2800" dirty="0">
              <a:cs typeface="B Titr" panose="00000700000000000000" pitchFamily="2" charset="-78"/>
            </a:endParaRPr>
          </a:p>
        </p:txBody>
      </p:sp>
      <p:sp>
        <p:nvSpPr>
          <p:cNvPr id="3" name="Content Placeholder 2"/>
          <p:cNvSpPr>
            <a:spLocks noGrp="1"/>
          </p:cNvSpPr>
          <p:nvPr>
            <p:ph idx="1"/>
          </p:nvPr>
        </p:nvSpPr>
        <p:spPr/>
        <p:txBody>
          <a:bodyPr/>
          <a:lstStyle/>
          <a:p>
            <a:pPr algn="r" rtl="1"/>
            <a:r>
              <a:rPr lang="fa-IR" sz="2000" b="1" dirty="0" smtClean="0">
                <a:cs typeface="B Lotus" panose="00000400000000000000" pitchFamily="2" charset="-78"/>
              </a:rPr>
              <a:t>7</a:t>
            </a:r>
            <a:r>
              <a:rPr lang="fa-IR" sz="2000" b="1" dirty="0">
                <a:cs typeface="B Lotus" panose="00000400000000000000" pitchFamily="2" charset="-78"/>
              </a:rPr>
              <a:t>. از بلندی می ترسد</a:t>
            </a:r>
            <a:endParaRPr lang="en-US" sz="2000" b="1" dirty="0">
              <a:cs typeface="B Lotus" panose="00000400000000000000" pitchFamily="2" charset="-78"/>
            </a:endParaRPr>
          </a:p>
          <a:p>
            <a:pPr algn="r" rtl="1"/>
            <a:r>
              <a:rPr lang="fa-IR" sz="2000" b="1" dirty="0">
                <a:cs typeface="B Lotus" panose="00000400000000000000" pitchFamily="2" charset="-78"/>
              </a:rPr>
              <a:t>10. از مکان های شلوغ یا بسته می ترسد</a:t>
            </a:r>
            <a:endParaRPr lang="en-US" sz="2000" b="1" dirty="0">
              <a:cs typeface="B Lotus" panose="00000400000000000000" pitchFamily="2" charset="-78"/>
            </a:endParaRPr>
          </a:p>
          <a:p>
            <a:pPr algn="r" rtl="1"/>
            <a:r>
              <a:rPr lang="fa-IR" sz="2000" b="1" dirty="0">
                <a:cs typeface="B Lotus" panose="00000400000000000000" pitchFamily="2" charset="-78"/>
              </a:rPr>
              <a:t>13. از رعد و برق می ترسد</a:t>
            </a:r>
            <a:endParaRPr lang="en-US" sz="2000" b="1" dirty="0">
              <a:cs typeface="B Lotus" panose="00000400000000000000" pitchFamily="2" charset="-78"/>
            </a:endParaRPr>
          </a:p>
          <a:p>
            <a:pPr algn="r" rtl="1"/>
            <a:r>
              <a:rPr lang="fa-IR" sz="2000" b="1" dirty="0">
                <a:cs typeface="B Lotus" panose="00000400000000000000" pitchFamily="2" charset="-78"/>
              </a:rPr>
              <a:t>17. برای شنا رفتن عصبی می شود</a:t>
            </a:r>
            <a:endParaRPr lang="en-US" sz="2000" b="1" dirty="0">
              <a:cs typeface="B Lotus" panose="00000400000000000000" pitchFamily="2" charset="-78"/>
            </a:endParaRPr>
          </a:p>
          <a:p>
            <a:pPr algn="r" rtl="1"/>
            <a:r>
              <a:rPr lang="fa-IR" sz="2000" b="1" dirty="0">
                <a:cs typeface="B Lotus" panose="00000400000000000000" pitchFamily="2" charset="-78"/>
              </a:rPr>
              <a:t>20. از حشرات(سوسک، مورچه، عنکبوت و.....) می ترسد</a:t>
            </a:r>
            <a:endParaRPr lang="en-US" sz="2000" b="1" dirty="0">
              <a:cs typeface="B Lotus" panose="00000400000000000000" pitchFamily="2" charset="-78"/>
            </a:endParaRPr>
          </a:p>
          <a:p>
            <a:pPr algn="r" rtl="1"/>
            <a:r>
              <a:rPr lang="fa-IR" sz="2000" b="1" dirty="0">
                <a:cs typeface="B Lotus" panose="00000400000000000000" pitchFamily="2" charset="-78"/>
              </a:rPr>
              <a:t>24. از حیوانات خانگی مثل گربه، جوجه و </a:t>
            </a:r>
            <a:r>
              <a:rPr lang="fa-IR" sz="2000" b="1" dirty="0" smtClean="0">
                <a:cs typeface="B Lotus" panose="00000400000000000000" pitchFamily="2" charset="-78"/>
              </a:rPr>
              <a:t>.... می </a:t>
            </a:r>
            <a:r>
              <a:rPr lang="fa-IR" sz="2000" b="1" dirty="0">
                <a:cs typeface="B Lotus" panose="00000400000000000000" pitchFamily="2" charset="-78"/>
              </a:rPr>
              <a:t>ترسد</a:t>
            </a:r>
            <a:endParaRPr lang="en-US" sz="2000" b="1" dirty="0">
              <a:cs typeface="B Lotus" panose="00000400000000000000" pitchFamily="2" charset="-78"/>
            </a:endParaRPr>
          </a:p>
          <a:p>
            <a:pPr algn="r" rtl="1"/>
            <a:r>
              <a:rPr lang="fa-IR" sz="2000" b="1" dirty="0">
                <a:cs typeface="B Lotus" panose="00000400000000000000" pitchFamily="2" charset="-78"/>
              </a:rPr>
              <a:t>25. از تاریکی می ترسد</a:t>
            </a:r>
            <a:endParaRPr lang="en-US" sz="2000" b="1" dirty="0">
              <a:cs typeface="B Lotus" panose="00000400000000000000" pitchFamily="2" charset="-78"/>
            </a:endParaRPr>
          </a:p>
          <a:p>
            <a:endParaRPr lang="en-US" dirty="0"/>
          </a:p>
        </p:txBody>
      </p:sp>
    </p:spTree>
    <p:extLst>
      <p:ext uri="{BB962C8B-B14F-4D97-AF65-F5344CB8AC3E}">
        <p14:creationId xmlns:p14="http://schemas.microsoft.com/office/powerpoint/2010/main" val="117526187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a-IR" sz="2800" dirty="0">
                <a:cs typeface="B Titr" panose="00000700000000000000" pitchFamily="2" charset="-78"/>
              </a:rPr>
              <a:t>اختلال وسواس بی اختیاری</a:t>
            </a:r>
            <a:r>
              <a:rPr lang="en-US" sz="2800" dirty="0">
                <a:cs typeface="B Titr" panose="00000700000000000000" pitchFamily="2" charset="-78"/>
              </a:rPr>
              <a:t/>
            </a:r>
            <a:br>
              <a:rPr lang="en-US" sz="2800" dirty="0">
                <a:cs typeface="B Titr" panose="00000700000000000000" pitchFamily="2" charset="-78"/>
              </a:rPr>
            </a:br>
            <a:endParaRPr lang="en-US" sz="2800" dirty="0">
              <a:cs typeface="B Titr" panose="00000700000000000000" pitchFamily="2" charset="-78"/>
            </a:endParaRPr>
          </a:p>
        </p:txBody>
      </p:sp>
      <p:sp>
        <p:nvSpPr>
          <p:cNvPr id="3" name="Content Placeholder 2"/>
          <p:cNvSpPr>
            <a:spLocks noGrp="1"/>
          </p:cNvSpPr>
          <p:nvPr>
            <p:ph idx="1"/>
          </p:nvPr>
        </p:nvSpPr>
        <p:spPr/>
        <p:txBody>
          <a:bodyPr/>
          <a:lstStyle/>
          <a:p>
            <a:pPr lvl="0" algn="r" rtl="1"/>
            <a:r>
              <a:rPr lang="fa-IR" dirty="0" smtClean="0"/>
              <a:t>بر</a:t>
            </a:r>
            <a:r>
              <a:rPr lang="fa-IR" sz="2000" b="1" dirty="0" smtClean="0">
                <a:cs typeface="B Lotus" panose="00000400000000000000" pitchFamily="2" charset="-78"/>
              </a:rPr>
              <a:t>ای </a:t>
            </a:r>
            <a:r>
              <a:rPr lang="fa-IR" sz="2000" b="1" dirty="0">
                <a:cs typeface="B Lotus" panose="00000400000000000000" pitchFamily="2" charset="-78"/>
              </a:rPr>
              <a:t>این که از انجام درست کارها مطمئن شود آن را چک می کند(مثل بستن در)</a:t>
            </a:r>
            <a:endParaRPr lang="en-US" sz="2000" b="1" dirty="0">
              <a:cs typeface="B Lotus" panose="00000400000000000000" pitchFamily="2" charset="-78"/>
            </a:endParaRPr>
          </a:p>
          <a:p>
            <a:pPr algn="r" rtl="1"/>
            <a:r>
              <a:rPr lang="fa-IR" sz="2000" b="1" dirty="0">
                <a:cs typeface="B Lotus" panose="00000400000000000000" pitchFamily="2" charset="-78"/>
              </a:rPr>
              <a:t>9. در طول روز مرتبا دستهایش را می شوید</a:t>
            </a:r>
            <a:endParaRPr lang="en-US" sz="2000" b="1" dirty="0">
              <a:cs typeface="B Lotus" panose="00000400000000000000" pitchFamily="2" charset="-78"/>
            </a:endParaRPr>
          </a:p>
          <a:p>
            <a:pPr algn="r" rtl="1"/>
            <a:r>
              <a:rPr lang="fa-IR" sz="2000" b="1" dirty="0">
                <a:cs typeface="B Lotus" panose="00000400000000000000" pitchFamily="2" charset="-78"/>
              </a:rPr>
              <a:t>18. مجبور است کارها را به شکلی انجام دهد که اتفاق بدی نیفتد</a:t>
            </a:r>
            <a:endParaRPr lang="en-US" sz="2000" b="1" dirty="0">
              <a:cs typeface="B Lotus" panose="00000400000000000000" pitchFamily="2" charset="-78"/>
            </a:endParaRPr>
          </a:p>
          <a:p>
            <a:pPr algn="r" rtl="1"/>
            <a:r>
              <a:rPr lang="fa-IR" sz="2000" b="1" dirty="0">
                <a:cs typeface="B Lotus" panose="00000400000000000000" pitchFamily="2" charset="-78"/>
              </a:rPr>
              <a:t>21. افکار و تصورات بد و احمقانه ای دارد که مرتبا تکرار می شود</a:t>
            </a:r>
            <a:endParaRPr lang="en-US" sz="2000" b="1" dirty="0">
              <a:cs typeface="B Lotus" panose="00000400000000000000" pitchFamily="2" charset="-78"/>
            </a:endParaRPr>
          </a:p>
          <a:p>
            <a:pPr algn="r" rtl="1"/>
            <a:r>
              <a:rPr lang="fa-IR" sz="2000" b="1" dirty="0">
                <a:cs typeface="B Lotus" panose="00000400000000000000" pitchFamily="2" charset="-78"/>
              </a:rPr>
              <a:t>27. مجبور است برای جلوگیری از بروز اتفاقات بد افکار خاصی داشته باشد(مثل شمردن و یا کلمات خاص)</a:t>
            </a:r>
            <a:endParaRPr lang="en-US" sz="2000" b="1" dirty="0">
              <a:cs typeface="B Lotus" panose="00000400000000000000" pitchFamily="2" charset="-78"/>
            </a:endParaRPr>
          </a:p>
          <a:p>
            <a:endParaRPr lang="en-US" dirty="0"/>
          </a:p>
        </p:txBody>
      </p:sp>
    </p:spTree>
    <p:extLst>
      <p:ext uri="{BB962C8B-B14F-4D97-AF65-F5344CB8AC3E}">
        <p14:creationId xmlns:p14="http://schemas.microsoft.com/office/powerpoint/2010/main" val="55223076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sz="2800" b="1" dirty="0">
                <a:cs typeface="B Titr" panose="00000700000000000000" pitchFamily="2" charset="-78"/>
              </a:rPr>
              <a:t>اختلال استرس پس از سانحه</a:t>
            </a:r>
            <a:r>
              <a:rPr lang="en-US" sz="2800" b="1" dirty="0">
                <a:cs typeface="B Titr" panose="00000700000000000000" pitchFamily="2" charset="-78"/>
              </a:rPr>
              <a:t/>
            </a:r>
            <a:br>
              <a:rPr lang="en-US" sz="2800" b="1" dirty="0">
                <a:cs typeface="B Titr" panose="00000700000000000000" pitchFamily="2" charset="-78"/>
              </a:rPr>
            </a:br>
            <a:endParaRPr lang="en-US" sz="2800" b="1" dirty="0">
              <a:cs typeface="B Titr" panose="00000700000000000000" pitchFamily="2" charset="-78"/>
            </a:endParaRPr>
          </a:p>
        </p:txBody>
      </p:sp>
      <p:sp>
        <p:nvSpPr>
          <p:cNvPr id="3" name="Content Placeholder 2"/>
          <p:cNvSpPr>
            <a:spLocks noGrp="1"/>
          </p:cNvSpPr>
          <p:nvPr>
            <p:ph idx="1"/>
          </p:nvPr>
        </p:nvSpPr>
        <p:spPr/>
        <p:txBody>
          <a:bodyPr>
            <a:normAutofit lnSpcReduction="10000"/>
          </a:bodyPr>
          <a:lstStyle/>
          <a:p>
            <a:pPr algn="r" rtl="1"/>
            <a:r>
              <a:rPr lang="en-US" sz="2000" b="1" dirty="0">
                <a:cs typeface="B Lotus" panose="00000400000000000000" pitchFamily="2" charset="-78"/>
              </a:rPr>
              <a:t>	</a:t>
            </a:r>
            <a:r>
              <a:rPr lang="fa-IR" sz="2000" b="1" dirty="0" smtClean="0">
                <a:cs typeface="B Lotus" panose="00000400000000000000" pitchFamily="2" charset="-78"/>
              </a:rPr>
              <a:t>29</a:t>
            </a:r>
            <a:r>
              <a:rPr lang="en-US" sz="2000" b="1" dirty="0" smtClean="0">
                <a:cs typeface="B Lotus" panose="00000400000000000000" pitchFamily="2" charset="-78"/>
              </a:rPr>
              <a:t>.</a:t>
            </a:r>
            <a:r>
              <a:rPr lang="fa-IR" sz="2000" b="1" dirty="0" smtClean="0">
                <a:cs typeface="B Lotus" panose="00000400000000000000" pitchFamily="2" charset="-78"/>
              </a:rPr>
              <a:t> آیا </a:t>
            </a:r>
            <a:r>
              <a:rPr lang="fa-IR" sz="2000" b="1" dirty="0">
                <a:cs typeface="B Lotus" panose="00000400000000000000" pitchFamily="2" charset="-78"/>
              </a:rPr>
              <a:t>کودک شما هرگونه تجربه بد و یا تروماتیکی مثل تصادف رانندگی، خشونت، مرگ یکی از اطرافیان و.... داشته </a:t>
            </a:r>
            <a:r>
              <a:rPr lang="fa-IR" sz="2000" b="1" dirty="0" smtClean="0">
                <a:cs typeface="B Lotus" panose="00000400000000000000" pitchFamily="2" charset="-78"/>
              </a:rPr>
              <a:t>است بلی     خیر </a:t>
            </a:r>
          </a:p>
          <a:p>
            <a:pPr marL="0" indent="0" algn="r" rtl="1">
              <a:buNone/>
            </a:pPr>
            <a:r>
              <a:rPr lang="fa-IR" sz="2000" b="1" dirty="0" smtClean="0">
                <a:cs typeface="B Lotus" panose="00000400000000000000" pitchFamily="2" charset="-78"/>
              </a:rPr>
              <a:t>در صورتیکه پاسخ شما بلی است به سوالهای زیر پاسخ دهید:</a:t>
            </a:r>
            <a:endParaRPr lang="en-US" sz="2000" b="1" dirty="0">
              <a:cs typeface="B Lotus" panose="00000400000000000000" pitchFamily="2" charset="-78"/>
            </a:endParaRPr>
          </a:p>
          <a:p>
            <a:pPr algn="r" rtl="1"/>
            <a:r>
              <a:rPr lang="fa-IR" sz="2000" b="1" dirty="0">
                <a:cs typeface="B Lotus" panose="00000400000000000000" pitchFamily="2" charset="-78"/>
              </a:rPr>
              <a:t>30.</a:t>
            </a:r>
            <a:r>
              <a:rPr lang="en-US" sz="2000" b="1" dirty="0">
                <a:cs typeface="B Lotus" panose="00000400000000000000" pitchFamily="2" charset="-78"/>
              </a:rPr>
              <a:t>	</a:t>
            </a:r>
            <a:r>
              <a:rPr lang="fa-IR" sz="2000" b="1" dirty="0">
                <a:cs typeface="B Lotus" panose="00000400000000000000" pitchFamily="2" charset="-78"/>
              </a:rPr>
              <a:t>دچار خواب های بد و کابوس هایی درباره اتفاق افتاده دارد</a:t>
            </a:r>
            <a:r>
              <a:rPr lang="en-US" sz="2000" b="1" dirty="0">
                <a:cs typeface="B Lotus" panose="00000400000000000000" pitchFamily="2" charset="-78"/>
              </a:rPr>
              <a:t>.</a:t>
            </a:r>
          </a:p>
          <a:p>
            <a:pPr algn="r" rtl="1"/>
            <a:r>
              <a:rPr lang="fa-IR" sz="2000" b="1" dirty="0">
                <a:cs typeface="B Lotus" panose="00000400000000000000" pitchFamily="2" charset="-78"/>
              </a:rPr>
              <a:t>31.</a:t>
            </a:r>
            <a:r>
              <a:rPr lang="en-US" sz="2000" b="1" dirty="0">
                <a:cs typeface="B Lotus" panose="00000400000000000000" pitchFamily="2" charset="-78"/>
              </a:rPr>
              <a:t>	</a:t>
            </a:r>
            <a:r>
              <a:rPr lang="fa-IR" sz="2000" b="1" dirty="0">
                <a:cs typeface="B Lotus" panose="00000400000000000000" pitchFamily="2" charset="-78"/>
              </a:rPr>
              <a:t>واقعه را به یاد می آورد و دچار اضطراب می شود</a:t>
            </a:r>
            <a:endParaRPr lang="en-US" sz="2000" b="1" dirty="0">
              <a:cs typeface="B Lotus" panose="00000400000000000000" pitchFamily="2" charset="-78"/>
            </a:endParaRPr>
          </a:p>
          <a:p>
            <a:pPr algn="r" rtl="1"/>
            <a:r>
              <a:rPr lang="fa-IR" sz="2000" b="1" dirty="0">
                <a:cs typeface="B Lotus" panose="00000400000000000000" pitchFamily="2" charset="-78"/>
              </a:rPr>
              <a:t>32.</a:t>
            </a:r>
            <a:r>
              <a:rPr lang="en-US" sz="2000" b="1" dirty="0">
                <a:cs typeface="B Lotus" panose="00000400000000000000" pitchFamily="2" charset="-78"/>
              </a:rPr>
              <a:t>	</a:t>
            </a:r>
            <a:r>
              <a:rPr lang="fa-IR" sz="2000" b="1" dirty="0">
                <a:cs typeface="B Lotus" panose="00000400000000000000" pitchFamily="2" charset="-78"/>
              </a:rPr>
              <a:t>دچار اضطراب می شود وقتی واقعه به خاطرش می آید</a:t>
            </a:r>
            <a:endParaRPr lang="en-US" sz="2000" b="1" dirty="0">
              <a:cs typeface="B Lotus" panose="00000400000000000000" pitchFamily="2" charset="-78"/>
            </a:endParaRPr>
          </a:p>
          <a:p>
            <a:pPr algn="r" rtl="1"/>
            <a:r>
              <a:rPr lang="fa-IR" sz="2000" b="1" dirty="0">
                <a:cs typeface="B Lotus" panose="00000400000000000000" pitchFamily="2" charset="-78"/>
              </a:rPr>
              <a:t>33.</a:t>
            </a:r>
            <a:r>
              <a:rPr lang="en-US" sz="2000" b="1" dirty="0">
                <a:cs typeface="B Lotus" panose="00000400000000000000" pitchFamily="2" charset="-78"/>
              </a:rPr>
              <a:t>	</a:t>
            </a:r>
            <a:r>
              <a:rPr lang="fa-IR" sz="2000" b="1" dirty="0">
                <a:cs typeface="B Lotus" panose="00000400000000000000" pitchFamily="2" charset="-78"/>
              </a:rPr>
              <a:t>هنگام تکرار تجربه بدی که داشته است رفتار ناگهانی از خود بروز می دهد</a:t>
            </a:r>
            <a:endParaRPr lang="en-US" sz="2000" b="1" dirty="0">
              <a:cs typeface="B Lotus" panose="00000400000000000000" pitchFamily="2" charset="-78"/>
            </a:endParaRPr>
          </a:p>
          <a:p>
            <a:pPr algn="r" rtl="1"/>
            <a:r>
              <a:rPr lang="fa-IR" sz="2000" b="1" dirty="0">
                <a:cs typeface="B Lotus" panose="00000400000000000000" pitchFamily="2" charset="-78"/>
              </a:rPr>
              <a:t>34.</a:t>
            </a:r>
            <a:r>
              <a:rPr lang="en-US" sz="2000" b="1" dirty="0">
                <a:cs typeface="B Lotus" panose="00000400000000000000" pitchFamily="2" charset="-78"/>
              </a:rPr>
              <a:t>	</a:t>
            </a:r>
            <a:r>
              <a:rPr lang="fa-IR" sz="2000" b="1" dirty="0">
                <a:cs typeface="B Lotus" panose="00000400000000000000" pitchFamily="2" charset="-78"/>
              </a:rPr>
              <a:t>با یادآوری خاطره، علایم جسمی ترس مانند لرز، طپش قلب و عرق کردن ایجاد می شود</a:t>
            </a:r>
            <a:r>
              <a:rPr lang="en-US" dirty="0"/>
              <a:t>.</a:t>
            </a:r>
          </a:p>
          <a:p>
            <a:endParaRPr lang="en-US" dirty="0"/>
          </a:p>
        </p:txBody>
      </p:sp>
    </p:spTree>
    <p:extLst>
      <p:ext uri="{BB962C8B-B14F-4D97-AF65-F5344CB8AC3E}">
        <p14:creationId xmlns:p14="http://schemas.microsoft.com/office/powerpoint/2010/main" val="2780669325"/>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544" y="476672"/>
            <a:ext cx="7808415" cy="1381720"/>
          </a:xfrm>
        </p:spPr>
        <p:txBody>
          <a:bodyPr>
            <a:normAutofit/>
          </a:bodyPr>
          <a:lstStyle/>
          <a:p>
            <a:pPr algn="ctr"/>
            <a:r>
              <a:rPr lang="fa-IR" sz="2400" dirty="0" smtClean="0">
                <a:solidFill>
                  <a:prstClr val="black"/>
                </a:solidFill>
                <a:cs typeface="B Titr" panose="00000700000000000000" pitchFamily="2" charset="-78"/>
              </a:rPr>
              <a:t>کاربرد مقیاس </a:t>
            </a:r>
            <a:r>
              <a:rPr lang="fa-IR" sz="2400" dirty="0">
                <a:solidFill>
                  <a:prstClr val="black"/>
                </a:solidFill>
                <a:cs typeface="B Titr" panose="00000700000000000000" pitchFamily="2" charset="-78"/>
              </a:rPr>
              <a:t>اضطراب کودکان پیش </a:t>
            </a:r>
            <a:r>
              <a:rPr lang="fa-IR" sz="2400" dirty="0" smtClean="0">
                <a:solidFill>
                  <a:prstClr val="black"/>
                </a:solidFill>
                <a:cs typeface="B Titr" panose="00000700000000000000" pitchFamily="2" charset="-78"/>
              </a:rPr>
              <a:t>دبستانی در تشخیص و درمان</a:t>
            </a:r>
            <a:endParaRPr lang="en-US" sz="2400" dirty="0"/>
          </a:p>
        </p:txBody>
      </p:sp>
      <p:sp>
        <p:nvSpPr>
          <p:cNvPr id="3" name="Content Placeholder 2"/>
          <p:cNvSpPr>
            <a:spLocks noGrp="1"/>
          </p:cNvSpPr>
          <p:nvPr>
            <p:ph idx="1"/>
          </p:nvPr>
        </p:nvSpPr>
        <p:spPr/>
        <p:txBody>
          <a:bodyPr/>
          <a:lstStyle/>
          <a:p>
            <a:pPr algn="r" rtl="1" fontAlgn="auto">
              <a:lnSpc>
                <a:spcPct val="150000"/>
              </a:lnSpc>
              <a:spcAft>
                <a:spcPts val="0"/>
              </a:spcAft>
              <a:defRPr/>
            </a:pPr>
            <a:r>
              <a:rPr lang="fa-IR" sz="2000" b="1" dirty="0">
                <a:cs typeface="B Lotus" panose="00000400000000000000" pitchFamily="2" charset="-78"/>
              </a:rPr>
              <a:t>استفاده از </a:t>
            </a:r>
            <a:r>
              <a:rPr lang="fa-IR" sz="2000" b="1" dirty="0" smtClean="0">
                <a:cs typeface="B Lotus" panose="00000400000000000000" pitchFamily="2" charset="-78"/>
              </a:rPr>
              <a:t>مقیاس </a:t>
            </a:r>
            <a:r>
              <a:rPr lang="fa-IR" sz="2000" b="1" dirty="0">
                <a:cs typeface="B Lotus" panose="00000400000000000000" pitchFamily="2" charset="-78"/>
              </a:rPr>
              <a:t>(</a:t>
            </a:r>
            <a:r>
              <a:rPr lang="en-US" sz="2000" b="1" dirty="0">
                <a:cs typeface="B Lotus" panose="00000400000000000000" pitchFamily="2" charset="-78"/>
              </a:rPr>
              <a:t>PAS</a:t>
            </a:r>
            <a:r>
              <a:rPr lang="fa-IR" sz="2000" b="1" dirty="0">
                <a:cs typeface="B Lotus" panose="00000400000000000000" pitchFamily="2" charset="-78"/>
              </a:rPr>
              <a:t>) برای غربالگری اولیه</a:t>
            </a:r>
          </a:p>
          <a:p>
            <a:pPr algn="r" rtl="1" fontAlgn="auto">
              <a:lnSpc>
                <a:spcPct val="150000"/>
              </a:lnSpc>
              <a:spcAft>
                <a:spcPts val="0"/>
              </a:spcAft>
              <a:defRPr/>
            </a:pPr>
            <a:r>
              <a:rPr lang="fa-IR" sz="2000" b="1" dirty="0">
                <a:cs typeface="B Lotus" panose="00000400000000000000" pitchFamily="2" charset="-78"/>
              </a:rPr>
              <a:t>کاربرد آن به عنوان راهنمایی برای آغاز مصاحبه بالینی</a:t>
            </a:r>
          </a:p>
          <a:p>
            <a:pPr algn="r" rtl="1" fontAlgn="auto">
              <a:lnSpc>
                <a:spcPct val="150000"/>
              </a:lnSpc>
              <a:spcAft>
                <a:spcPts val="0"/>
              </a:spcAft>
              <a:defRPr/>
            </a:pPr>
            <a:r>
              <a:rPr lang="fa-IR" sz="2000" b="1" dirty="0">
                <a:cs typeface="B Lotus" panose="00000400000000000000" pitchFamily="2" charset="-78"/>
              </a:rPr>
              <a:t>اهمیت همگرایی اطلاعات کسب شده بوسیله مصاحبه و مقیاس</a:t>
            </a:r>
          </a:p>
          <a:p>
            <a:pPr algn="r" rtl="1" fontAlgn="auto">
              <a:lnSpc>
                <a:spcPct val="150000"/>
              </a:lnSpc>
              <a:spcAft>
                <a:spcPts val="0"/>
              </a:spcAft>
              <a:defRPr/>
            </a:pPr>
            <a:r>
              <a:rPr lang="fa-IR" sz="2000" b="1" dirty="0">
                <a:cs typeface="B Lotus" panose="00000400000000000000" pitchFamily="2" charset="-78"/>
              </a:rPr>
              <a:t>شاخصی برای اثربخشی درمانهای پیش رو</a:t>
            </a:r>
          </a:p>
          <a:p>
            <a:pPr algn="r" rtl="1" fontAlgn="auto">
              <a:lnSpc>
                <a:spcPct val="150000"/>
              </a:lnSpc>
              <a:spcAft>
                <a:spcPts val="0"/>
              </a:spcAft>
              <a:defRPr/>
            </a:pPr>
            <a:r>
              <a:rPr lang="fa-IR" sz="2000" b="1" dirty="0">
                <a:cs typeface="B Lotus" panose="00000400000000000000" pitchFamily="2" charset="-78"/>
              </a:rPr>
              <a:t>پیشنهاد استفاده از فرم معلم (مربی) برای بررسی بیشتر</a:t>
            </a:r>
          </a:p>
          <a:p>
            <a:endParaRPr lang="en-US" dirty="0"/>
          </a:p>
        </p:txBody>
      </p:sp>
    </p:spTree>
    <p:extLst>
      <p:ext uri="{BB962C8B-B14F-4D97-AF65-F5344CB8AC3E}">
        <p14:creationId xmlns:p14="http://schemas.microsoft.com/office/powerpoint/2010/main" val="399901025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04" y="1340768"/>
            <a:ext cx="8496944" cy="5447645"/>
          </a:xfrm>
          <a:prstGeom prst="rect">
            <a:avLst/>
          </a:prstGeom>
        </p:spPr>
        <p:txBody>
          <a:bodyPr wrap="square">
            <a:spAutoFit/>
          </a:bodyPr>
          <a:lstStyle/>
          <a:p>
            <a:pPr fontAlgn="base">
              <a:spcBef>
                <a:spcPct val="0"/>
              </a:spcBef>
              <a:spcAft>
                <a:spcPct val="0"/>
              </a:spcAft>
            </a:pPr>
            <a:r>
              <a:rPr lang="fa-IR" sz="2800" b="1" dirty="0" smtClean="0">
                <a:solidFill>
                  <a:srgbClr val="0000FF"/>
                </a:solidFill>
                <a:latin typeface="Arial" pitchFamily="34" charset="0"/>
                <a:ea typeface="Times New Roman" pitchFamily="18" charset="0"/>
                <a:cs typeface="B Typographer Book" panose="00000400000000000000" pitchFamily="2" charset="-78"/>
              </a:rPr>
              <a:t>3 عامل اصلی</a:t>
            </a:r>
            <a:endParaRPr lang="en-US" sz="2800" b="1" dirty="0">
              <a:solidFill>
                <a:srgbClr val="0000FF"/>
              </a:solidFill>
              <a:latin typeface="Arial" pitchFamily="34" charset="0"/>
              <a:ea typeface="Times New Roman" pitchFamily="18" charset="0"/>
              <a:cs typeface="B Typographer Book" panose="00000400000000000000" pitchFamily="2" charset="-78"/>
            </a:endParaRPr>
          </a:p>
          <a:p>
            <a:pPr marL="514350" indent="-514350" eaLnBrk="0" fontAlgn="base" hangingPunct="0">
              <a:spcBef>
                <a:spcPct val="0"/>
              </a:spcBef>
              <a:spcAft>
                <a:spcPct val="0"/>
              </a:spcAft>
              <a:buFontTx/>
              <a:buAutoNum type="arabicPeriod"/>
            </a:pPr>
            <a:r>
              <a:rPr lang="fa-IR" sz="2800" b="1" dirty="0" smtClean="0">
                <a:solidFill>
                  <a:prstClr val="black"/>
                </a:solidFill>
                <a:latin typeface="Arial" pitchFamily="34" charset="0"/>
                <a:ea typeface="Times New Roman" pitchFamily="18" charset="0"/>
                <a:cs typeface="B Typographer Book" panose="00000400000000000000" pitchFamily="2" charset="-78"/>
              </a:rPr>
              <a:t>خلق و خو </a:t>
            </a:r>
            <a:r>
              <a:rPr lang="en-US" sz="2800" b="1" dirty="0" err="1" smtClean="0">
                <a:solidFill>
                  <a:prstClr val="black"/>
                </a:solidFill>
                <a:latin typeface="Arial" pitchFamily="34" charset="0"/>
                <a:ea typeface="Times New Roman" pitchFamily="18" charset="0"/>
                <a:cs typeface="B Typographer Book" panose="00000400000000000000" pitchFamily="2" charset="-78"/>
              </a:rPr>
              <a:t>temerament</a:t>
            </a:r>
            <a:r>
              <a:rPr lang="fa-IR" sz="2800" b="1" dirty="0" smtClean="0">
                <a:solidFill>
                  <a:prstClr val="black"/>
                </a:solidFill>
                <a:latin typeface="Arial" pitchFamily="34" charset="0"/>
                <a:ea typeface="Times New Roman" pitchFamily="18" charset="0"/>
                <a:cs typeface="B Typographer Book" panose="00000400000000000000" pitchFamily="2" charset="-78"/>
              </a:rPr>
              <a:t> و وراثت</a:t>
            </a:r>
          </a:p>
          <a:p>
            <a:pPr marL="514350" indent="-514350" eaLnBrk="0" fontAlgn="base" hangingPunct="0">
              <a:spcBef>
                <a:spcPct val="0"/>
              </a:spcBef>
              <a:spcAft>
                <a:spcPct val="0"/>
              </a:spcAft>
              <a:buFontTx/>
              <a:buAutoNum type="arabicPeriod"/>
            </a:pPr>
            <a:r>
              <a:rPr lang="fa-IR" sz="2800" b="1" dirty="0" smtClean="0">
                <a:solidFill>
                  <a:prstClr val="black"/>
                </a:solidFill>
                <a:latin typeface="Arial" pitchFamily="34" charset="0"/>
                <a:cs typeface="B Typographer Book" panose="00000400000000000000" pitchFamily="2" charset="-78"/>
              </a:rPr>
              <a:t>تجارب اولیه با والدین </a:t>
            </a:r>
            <a:r>
              <a:rPr lang="en-US" sz="2800" b="1" dirty="0" smtClean="0">
                <a:solidFill>
                  <a:prstClr val="black"/>
                </a:solidFill>
                <a:latin typeface="Arial" pitchFamily="34" charset="0"/>
                <a:cs typeface="B Typographer Book" panose="00000400000000000000" pitchFamily="2" charset="-78"/>
              </a:rPr>
              <a:t>early </a:t>
            </a:r>
            <a:r>
              <a:rPr lang="en-US" sz="2800" b="1" dirty="0" err="1" smtClean="0">
                <a:solidFill>
                  <a:prstClr val="black"/>
                </a:solidFill>
                <a:latin typeface="Arial" pitchFamily="34" charset="0"/>
                <a:cs typeface="B Typographer Book" panose="00000400000000000000" pitchFamily="2" charset="-78"/>
              </a:rPr>
              <a:t>experiencs</a:t>
            </a:r>
            <a:endParaRPr lang="fa-IR" sz="2800" b="1" dirty="0" smtClean="0">
              <a:solidFill>
                <a:prstClr val="black"/>
              </a:solidFill>
              <a:latin typeface="Arial" pitchFamily="34" charset="0"/>
              <a:cs typeface="B Typographer Book" panose="00000400000000000000" pitchFamily="2" charset="-78"/>
            </a:endParaRPr>
          </a:p>
          <a:p>
            <a:pPr marL="514350" indent="-514350" eaLnBrk="0" fontAlgn="base" hangingPunct="0">
              <a:spcBef>
                <a:spcPct val="0"/>
              </a:spcBef>
              <a:spcAft>
                <a:spcPct val="0"/>
              </a:spcAft>
              <a:buFontTx/>
              <a:buAutoNum type="arabicPeriod"/>
            </a:pPr>
            <a:r>
              <a:rPr lang="fa-IR" sz="2800" b="1" dirty="0" smtClean="0">
                <a:solidFill>
                  <a:prstClr val="black"/>
                </a:solidFill>
                <a:latin typeface="Arial" pitchFamily="34" charset="0"/>
                <a:cs typeface="B Typographer Book" panose="00000400000000000000" pitchFamily="2" charset="-78"/>
              </a:rPr>
              <a:t>رویدادهای خاص زندگی </a:t>
            </a:r>
            <a:r>
              <a:rPr lang="en-US" sz="2800" b="1" dirty="0" smtClean="0">
                <a:solidFill>
                  <a:prstClr val="black"/>
                </a:solidFill>
                <a:latin typeface="Arial" pitchFamily="34" charset="0"/>
                <a:cs typeface="B Typographer Book" panose="00000400000000000000" pitchFamily="2" charset="-78"/>
              </a:rPr>
              <a:t>specific life events</a:t>
            </a:r>
            <a:endParaRPr lang="fa-IR" sz="2800" b="1" dirty="0" smtClean="0">
              <a:solidFill>
                <a:prstClr val="black"/>
              </a:solidFill>
              <a:latin typeface="Arial" pitchFamily="34" charset="0"/>
              <a:cs typeface="B Typographer Book" panose="00000400000000000000" pitchFamily="2" charset="-78"/>
            </a:endParaRPr>
          </a:p>
          <a:p>
            <a:pPr marL="514350" indent="-514350" eaLnBrk="0" fontAlgn="base" hangingPunct="0">
              <a:spcBef>
                <a:spcPct val="0"/>
              </a:spcBef>
              <a:spcAft>
                <a:spcPct val="0"/>
              </a:spcAft>
              <a:buFontTx/>
              <a:buAutoNum type="arabicPeriod"/>
            </a:pPr>
            <a:endParaRPr lang="fa-IR" sz="2800" b="1" dirty="0">
              <a:solidFill>
                <a:prstClr val="black"/>
              </a:solidFill>
              <a:latin typeface="Arial" pitchFamily="34" charset="0"/>
              <a:cs typeface="B Typographer Book" panose="00000400000000000000" pitchFamily="2" charset="-78"/>
            </a:endParaRPr>
          </a:p>
          <a:p>
            <a:pPr marL="514350" indent="-514350" eaLnBrk="0" fontAlgn="base" hangingPunct="0">
              <a:spcBef>
                <a:spcPct val="0"/>
              </a:spcBef>
              <a:spcAft>
                <a:spcPct val="0"/>
              </a:spcAft>
              <a:buFontTx/>
              <a:buAutoNum type="arabicPeriod"/>
            </a:pPr>
            <a:endParaRPr lang="fa-IR" sz="2800" b="1" dirty="0" smtClean="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fa-IR" sz="2800" b="1" dirty="0" smtClean="0">
                <a:solidFill>
                  <a:prstClr val="black"/>
                </a:solidFill>
                <a:latin typeface="Arial" pitchFamily="34" charset="0"/>
                <a:cs typeface="B Typographer Book" panose="00000400000000000000" pitchFamily="2" charset="-78"/>
              </a:rPr>
              <a:t>بصورت شفاف تر</a:t>
            </a:r>
          </a:p>
          <a:p>
            <a:pPr eaLnBrk="0" fontAlgn="base" hangingPunct="0">
              <a:spcBef>
                <a:spcPct val="0"/>
              </a:spcBef>
              <a:spcAft>
                <a:spcPct val="0"/>
              </a:spcAft>
            </a:pPr>
            <a:r>
              <a:rPr lang="fa-IR" sz="2800" b="1" dirty="0" smtClean="0">
                <a:solidFill>
                  <a:prstClr val="black"/>
                </a:solidFill>
                <a:latin typeface="Arial" pitchFamily="34" charset="0"/>
                <a:cs typeface="B Typographer Book" panose="00000400000000000000" pitchFamily="2" charset="-78"/>
              </a:rPr>
              <a:t>شرطی سازی</a:t>
            </a:r>
          </a:p>
          <a:p>
            <a:pPr eaLnBrk="0" fontAlgn="base" hangingPunct="0">
              <a:spcBef>
                <a:spcPct val="0"/>
              </a:spcBef>
              <a:spcAft>
                <a:spcPct val="0"/>
              </a:spcAft>
            </a:pPr>
            <a:r>
              <a:rPr lang="fa-IR" sz="2800" b="1" dirty="0" smtClean="0">
                <a:solidFill>
                  <a:prstClr val="black"/>
                </a:solidFill>
                <a:latin typeface="Arial" pitchFamily="34" charset="0"/>
                <a:cs typeface="B Typographer Book" panose="00000400000000000000" pitchFamily="2" charset="-78"/>
              </a:rPr>
              <a:t>حساسیت به علائم اضطراب</a:t>
            </a:r>
          </a:p>
          <a:p>
            <a:pPr eaLnBrk="0" fontAlgn="base" hangingPunct="0">
              <a:spcBef>
                <a:spcPct val="0"/>
              </a:spcBef>
              <a:spcAft>
                <a:spcPct val="0"/>
              </a:spcAft>
            </a:pPr>
            <a:r>
              <a:rPr lang="fa-IR" sz="2800" b="1" dirty="0" smtClean="0">
                <a:solidFill>
                  <a:prstClr val="black"/>
                </a:solidFill>
                <a:latin typeface="Arial" pitchFamily="34" charset="0"/>
                <a:cs typeface="B Typographer Book" panose="00000400000000000000" pitchFamily="2" charset="-78"/>
              </a:rPr>
              <a:t>خطاهای شناختی</a:t>
            </a:r>
          </a:p>
          <a:p>
            <a:pPr eaLnBrk="0" fontAlgn="base" hangingPunct="0">
              <a:spcBef>
                <a:spcPct val="0"/>
              </a:spcBef>
              <a:spcAft>
                <a:spcPct val="0"/>
              </a:spcAft>
            </a:pPr>
            <a:r>
              <a:rPr lang="fa-IR" sz="2800" b="1" dirty="0" smtClean="0">
                <a:solidFill>
                  <a:prstClr val="black"/>
                </a:solidFill>
                <a:latin typeface="Arial" pitchFamily="34" charset="0"/>
                <a:cs typeface="B Typographer Book" panose="00000400000000000000" pitchFamily="2" charset="-78"/>
              </a:rPr>
              <a:t>و...</a:t>
            </a:r>
            <a:endParaRPr lang="en-US" sz="2800" b="1" dirty="0">
              <a:solidFill>
                <a:prstClr val="black"/>
              </a:solidFill>
              <a:latin typeface="Arial" pitchFamily="34" charset="0"/>
              <a:cs typeface="B Typographer Book" panose="00000400000000000000" pitchFamily="2" charset="-78"/>
            </a:endParaRPr>
          </a:p>
          <a:p>
            <a:pPr algn="l" rtl="0" eaLnBrk="0" fontAlgn="base" hangingPunct="0">
              <a:spcBef>
                <a:spcPct val="0"/>
              </a:spcBef>
              <a:spcAft>
                <a:spcPct val="0"/>
              </a:spcAft>
            </a:pPr>
            <a:r>
              <a:rPr lang="en-US" sz="2000" dirty="0">
                <a:solidFill>
                  <a:prstClr val="black"/>
                </a:solidFill>
                <a:latin typeface="Arial" pitchFamily="34" charset="0"/>
                <a:cs typeface="B Typographer Book" panose="00000400000000000000" pitchFamily="2" charset="-78"/>
              </a:rPr>
              <a:t/>
            </a:r>
            <a:br>
              <a:rPr lang="en-US" sz="2000" dirty="0">
                <a:solidFill>
                  <a:prstClr val="black"/>
                </a:solidFill>
                <a:latin typeface="Arial" pitchFamily="34" charset="0"/>
                <a:cs typeface="B Typographer Book" panose="00000400000000000000" pitchFamily="2" charset="-78"/>
              </a:rPr>
            </a:br>
            <a:endParaRPr lang="en-US" sz="2000" dirty="0">
              <a:solidFill>
                <a:prstClr val="black"/>
              </a:solidFill>
              <a:latin typeface="Arial" pitchFamily="34" charset="0"/>
              <a:cs typeface="B Typographer Book" panose="00000400000000000000" pitchFamily="2" charset="-78"/>
            </a:endParaRPr>
          </a:p>
        </p:txBody>
      </p:sp>
      <p:sp>
        <p:nvSpPr>
          <p:cNvPr id="3" name="Rectangle 2"/>
          <p:cNvSpPr/>
          <p:nvPr/>
        </p:nvSpPr>
        <p:spPr>
          <a:xfrm>
            <a:off x="1475663" y="764724"/>
            <a:ext cx="6203942" cy="769441"/>
          </a:xfrm>
          <a:prstGeom prst="rect">
            <a:avLst/>
          </a:prstGeom>
        </p:spPr>
        <p:txBody>
          <a:bodyPr wrap="none">
            <a:spAutoFit/>
          </a:bodyPr>
          <a:lstStyle/>
          <a:p>
            <a:r>
              <a:rPr lang="fa-IR" sz="4400" dirty="0">
                <a:solidFill>
                  <a:prstClr val="black"/>
                </a:solidFill>
                <a:cs typeface="B Kamran" pitchFamily="2" charset="-78"/>
              </a:rPr>
              <a:t>سبب شناسی اختلالات اضطراب کودکان </a:t>
            </a:r>
          </a:p>
        </p:txBody>
      </p:sp>
      <p:sp>
        <p:nvSpPr>
          <p:cNvPr id="4" name="Rectangle 3">
            <a:hlinkClick r:id="rId2" action="ppaction://hlinkfile"/>
          </p:cNvPr>
          <p:cNvSpPr/>
          <p:nvPr/>
        </p:nvSpPr>
        <p:spPr>
          <a:xfrm>
            <a:off x="251520" y="5301208"/>
            <a:ext cx="3384261" cy="1077218"/>
          </a:xfrm>
          <a:prstGeom prst="rect">
            <a:avLst/>
          </a:prstGeom>
        </p:spPr>
        <p:txBody>
          <a:bodyPr wrap="none">
            <a:spAutoFit/>
          </a:bodyPr>
          <a:lstStyle/>
          <a:p>
            <a:pPr>
              <a:defRPr/>
            </a:pPr>
            <a:r>
              <a:rPr lang="fa-IR" sz="3200" b="1" kern="0" dirty="0" smtClean="0">
                <a:solidFill>
                  <a:prstClr val="black"/>
                </a:solidFill>
                <a:latin typeface="Calibri"/>
                <a:cs typeface="B Nazanin" pitchFamily="2" charset="-78"/>
              </a:rPr>
              <a:t>پخش کاربرگ</a:t>
            </a:r>
          </a:p>
          <a:p>
            <a:pPr>
              <a:defRPr/>
            </a:pPr>
            <a:r>
              <a:rPr lang="fa-IR" sz="3200" b="1" kern="0" dirty="0" smtClean="0">
                <a:solidFill>
                  <a:prstClr val="black"/>
                </a:solidFill>
                <a:latin typeface="Calibri"/>
                <a:cs typeface="B Nazanin" pitchFamily="2" charset="-78"/>
              </a:rPr>
              <a:t>عوامل محافظتی و خطر</a:t>
            </a:r>
            <a:endParaRPr lang="fa-IR" sz="3200" kern="0" dirty="0" smtClean="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44350612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484784"/>
            <a:ext cx="8496944" cy="5693866"/>
          </a:xfrm>
          <a:prstGeom prst="rect">
            <a:avLst/>
          </a:prstGeom>
        </p:spPr>
        <p:txBody>
          <a:bodyPr wrap="square">
            <a:spAutoFit/>
          </a:bodyPr>
          <a:lstStyle/>
          <a:p>
            <a:pPr fontAlgn="base">
              <a:spcBef>
                <a:spcPct val="0"/>
              </a:spcBef>
              <a:spcAft>
                <a:spcPct val="0"/>
              </a:spcAft>
            </a:pPr>
            <a:r>
              <a:rPr lang="ar-SA" sz="2400" b="1" dirty="0">
                <a:solidFill>
                  <a:srgbClr val="0000FF"/>
                </a:solidFill>
                <a:latin typeface="Arial" pitchFamily="34" charset="0"/>
                <a:ea typeface="Times New Roman" pitchFamily="18" charset="0"/>
                <a:cs typeface="B Typographer Book" panose="00000400000000000000" pitchFamily="2" charset="-78"/>
              </a:rPr>
              <a:t>مطالعات انجام شده در زمينه تأثيرات والديني و خانوادگي در ايجاد اختلالات اضطرابي در </a:t>
            </a:r>
            <a:r>
              <a:rPr lang="fa-IR" sz="2400" b="1" dirty="0">
                <a:solidFill>
                  <a:srgbClr val="0000FF"/>
                </a:solidFill>
                <a:latin typeface="Arial" pitchFamily="34" charset="0"/>
                <a:ea typeface="Times New Roman" pitchFamily="18" charset="0"/>
                <a:cs typeface="B Typographer Book" panose="00000400000000000000" pitchFamily="2" charset="-78"/>
              </a:rPr>
              <a:t>10</a:t>
            </a:r>
            <a:r>
              <a:rPr lang="ar-SA" sz="2400" b="1" dirty="0">
                <a:solidFill>
                  <a:srgbClr val="0000FF"/>
                </a:solidFill>
                <a:latin typeface="Arial" pitchFamily="34" charset="0"/>
                <a:ea typeface="Times New Roman" pitchFamily="18" charset="0"/>
                <a:cs typeface="B Typographer Book" panose="00000400000000000000" pitchFamily="2" charset="-78"/>
              </a:rPr>
              <a:t> مورد ذيل به طور خلاصه بيان ميشوند : </a:t>
            </a:r>
            <a:r>
              <a:rPr lang="fa-IR" sz="2400" b="1" dirty="0" smtClean="0">
                <a:solidFill>
                  <a:srgbClr val="0000FF"/>
                </a:solidFill>
                <a:latin typeface="Arial" pitchFamily="34" charset="0"/>
                <a:ea typeface="Times New Roman" pitchFamily="18" charset="0"/>
                <a:cs typeface="B Typographer Book" panose="00000400000000000000" pitchFamily="2" charset="-78"/>
              </a:rPr>
              <a:t>نکات زیر جنبه پیشگیرانه هم دارد</a:t>
            </a:r>
            <a:endParaRPr lang="en-US" sz="2400" b="1" dirty="0">
              <a:solidFill>
                <a:srgbClr val="0000FF"/>
              </a:solidFill>
              <a:latin typeface="Arial" pitchFamily="34" charset="0"/>
              <a:ea typeface="Times New Roman" pitchFamily="18"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ea typeface="Times New Roman" pitchFamily="18" charset="0"/>
                <a:cs typeface="B Typographer Book" panose="00000400000000000000" pitchFamily="2" charset="-78"/>
              </a:rPr>
              <a:t>1)كنترل زياد </a:t>
            </a:r>
            <a:r>
              <a:rPr lang="fa-IR" sz="2400" b="1" dirty="0" smtClean="0">
                <a:solidFill>
                  <a:prstClr val="black"/>
                </a:solidFill>
                <a:latin typeface="Arial" pitchFamily="34" charset="0"/>
                <a:ea typeface="Times New Roman" pitchFamily="18" charset="0"/>
                <a:cs typeface="B Typographer Book" panose="00000400000000000000" pitchFamily="2" charset="-78"/>
              </a:rPr>
              <a:t> </a:t>
            </a:r>
            <a:r>
              <a:rPr lang="fa-IR" sz="2400" b="1" dirty="0" smtClean="0">
                <a:solidFill>
                  <a:prstClr val="black"/>
                </a:solidFill>
                <a:latin typeface="Arial" pitchFamily="34" charset="0"/>
                <a:ea typeface="Times New Roman" pitchFamily="18" charset="0"/>
                <a:cs typeface="B Typographer Book" panose="00000400000000000000" pitchFamily="2" charset="-78"/>
                <a:hlinkClick r:id="rId2" action="ppaction://hlinkfile"/>
              </a:rPr>
              <a:t>کلیپ</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2) حمايت فوق‌العاده</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3) مدل سازي يا تقويت رفتار اضطرابي يا اجتنابي </a:t>
            </a:r>
            <a:r>
              <a:rPr lang="ar-SA" sz="1200" b="1" dirty="0">
                <a:solidFill>
                  <a:prstClr val="black"/>
                </a:solidFill>
                <a:latin typeface="Arial" pitchFamily="34" charset="0"/>
                <a:cs typeface="B Typographer Book" panose="00000400000000000000" pitchFamily="2" charset="-78"/>
              </a:rPr>
              <a:t>مشکلات اضطرابی و افسردگی والدین (درمان را هم مشکل میکند)</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4) باورها و انتظارات منفي در مورد كودك </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5) كمبود عواطف مثبت وگرم و عدم پذيرش   </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6) طرد و انتقادگري </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7) تعارض </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8) محيط خانواده </a:t>
            </a:r>
            <a:endParaRPr lang="en-US"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ar-SA" sz="2400" b="1" dirty="0">
                <a:solidFill>
                  <a:prstClr val="black"/>
                </a:solidFill>
                <a:latin typeface="Arial" pitchFamily="34" charset="0"/>
                <a:cs typeface="B Typographer Book" panose="00000400000000000000" pitchFamily="2" charset="-78"/>
              </a:rPr>
              <a:t>9) سبك والديني </a:t>
            </a:r>
            <a:endParaRPr lang="fa-IR" sz="2400" b="1" dirty="0">
              <a:solidFill>
                <a:prstClr val="black"/>
              </a:solidFill>
              <a:latin typeface="Arial" pitchFamily="34" charset="0"/>
              <a:cs typeface="B Typographer Book" panose="00000400000000000000" pitchFamily="2" charset="-78"/>
            </a:endParaRPr>
          </a:p>
          <a:p>
            <a:pPr eaLnBrk="0" fontAlgn="base" hangingPunct="0">
              <a:spcBef>
                <a:spcPct val="0"/>
              </a:spcBef>
              <a:spcAft>
                <a:spcPct val="0"/>
              </a:spcAft>
            </a:pPr>
            <a:r>
              <a:rPr lang="fa-IR" sz="2400" b="1" dirty="0">
                <a:solidFill>
                  <a:prstClr val="black"/>
                </a:solidFill>
                <a:latin typeface="Arial" pitchFamily="34" charset="0"/>
                <a:cs typeface="B Typographer Book" panose="00000400000000000000" pitchFamily="2" charset="-78"/>
              </a:rPr>
              <a:t>10)کيفيت دلبستگی به مادر</a:t>
            </a:r>
            <a:endParaRPr lang="en-US" sz="2400" b="1" dirty="0">
              <a:solidFill>
                <a:prstClr val="black"/>
              </a:solidFill>
              <a:latin typeface="Arial" pitchFamily="34" charset="0"/>
              <a:cs typeface="B Typographer Book" panose="00000400000000000000" pitchFamily="2" charset="-78"/>
            </a:endParaRPr>
          </a:p>
          <a:p>
            <a:pPr algn="l" rtl="0" eaLnBrk="0" fontAlgn="base" hangingPunct="0">
              <a:spcBef>
                <a:spcPct val="0"/>
              </a:spcBef>
              <a:spcAft>
                <a:spcPct val="0"/>
              </a:spcAft>
            </a:pPr>
            <a:r>
              <a:rPr lang="en-US" dirty="0">
                <a:solidFill>
                  <a:prstClr val="black"/>
                </a:solidFill>
                <a:latin typeface="Arial" pitchFamily="34" charset="0"/>
                <a:cs typeface="B Typographer Book" panose="00000400000000000000" pitchFamily="2" charset="-78"/>
              </a:rPr>
              <a:t/>
            </a:r>
            <a:br>
              <a:rPr lang="en-US" dirty="0">
                <a:solidFill>
                  <a:prstClr val="black"/>
                </a:solidFill>
                <a:latin typeface="Arial" pitchFamily="34" charset="0"/>
                <a:cs typeface="B Typographer Book" panose="00000400000000000000" pitchFamily="2" charset="-78"/>
              </a:rPr>
            </a:br>
            <a:endParaRPr lang="en-US" dirty="0">
              <a:solidFill>
                <a:prstClr val="black"/>
              </a:solidFill>
              <a:latin typeface="Arial" pitchFamily="34" charset="0"/>
              <a:cs typeface="B Typographer Book" panose="00000400000000000000" pitchFamily="2" charset="-78"/>
            </a:endParaRPr>
          </a:p>
        </p:txBody>
      </p:sp>
      <p:sp>
        <p:nvSpPr>
          <p:cNvPr id="3" name="Rectangle 2"/>
          <p:cNvSpPr/>
          <p:nvPr/>
        </p:nvSpPr>
        <p:spPr>
          <a:xfrm>
            <a:off x="467544" y="690284"/>
            <a:ext cx="7856639" cy="769441"/>
          </a:xfrm>
          <a:prstGeom prst="rect">
            <a:avLst/>
          </a:prstGeom>
        </p:spPr>
        <p:txBody>
          <a:bodyPr wrap="none">
            <a:spAutoFit/>
          </a:bodyPr>
          <a:lstStyle/>
          <a:p>
            <a:r>
              <a:rPr lang="fa-IR" sz="4400" dirty="0">
                <a:solidFill>
                  <a:prstClr val="black"/>
                </a:solidFill>
                <a:cs typeface="B Kamran" pitchFamily="2" charset="-78"/>
              </a:rPr>
              <a:t>سبب </a:t>
            </a:r>
            <a:r>
              <a:rPr lang="fa-IR" sz="4400" dirty="0" smtClean="0">
                <a:solidFill>
                  <a:prstClr val="black"/>
                </a:solidFill>
                <a:cs typeface="B Kamran" pitchFamily="2" charset="-78"/>
              </a:rPr>
              <a:t>شناسی و پیشگیری </a:t>
            </a:r>
            <a:r>
              <a:rPr lang="fa-IR" sz="4400" dirty="0">
                <a:solidFill>
                  <a:prstClr val="black"/>
                </a:solidFill>
                <a:cs typeface="B Kamran" pitchFamily="2" charset="-78"/>
              </a:rPr>
              <a:t>اختلالات اضطراب کودکان </a:t>
            </a:r>
          </a:p>
        </p:txBody>
      </p:sp>
    </p:spTree>
    <p:extLst>
      <p:ext uri="{BB962C8B-B14F-4D97-AF65-F5344CB8AC3E}">
        <p14:creationId xmlns:p14="http://schemas.microsoft.com/office/powerpoint/2010/main" val="322708638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2" name="Rectangle 1">
            <a:hlinkClick r:id="rId3" action="ppaction://hlinkpres?slideindex=1&amp;slidetitle="/>
          </p:cNvPr>
          <p:cNvSpPr/>
          <p:nvPr/>
        </p:nvSpPr>
        <p:spPr>
          <a:xfrm>
            <a:off x="234654" y="5459081"/>
            <a:ext cx="561372" cy="390363"/>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r" defTabSz="914400" rtl="1" eaLnBrk="1" fontAlgn="auto" latinLnBrk="0" hangingPunct="1">
              <a:lnSpc>
                <a:spcPct val="115000"/>
              </a:lnSpc>
              <a:spcBef>
                <a:spcPts val="0"/>
              </a:spcBef>
              <a:spcAft>
                <a:spcPts val="1000"/>
              </a:spcAft>
              <a:buClrTx/>
              <a:buSzTx/>
              <a:buFontTx/>
              <a:buNone/>
              <a:tabLst/>
              <a:defRPr/>
            </a:pPr>
            <a:r>
              <a:rPr kumimoji="0" lang="fa-IR" sz="1800" b="1" i="0" u="none" strike="noStrike" kern="1200" cap="none" spc="50" normalizeH="0" baseline="0" noProof="0" dirty="0" smtClean="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Calibri"/>
                <a:ea typeface="Calibri"/>
                <a:cs typeface="Arial" panose="020B0604020202020204" pitchFamily="34" charset="0"/>
              </a:rPr>
              <a:t>کلیپ</a:t>
            </a:r>
            <a:endParaRPr kumimoji="0" lang="en-US" sz="18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Calibri"/>
              <a:ea typeface="Calibri"/>
              <a:cs typeface="Arial"/>
            </a:endParaRPr>
          </a:p>
        </p:txBody>
      </p:sp>
      <p:sp>
        <p:nvSpPr>
          <p:cNvPr id="3" name="Rectangle 2">
            <a:hlinkClick r:id="rId4" action="ppaction://hlinkfile"/>
          </p:cNvPr>
          <p:cNvSpPr/>
          <p:nvPr/>
        </p:nvSpPr>
        <p:spPr>
          <a:xfrm>
            <a:off x="96796" y="6001844"/>
            <a:ext cx="830677" cy="410882"/>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marR="0" lvl="0" indent="0" algn="r" defTabSz="914400" rtl="1" eaLnBrk="1" fontAlgn="auto" latinLnBrk="0" hangingPunct="1">
              <a:lnSpc>
                <a:spcPct val="115000"/>
              </a:lnSpc>
              <a:spcBef>
                <a:spcPts val="0"/>
              </a:spcBef>
              <a:spcAft>
                <a:spcPts val="1000"/>
              </a:spcAft>
              <a:buClrTx/>
              <a:buSzTx/>
              <a:buFontTx/>
              <a:buNone/>
              <a:tabLst/>
              <a:defRPr/>
            </a:pPr>
            <a:r>
              <a:rPr kumimoji="0" lang="fa-IR" sz="1800" b="1" i="0" u="none" strike="noStrike" kern="1200" cap="none" spc="50" normalizeH="0" baseline="0" noProof="0" dirty="0" smtClean="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Calibri"/>
                <a:ea typeface="Calibri"/>
                <a:cs typeface="Arial" panose="020B0604020202020204" pitchFamily="34" charset="0"/>
              </a:rPr>
              <a:t>موسیقی</a:t>
            </a:r>
            <a:endParaRPr kumimoji="0" lang="en-US" sz="1800" b="1" i="0" u="none" strike="noStrike" kern="1200" cap="none" spc="50" normalizeH="0" baseline="0" noProof="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uLnTx/>
              <a:uFillTx/>
              <a:latin typeface="Calibri"/>
              <a:ea typeface="Calibri"/>
              <a:cs typeface="Arial"/>
            </a:endParaRPr>
          </a:p>
        </p:txBody>
      </p:sp>
    </p:spTree>
    <p:extLst>
      <p:ext uri="{BB962C8B-B14F-4D97-AF65-F5344CB8AC3E}">
        <p14:creationId xmlns:p14="http://schemas.microsoft.com/office/powerpoint/2010/main" val="205261613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0648" y="116632"/>
            <a:ext cx="7772400" cy="1470025"/>
          </a:xfrm>
        </p:spPr>
        <p:txBody>
          <a:bodyPr>
            <a:noAutofit/>
          </a:bodyPr>
          <a:lstStyle/>
          <a:p>
            <a:r>
              <a:rPr lang="fa-IR" sz="54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مداخلات کودکان</a:t>
            </a:r>
            <a:r>
              <a:rPr lang="fa-IR"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
            </a:r>
            <a:br>
              <a:rPr lang="fa-IR"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br>
            <a:r>
              <a:rPr lang="fa-IR" sz="32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چگونه به کودک کمک کنیم؟</a:t>
            </a:r>
            <a:r>
              <a:rPr lang="fa-IR" sz="24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
            </a:r>
            <a:br>
              <a:rPr lang="fa-IR" sz="24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br>
            <a:endParaRPr lang="fa-IR" sz="2400" dirty="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endParaRPr>
          </a:p>
        </p:txBody>
      </p:sp>
    </p:spTree>
    <p:extLst>
      <p:ext uri="{BB962C8B-B14F-4D97-AF65-F5344CB8AC3E}">
        <p14:creationId xmlns:p14="http://schemas.microsoft.com/office/powerpoint/2010/main" val="39623653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7704" y="260648"/>
            <a:ext cx="6948264" cy="6463308"/>
          </a:xfrm>
          <a:prstGeom prst="rect">
            <a:avLst/>
          </a:prstGeom>
        </p:spPr>
        <p:txBody>
          <a:bodyPr wrap="square">
            <a:spAutoFit/>
          </a:bodyPr>
          <a:lstStyle/>
          <a:p>
            <a:pPr marL="342900" lvl="0" indent="-342900">
              <a:lnSpc>
                <a:spcPct val="115000"/>
              </a:lnSpc>
              <a:buFont typeface="+mj-lt"/>
              <a:buAutoNum type="arabicPeriod"/>
            </a:pPr>
            <a:r>
              <a:rPr lang="fa-IR" dirty="0" smtClean="0">
                <a:latin typeface="Calibri" panose="020F0502020204030204" pitchFamily="34" charset="0"/>
                <a:ea typeface="Calibri" panose="020F0502020204030204" pitchFamily="34" charset="0"/>
                <a:cs typeface="B Davat" panose="00000400000000000000" pitchFamily="2" charset="-78"/>
              </a:rPr>
              <a:t>دفاع </a:t>
            </a:r>
            <a:r>
              <a:rPr lang="fa-IR" dirty="0">
                <a:latin typeface="Calibri" panose="020F0502020204030204" pitchFamily="34" charset="0"/>
                <a:ea typeface="Calibri" panose="020F0502020204030204" pitchFamily="34" charset="0"/>
                <a:cs typeface="B Davat" panose="00000400000000000000" pitchFamily="2" charset="-78"/>
              </a:rPr>
              <a:t>نکنید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تلاش های آنان را زیر سوال نبرید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خوب گوش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همدلی و خلع سلاح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اعتماد سازی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منبع معتبر جهت تائید اطلاعات معرفی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عادی سازی و نرمالایز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اجازه تامل به والدین دهید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چند راهکار ساده بدهید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از آموزش گروهی استفاده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جها افزایش اقتدار خود پیش بینی کنید و حدس بزنید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تجربیات موفق را بگوید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از آمار کمک بگیرید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بازخورد ساندویچی بدهید و نگاه قوت کودک را پررنگ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تشخیص نگذارید و بر نشانه ها تاکید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بر اهداف مشترک متمرکز شوید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به رشد بهتر متمرکز شوید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دوره زمانی آزمایشی تعیین کنید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آسیب ها و پیامدها را بگوید</a:t>
            </a:r>
            <a:endParaRPr lang="en-US" dirty="0">
              <a:latin typeface="Calibri" panose="020F0502020204030204" pitchFamily="34" charset="0"/>
              <a:ea typeface="Calibri" panose="020F0502020204030204" pitchFamily="34" charset="0"/>
              <a:cs typeface="B Davat" panose="00000400000000000000" pitchFamily="2" charset="-78"/>
            </a:endParaRPr>
          </a:p>
          <a:p>
            <a:pPr marL="342900" lvl="0" indent="-342900">
              <a:lnSpc>
                <a:spcPct val="115000"/>
              </a:lnSpc>
              <a:spcAft>
                <a:spcPts val="1000"/>
              </a:spcAft>
              <a:buFont typeface="+mj-lt"/>
              <a:buAutoNum type="arabicPeriod"/>
            </a:pPr>
            <a:r>
              <a:rPr lang="fa-IR" dirty="0">
                <a:latin typeface="Calibri" panose="020F0502020204030204" pitchFamily="34" charset="0"/>
                <a:ea typeface="Calibri" panose="020F0502020204030204" pitchFamily="34" charset="0"/>
                <a:cs typeface="B Davat" panose="00000400000000000000" pitchFamily="2" charset="-78"/>
              </a:rPr>
              <a:t>در نهایت حق انتخاب را به والدین بدهید</a:t>
            </a:r>
            <a:endParaRPr lang="en-US" dirty="0">
              <a:effectLst/>
              <a:latin typeface="Calibri" panose="020F0502020204030204" pitchFamily="34" charset="0"/>
              <a:ea typeface="Calibri" panose="020F0502020204030204" pitchFamily="34" charset="0"/>
              <a:cs typeface="B Davat" panose="00000400000000000000" pitchFamily="2" charset="-78"/>
            </a:endParaRPr>
          </a:p>
        </p:txBody>
      </p:sp>
      <p:sp>
        <p:nvSpPr>
          <p:cNvPr id="3" name="Rectangle 2"/>
          <p:cNvSpPr/>
          <p:nvPr/>
        </p:nvSpPr>
        <p:spPr>
          <a:xfrm rot="20070756">
            <a:off x="695996" y="2072056"/>
            <a:ext cx="3595856" cy="871008"/>
          </a:xfrm>
          <a:prstGeom prst="rect">
            <a:avLst/>
          </a:prstGeom>
        </p:spPr>
        <p:txBody>
          <a:bodyPr wrap="none">
            <a:spAutoFit/>
          </a:bodyPr>
          <a:lstStyle/>
          <a:p>
            <a:pPr lvl="0">
              <a:lnSpc>
                <a:spcPct val="115000"/>
              </a:lnSpc>
              <a:spcAft>
                <a:spcPts val="1000"/>
              </a:spcAft>
            </a:pPr>
            <a:r>
              <a:rPr lang="fa-IR" sz="4400" dirty="0">
                <a:solidFill>
                  <a:srgbClr val="7030A0"/>
                </a:solidFill>
                <a:latin typeface="Calibri" panose="020F0502020204030204" pitchFamily="34" charset="0"/>
                <a:ea typeface="Calibri" panose="020F0502020204030204" pitchFamily="34" charset="0"/>
                <a:cs typeface="B Davat" panose="00000400000000000000" pitchFamily="2" charset="-78"/>
              </a:rPr>
              <a:t>شکستن مقاومت والدین</a:t>
            </a:r>
            <a:endParaRPr lang="en-US" sz="4400" dirty="0">
              <a:solidFill>
                <a:srgbClr val="7030A0"/>
              </a:solidFill>
              <a:latin typeface="Calibri" panose="020F0502020204030204" pitchFamily="34" charset="0"/>
              <a:ea typeface="Calibri" panose="020F0502020204030204" pitchFamily="34" charset="0"/>
              <a:cs typeface="B Davat" panose="00000400000000000000" pitchFamily="2" charset="-78"/>
            </a:endParaRPr>
          </a:p>
        </p:txBody>
      </p:sp>
      <p:sp>
        <p:nvSpPr>
          <p:cNvPr id="4" name="Rectangle 3">
            <a:hlinkClick r:id="rId2" action="ppaction://hlinkfile"/>
          </p:cNvPr>
          <p:cNvSpPr/>
          <p:nvPr/>
        </p:nvSpPr>
        <p:spPr>
          <a:xfrm>
            <a:off x="214450" y="5085184"/>
            <a:ext cx="2308645"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effectLst/>
                <a:uLnTx/>
                <a:uFillTx/>
                <a:cs typeface="B Nazanin" pitchFamily="2" charset="-78"/>
              </a:rPr>
              <a:t>پخش کاربرگ ۱</a:t>
            </a:r>
            <a:endParaRPr kumimoji="0" lang="fa-IR" sz="3200" b="0" i="0" u="none" strike="noStrike" kern="0" cap="none" spc="0" normalizeH="0" baseline="0" noProof="0" dirty="0" smtClean="0">
              <a:ln>
                <a:noFill/>
              </a:ln>
              <a:effectLst/>
              <a:uLnTx/>
              <a:uFillTx/>
            </a:endParaRPr>
          </a:p>
        </p:txBody>
      </p:sp>
      <p:sp>
        <p:nvSpPr>
          <p:cNvPr id="5" name="Rectangle 4">
            <a:hlinkClick r:id="rId3" action="ppaction://hlinkfile"/>
          </p:cNvPr>
          <p:cNvSpPr/>
          <p:nvPr/>
        </p:nvSpPr>
        <p:spPr>
          <a:xfrm>
            <a:off x="134181" y="5893176"/>
            <a:ext cx="2366353"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effectLst/>
                <a:uLnTx/>
                <a:uFillTx/>
                <a:cs typeface="B Nazanin" pitchFamily="2" charset="-78"/>
              </a:rPr>
              <a:t>پخش کاربرگ ۲</a:t>
            </a:r>
            <a:endParaRPr kumimoji="0" lang="fa-IR" sz="3200" b="0" i="0" u="none" strike="noStrike" kern="0" cap="none" spc="0" normalizeH="0" baseline="0" noProof="0" dirty="0" smtClean="0">
              <a:ln>
                <a:noFill/>
              </a:ln>
              <a:effectLst/>
              <a:uLnTx/>
              <a:uFillTx/>
            </a:endParaRPr>
          </a:p>
        </p:txBody>
      </p:sp>
    </p:spTree>
    <p:extLst>
      <p:ext uri="{BB962C8B-B14F-4D97-AF65-F5344CB8AC3E}">
        <p14:creationId xmlns:p14="http://schemas.microsoft.com/office/powerpoint/2010/main" val="29721313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Rectangle 1"/>
          <p:cNvSpPr/>
          <p:nvPr/>
        </p:nvSpPr>
        <p:spPr>
          <a:xfrm>
            <a:off x="2555776" y="1532985"/>
            <a:ext cx="6329640" cy="5016758"/>
          </a:xfrm>
          <a:prstGeom prst="rect">
            <a:avLst/>
          </a:prstGeom>
        </p:spPr>
        <p:txBody>
          <a:bodyPr wrap="square">
            <a:spAutoFit/>
          </a:bodyPr>
          <a:lstStyle/>
          <a:p>
            <a:pPr marL="457200" indent="-457200">
              <a:buFont typeface="Arial" pitchFamily="34" charset="0"/>
              <a:buChar char="•"/>
            </a:pPr>
            <a:r>
              <a:rPr lang="fa-IR" sz="32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برقراری ارتباط و مرور خلق</a:t>
            </a:r>
            <a:endPar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مرور تکالیف خانگی</a:t>
            </a: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فیدبک </a:t>
            </a: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a:t>
            </a:r>
            <a:r>
              <a:rPr lang="fa-IR" sz="32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تکنیک (های) </a:t>
            </a: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جدید و ارائه منطق</a:t>
            </a: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ایفای نقش توسط درمانگر</a:t>
            </a: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ایفای نقش توسط </a:t>
            </a:r>
            <a:r>
              <a:rPr lang="fa-IR" sz="32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والدین/کودک</a:t>
            </a:r>
            <a:endPar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فیدبک </a:t>
            </a:r>
          </a:p>
          <a:p>
            <a:pPr marL="457200" indent="-457200">
              <a:buFont typeface="Arial" pitchFamily="34" charset="0"/>
              <a:buChar char="•"/>
            </a:pPr>
            <a:r>
              <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تکلیف خانه</a:t>
            </a:r>
          </a:p>
          <a:p>
            <a:pPr marL="457200" indent="-457200">
              <a:buFont typeface="Arial" pitchFamily="34" charset="0"/>
              <a:buChar char="•"/>
            </a:pPr>
            <a:endPar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marL="457200" indent="-457200">
              <a:buFont typeface="Arial" pitchFamily="34" charset="0"/>
              <a:buChar char="•"/>
            </a:pPr>
            <a:endParaRPr lang="fa-IR" sz="32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
        <p:nvSpPr>
          <p:cNvPr id="3" name="Rectangle 2"/>
          <p:cNvSpPr/>
          <p:nvPr/>
        </p:nvSpPr>
        <p:spPr>
          <a:xfrm>
            <a:off x="3426869" y="332656"/>
            <a:ext cx="5458547" cy="1200329"/>
          </a:xfrm>
          <a:prstGeom prst="rect">
            <a:avLst/>
          </a:prstGeom>
        </p:spPr>
        <p:txBody>
          <a:bodyPr wrap="none">
            <a:spAutoFit/>
          </a:bodyPr>
          <a:lstStyle/>
          <a:p>
            <a:r>
              <a:rPr lang="fa-IR" sz="3600" dirty="0">
                <a:ln w="18415" cmpd="sng">
                  <a:solidFill>
                    <a:srgbClr val="FFFFFF"/>
                  </a:solidFill>
                  <a:prstDash val="solid"/>
                </a:ln>
                <a:solidFill>
                  <a:srgbClr val="FFFFFF"/>
                </a:solidFill>
                <a:effectLst>
                  <a:glow rad="228600">
                    <a:srgbClr val="C89F5D">
                      <a:satMod val="175000"/>
                      <a:alpha val="40000"/>
                    </a:srgbClr>
                  </a:glow>
                  <a:outerShdw blurRad="63500" dir="3600000" algn="tl" rotWithShape="0">
                    <a:srgbClr val="000000">
                      <a:alpha val="70000"/>
                    </a:srgbClr>
                  </a:outerShdw>
                </a:effectLst>
                <a:cs typeface="B Koodak" pitchFamily="2" charset="-78"/>
              </a:rPr>
              <a:t>ساختار جلسات </a:t>
            </a:r>
          </a:p>
          <a:p>
            <a:r>
              <a:rPr lang="fa-IR" sz="3600" dirty="0" smtClean="0">
                <a:ln w="18415" cmpd="sng">
                  <a:solidFill>
                    <a:srgbClr val="FFFFFF"/>
                  </a:solidFill>
                  <a:prstDash val="solid"/>
                </a:ln>
                <a:solidFill>
                  <a:srgbClr val="FFFFFF"/>
                </a:solidFill>
                <a:effectLst>
                  <a:glow rad="228600">
                    <a:srgbClr val="C89F5D">
                      <a:satMod val="175000"/>
                      <a:alpha val="40000"/>
                    </a:srgbClr>
                  </a:glow>
                  <a:outerShdw blurRad="63500" dir="3600000" algn="tl" rotWithShape="0">
                    <a:srgbClr val="000000">
                      <a:alpha val="70000"/>
                    </a:srgbClr>
                  </a:outerShdw>
                </a:effectLst>
                <a:cs typeface="B Koodak" pitchFamily="2" charset="-78"/>
              </a:rPr>
              <a:t>ابتدا ملاقات با کودک سپس والدین</a:t>
            </a:r>
            <a:endParaRPr lang="fa-IR" sz="3600" dirty="0">
              <a:ln w="18415" cmpd="sng">
                <a:solidFill>
                  <a:srgbClr val="FFFFFF"/>
                </a:solidFill>
                <a:prstDash val="solid"/>
              </a:ln>
              <a:solidFill>
                <a:srgbClr val="FFFFFF"/>
              </a:solidFill>
              <a:effectLst>
                <a:glow rad="228600">
                  <a:srgbClr val="C89F5D">
                    <a:satMod val="175000"/>
                    <a:alpha val="40000"/>
                  </a:srgbClr>
                </a:glow>
                <a:outerShdw blurRad="63500" dir="3600000" algn="tl" rotWithShape="0">
                  <a:srgbClr val="000000">
                    <a:alpha val="70000"/>
                  </a:srgbClr>
                </a:outerShdw>
              </a:effectLst>
              <a:cs typeface="B Koodak" pitchFamily="2" charset="-78"/>
            </a:endParaRPr>
          </a:p>
        </p:txBody>
      </p:sp>
    </p:spTree>
    <p:extLst>
      <p:ext uri="{BB962C8B-B14F-4D97-AF65-F5344CB8AC3E}">
        <p14:creationId xmlns:p14="http://schemas.microsoft.com/office/powerpoint/2010/main" val="2380503734"/>
      </p:ext>
    </p:extLst>
  </p:cSld>
  <p:clrMapOvr>
    <a:masterClrMapping/>
  </p:clrMapOvr>
  <p:transition spd="slow">
    <p:randomBar dir="vert"/>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5172653" y="188640"/>
            <a:ext cx="3793090" cy="1200329"/>
          </a:xfrm>
        </p:spPr>
        <p:txBody>
          <a:bodyPr vert="horz" wrap="none" lIns="91440" tIns="45720" rIns="91440" bIns="45720" rtlCol="1" anchor="ctr">
            <a:spAutoFit/>
          </a:bodyPr>
          <a:lstStyle/>
          <a:p>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درمان </a:t>
            </a: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اضطراب </a:t>
            </a: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کودکان</a:t>
            </a:r>
            <a:b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b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کلیات</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612815" y="2133327"/>
            <a:ext cx="8352928" cy="4302716"/>
          </a:xfrm>
        </p:spPr>
        <p:txBody>
          <a:bodyPr vert="horz" wrap="square" lIns="91440" tIns="45720" rIns="91440" bIns="45720" rtlCol="1">
            <a:spAutoFit/>
          </a:bodyPr>
          <a:lstStyle/>
          <a:p>
            <a:pPr marL="571500" indent="-571500" algn="just">
              <a:buFont typeface="Wingdings" panose="05000000000000000000" pitchFamily="2" charset="2"/>
              <a:buChar char="ü"/>
            </a:pPr>
            <a:r>
              <a:rPr lang="fa-IR" sz="36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نکته: جلسه را بصورت شاد، همدلانه و مشارکت جویانه شروع کنید</a:t>
            </a:r>
          </a:p>
          <a:p>
            <a:pPr marL="571500" indent="-571500" algn="just">
              <a:buFont typeface="Wingdings" panose="05000000000000000000" pitchFamily="2" charset="2"/>
              <a:buChar char="ü"/>
            </a:pPr>
            <a:r>
              <a:rPr lang="fa-IR" sz="36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گام اول مفهوم اضطراب را به کودک توضیح میدهیم و هیجانات را آموزش میدهیم</a:t>
            </a:r>
          </a:p>
          <a:p>
            <a:pPr marL="571500" indent="-571500" algn="just">
              <a:buFont typeface="Wingdings" panose="05000000000000000000" pitchFamily="2" charset="2"/>
              <a:buChar char="ü"/>
            </a:pPr>
            <a:r>
              <a:rPr lang="fa-IR" sz="36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گام دوم داشتن اضطراب را نرمالایز میکنیم و بر اضطراب سازنده تاکید میکنیم (از مثال های ملموس و متعدد استفاده می کنیم)</a:t>
            </a:r>
          </a:p>
          <a:p>
            <a:pPr marL="571500" indent="-571500" algn="just">
              <a:buFont typeface="Wingdings" panose="05000000000000000000" pitchFamily="2" charset="2"/>
              <a:buChar char="ü"/>
            </a:pPr>
            <a:r>
              <a:rPr lang="fa-IR" sz="36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گام سوم بر روی سه سطح نشانه ها یعنی جسمی، رفتاری و شناختی متمرکز می شویم</a:t>
            </a:r>
            <a:endParaRPr lang="en-US" sz="36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18301697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953876" y="188640"/>
            <a:ext cx="4230646" cy="1200329"/>
          </a:xfrm>
        </p:spPr>
        <p:txBody>
          <a:bodyPr vert="horz" wrap="none" lIns="91440" tIns="45720" rIns="91440" bIns="45720" rtlCol="1" anchor="ctr">
            <a:spAutoFit/>
          </a:bodyPr>
          <a:lstStyle/>
          <a:p>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درمان </a:t>
            </a: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اضطراب </a:t>
            </a: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کودکان</a:t>
            </a:r>
            <a:b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b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شناخت و تغییر علائم بدنی</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539552" y="1681198"/>
            <a:ext cx="8352928" cy="5176802"/>
          </a:xfrm>
        </p:spPr>
        <p:txBody>
          <a:bodyPr vert="horz" wrap="square" lIns="91440" tIns="45720" rIns="91440" bIns="45720" rtlCol="1">
            <a:spAutoFit/>
          </a:bodyPr>
          <a:lstStyle/>
          <a:p>
            <a:pPr marL="571500" indent="-571500">
              <a:buFont typeface="Wingdings" panose="05000000000000000000" pitchFamily="2" charset="2"/>
              <a:buChar char="ü"/>
            </a:pPr>
            <a:r>
              <a:rPr lang="fa-IR" sz="2800"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تکنیک های جهت شناخت علائم بدنی</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نشانه های بدنی و اگهی جسمی با استفاده از شکل و مدل</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شناسایی پاسخ های بدنی</a:t>
            </a:r>
          </a:p>
          <a:p>
            <a:pPr marL="571500" indent="-571500">
              <a:buFont typeface="Wingdings" panose="05000000000000000000" pitchFamily="2" charset="2"/>
              <a:buChar char="ü"/>
            </a:pPr>
            <a:r>
              <a:rPr lang="fa-IR" sz="2800"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تکنیک های برای کاهش علائم جسمی</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آرام سازی عضلانی</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تنفس عمیق</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بازی های عروسک/آدم آهنی- ماکارونی-یخ/آب- بادکنک/</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استفاده از حواس</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فعالیت لذت بخش بدنی</a:t>
            </a:r>
          </a:p>
          <a:p>
            <a:pPr algn="just"/>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تصاویری که باعث ارام سازی میشود</a:t>
            </a:r>
            <a:endParaRPr lang="en-US"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40889238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953876" y="188640"/>
            <a:ext cx="4230646" cy="1200329"/>
          </a:xfrm>
        </p:spPr>
        <p:txBody>
          <a:bodyPr vert="horz" wrap="none" lIns="91440" tIns="45720" rIns="91440" bIns="45720" rtlCol="1" anchor="ctr">
            <a:spAutoFit/>
          </a:bodyPr>
          <a:lstStyle/>
          <a:p>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درمان </a:t>
            </a: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اضطراب </a:t>
            </a: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کودکان</a:t>
            </a:r>
            <a:b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b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شناخت و تغییر علائم بدنی</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612815" y="2133327"/>
            <a:ext cx="8352928" cy="3711785"/>
          </a:xfrm>
        </p:spPr>
        <p:txBody>
          <a:bodyPr vert="horz" wrap="square" lIns="91440" tIns="45720" rIns="91440" bIns="45720" rtlCol="1">
            <a:spAutoFit/>
          </a:bodyPr>
          <a:lstStyle/>
          <a:p>
            <a:pPr marL="571500" indent="-571500">
              <a:buFont typeface="Wingdings" panose="05000000000000000000" pitchFamily="2" charset="2"/>
              <a:buChar char="ü"/>
            </a:pPr>
            <a:r>
              <a:rPr lang="fa-IR" sz="2800"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تکنیک تنفس در کاغذ یا لیوان در حملات اضطرابی</a:t>
            </a:r>
          </a:p>
          <a:p>
            <a:pPr marL="571500" indent="-571500">
              <a:buFont typeface="Wingdings" panose="05000000000000000000" pitchFamily="2" charset="2"/>
              <a:buChar char="ü"/>
            </a:pPr>
            <a:r>
              <a:rPr lang="fa-IR" sz="280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نقش تنفس تند و زیاد: </a:t>
            </a:r>
            <a:endPar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يعني </a:t>
            </a: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نوعي تنفس زياد از حد و بيشتر از آنچه بدن نياز دارد، كه باعث ميشود غلظت دي اكسيد كربن خون كمتر از ميزان عادي شود و در نتيجه </a:t>
            </a:r>
            <a:r>
              <a:rPr lang="en-US"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PH </a:t>
            </a: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خون بالا رود. افزايش </a:t>
            </a:r>
            <a:r>
              <a:rPr lang="en-US"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PH </a:t>
            </a: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باعث مي شود كه به سلولهاي بدن اكسيژن به اندازه كافي نرسد. آزمايش "چالش بيولوژيك" تا حدودي توضيح بالا را تاييد كرده است.  همچنين حساسيت به افزايش گاز دي اكسيد كربن يك عامل خطر براي اختلال وحشتزدگي به حساب مي آيد و  نظريه ي "آژير خطر خفگي" را به وجود آورده است.</a:t>
            </a:r>
            <a:endParaRPr lang="en-US"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30450118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572794" y="205021"/>
            <a:ext cx="4650632" cy="1200329"/>
          </a:xfrm>
        </p:spPr>
        <p:txBody>
          <a:bodyPr vert="horz" wrap="none" lIns="91440" tIns="45720" rIns="91440" bIns="45720" rtlCol="1" anchor="ctr">
            <a:spAutoFit/>
          </a:bodyPr>
          <a:lstStyle/>
          <a:p>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درمان </a:t>
            </a: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اضطراب </a:t>
            </a: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کودکان</a:t>
            </a:r>
            <a:b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b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شناخت و تغییر علائم شناختی</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396330" y="1619959"/>
            <a:ext cx="8352928" cy="5016758"/>
          </a:xfrm>
        </p:spPr>
        <p:txBody>
          <a:bodyPr vert="horz" wrap="square" lIns="91440" tIns="45720" rIns="91440" bIns="45720" rtlCol="1">
            <a:spAutoFit/>
          </a:bodyPr>
          <a:lstStyle/>
          <a:p>
            <a:pPr marL="571500" indent="-571500">
              <a:buFont typeface="Wingdings" panose="05000000000000000000" pitchFamily="2" charset="2"/>
              <a:buChar char="ü"/>
            </a:pPr>
            <a:r>
              <a:rPr lang="fa-IR"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شناسایی و تغییر خودگویی ها مهم است</a:t>
            </a:r>
          </a:p>
          <a:p>
            <a:pPr marL="571500" indent="-571500">
              <a:buFont typeface="Wingdings" panose="05000000000000000000" pitchFamily="2" charset="2"/>
              <a:buChar char="ü"/>
            </a:pPr>
            <a:r>
              <a:rPr lang="fa-IR"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تکنیک های اصلی عبارتند از ثبت افکار، چالش شناختی و گفتارهای درونی مقابله ای</a:t>
            </a:r>
          </a:p>
          <a:p>
            <a:pPr algn="just"/>
            <a:endPar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algn="just"/>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برای شناسایی خودگویی ها از روش مستقیم یا غیرمستقیم استفاده میکنیم</a:t>
            </a:r>
          </a:p>
          <a:p>
            <a:pPr algn="just"/>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برای کودکان کوچک تر اموزش تغییر دادن افکار و تکرار انها مفید است یا بازی عصایی جادویی و عینک مثبت</a:t>
            </a:r>
          </a:p>
          <a:p>
            <a:pPr algn="just"/>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برای کودکان بزرگتر از روش های چالش شناختی، توقف فکر، حواس پرتی و.. استفاده میکنیم</a:t>
            </a:r>
          </a:p>
        </p:txBody>
      </p:sp>
    </p:spTree>
    <p:extLst>
      <p:ext uri="{BB962C8B-B14F-4D97-AF65-F5344CB8AC3E}">
        <p14:creationId xmlns:p14="http://schemas.microsoft.com/office/powerpoint/2010/main" val="7395807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590335" y="238514"/>
            <a:ext cx="4584909" cy="1200329"/>
          </a:xfrm>
        </p:spPr>
        <p:txBody>
          <a:bodyPr vert="horz" wrap="none" lIns="91440" tIns="45720" rIns="91440" bIns="45720" rtlCol="1" anchor="ctr">
            <a:spAutoFit/>
          </a:bodyPr>
          <a:lstStyle/>
          <a:p>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درمان </a:t>
            </a: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اضطراب </a:t>
            </a: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کودکان</a:t>
            </a:r>
            <a:b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b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شناخت و تغییر علائم رفتاری</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146287" y="2133327"/>
            <a:ext cx="9290287" cy="4450449"/>
          </a:xfrm>
        </p:spPr>
        <p:txBody>
          <a:bodyPr vert="horz" wrap="square" lIns="91440" tIns="45720" rIns="91440" bIns="45720" rtlCol="1">
            <a:spAutoFit/>
          </a:bodyPr>
          <a:lstStyle/>
          <a:p>
            <a:pPr marL="571500" indent="-571500">
              <a:buFont typeface="Wingdings" panose="05000000000000000000" pitchFamily="2" charset="2"/>
              <a:buChar char="ü"/>
            </a:pPr>
            <a:r>
              <a:rPr lang="fa-IR" sz="2400"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مهمترین نکته در این قسمت تاکید بر جلوگیری از اجتناب و مواجه است</a:t>
            </a:r>
          </a:p>
          <a:p>
            <a:pPr marL="571500" indent="-571500">
              <a:buFont typeface="Wingdings" panose="05000000000000000000" pitchFamily="2" charset="2"/>
              <a:buChar char="ü"/>
            </a:pPr>
            <a:r>
              <a:rPr lang="fa-IR" sz="2400" b="1"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تکنیک های اصلی عبارتند از حساسیت زدایی منظم، مدیریت وابستگی، خودپایی و برنامه ریزی فعالیت</a:t>
            </a:r>
          </a:p>
          <a:p>
            <a:pPr algn="just"/>
            <a:endPar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تاکید بر مهمترین بخش و نوع اضطراب</a:t>
            </a: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از دماسنج ترس استفاده می کنیم</a:t>
            </a: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میانگین پله های نردبان 10 محرک باشد</a:t>
            </a: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با هماهنگی کودک رده بندی میکنیم</a:t>
            </a: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پایش اضطراب در مراحل مهم است</a:t>
            </a: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درگیری و مشارکت والدین مهم است</a:t>
            </a:r>
          </a:p>
          <a:p>
            <a:pPr algn="just"/>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روش دیگر </a:t>
            </a:r>
            <a:r>
              <a:rPr lang="en-US"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point system </a:t>
            </a: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است که تاکید بر پاداش و تنبیه است</a:t>
            </a:r>
          </a:p>
        </p:txBody>
      </p:sp>
    </p:spTree>
    <p:extLst>
      <p:ext uri="{BB962C8B-B14F-4D97-AF65-F5344CB8AC3E}">
        <p14:creationId xmlns:p14="http://schemas.microsoft.com/office/powerpoint/2010/main" val="11245780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down)">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wipe(down)">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7759345" y="477543"/>
            <a:ext cx="845103"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نکته</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179512" y="2348880"/>
            <a:ext cx="8496944" cy="2850011"/>
          </a:xfrm>
        </p:spPr>
        <p:txBody>
          <a:bodyPr vert="horz" wrap="square" lIns="91440" tIns="45720" rIns="91440" bIns="45720" rtlCol="1">
            <a:spAutoFit/>
          </a:bodyPr>
          <a:lstStyle/>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درمان اکت با بهره گیری از استعاره های کاربردی به درمان اضطراب کودکان بسیار کمک می کند</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استعاره قلب و سم</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استعاره ببر</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استعاره بچه بدقلق</a:t>
            </a:r>
            <a:endPar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
        <p:nvSpPr>
          <p:cNvPr id="5" name="Rectangle 4">
            <a:hlinkClick r:id="rId3" action="ppaction://hlinkfile"/>
          </p:cNvPr>
          <p:cNvSpPr/>
          <p:nvPr/>
        </p:nvSpPr>
        <p:spPr>
          <a:xfrm>
            <a:off x="6896" y="5604991"/>
            <a:ext cx="3821880"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effectLst/>
                <a:uLnTx/>
                <a:uFillTx/>
                <a:cs typeface="B Nazanin" pitchFamily="2" charset="-78"/>
              </a:rPr>
              <a:t>پروتکل اکت  برای وسواس</a:t>
            </a:r>
            <a:endParaRPr kumimoji="0" lang="fa-IR" sz="3200" b="0" i="0" u="none" strike="noStrike" kern="0" cap="none" spc="0" normalizeH="0" baseline="0" noProof="0" dirty="0" smtClean="0">
              <a:ln>
                <a:noFill/>
              </a:ln>
              <a:effectLst/>
              <a:uLnTx/>
              <a:uFillTx/>
            </a:endParaRPr>
          </a:p>
        </p:txBody>
      </p:sp>
    </p:spTree>
    <p:extLst>
      <p:ext uri="{BB962C8B-B14F-4D97-AF65-F5344CB8AC3E}">
        <p14:creationId xmlns:p14="http://schemas.microsoft.com/office/powerpoint/2010/main" val="3053408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251520" y="404664"/>
            <a:ext cx="7020272" cy="2308324"/>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توانایی یافتن و حفظ دوستان </a:t>
            </a:r>
            <a:r>
              <a:rPr kumimoji="0" lang="fa-IR" sz="36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جدید برای </a:t>
            </a: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کودکان حیاتی </a:t>
            </a:r>
            <a:r>
              <a:rPr kumimoji="0" lang="fa-IR" sz="36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است. کودکانی </a:t>
            </a: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که مشکل اجتماعی دارند در نوجوانی و بزرگسالی در معرض </a:t>
            </a:r>
            <a:r>
              <a:rPr kumimoji="0" lang="fa-IR" sz="36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مشکلات عاطفی </a:t>
            </a: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و روانی قرار دارند</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3" name="Rectangle 2"/>
          <p:cNvSpPr/>
          <p:nvPr/>
        </p:nvSpPr>
        <p:spPr>
          <a:xfrm>
            <a:off x="1835696" y="2678827"/>
            <a:ext cx="4572000" cy="1754326"/>
          </a:xfrm>
          <a:prstGeom prst="rect">
            <a:avLst/>
          </a:prstGeom>
        </p:spPr>
        <p:txBody>
          <a:bodyPr>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6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شما چه رفتارهای را در کودکان به عنوان رفتارهای اجتماعی مثبت و کدام را منفی می دانید؟</a:t>
            </a: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4" name="Rectangle 3"/>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
        <p:nvSpPr>
          <p:cNvPr id="5" name="Rectangle 4">
            <a:hlinkClick r:id="rId3" action="ppaction://hlinkfile"/>
          </p:cNvPr>
          <p:cNvSpPr/>
          <p:nvPr/>
        </p:nvSpPr>
        <p:spPr>
          <a:xfrm>
            <a:off x="467544" y="5517232"/>
            <a:ext cx="2079415" cy="584775"/>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solidFill>
                  <a:srgbClr val="FFFFFF"/>
                </a:solidFill>
                <a:effectLst/>
                <a:uLnTx/>
                <a:uFillTx/>
                <a:latin typeface="Calibri"/>
                <a:ea typeface="+mn-ea"/>
                <a:cs typeface="B Nazanin" pitchFamily="2" charset="-78"/>
              </a:rPr>
              <a:t>پخش کاربرگ</a:t>
            </a:r>
            <a:endParaRPr kumimoji="0" lang="fa-IR" sz="3200" b="0" i="0" u="none" strike="noStrike" kern="0" cap="none" spc="0" normalizeH="0" baseline="0" noProof="0" dirty="0" smtClean="0">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230747059"/>
      </p:ext>
    </p:extLst>
  </p:cSld>
  <p:clrMapOvr>
    <a:masterClrMapping/>
  </p:clrMapOvr>
  <p:transition spd="slow">
    <p:wheel spokes="1"/>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467544" y="1046810"/>
            <a:ext cx="6732240" cy="6001643"/>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پرخاشگری فیزیکی(کتک زدن،لگد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زدن) جر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زدن در بازی،بحث و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مجادله، پریدن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وسط حرف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دیگران، فحش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دادن،دیگران را مسخره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کردن، غر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زدن،شکایت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کردن، اموال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دیگران را برداشتن زورگویی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 تماس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چشمی ضعیف،خیلی بلند حرف زدن،پز دادن و افاده داشتن، طعنه آمیز سخن گفتن،قلدری کردن، مزاحم دیگران شدن، حق دیگران را خوردن،کناره گیری از دیگران،منفعل بودن، گوش ندادن به صحبت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دیگران،</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جمع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آوری غذا،اسباب بازی و</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 عدم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بیان احساسات،صحبت کردن بیش از اندازه،سرپیچی از قواعد بازی، بازی با خشونت،تحت نفوذ و فشار همسالان تسلیم کارهای نامناسب شدن</a:t>
            </a: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3" name="Rectangle 2"/>
          <p:cNvSpPr/>
          <p:nvPr/>
        </p:nvSpPr>
        <p:spPr>
          <a:xfrm>
            <a:off x="1054542" y="257940"/>
            <a:ext cx="6133410" cy="604781"/>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نمونه هایی از رفتارهای اجتماعی منفی</a:t>
            </a:r>
          </a:p>
        </p:txBody>
      </p:sp>
      <p:sp>
        <p:nvSpPr>
          <p:cNvPr id="6" name="Rectangle 5"/>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Tree>
    <p:extLst>
      <p:ext uri="{BB962C8B-B14F-4D97-AF65-F5344CB8AC3E}">
        <p14:creationId xmlns:p14="http://schemas.microsoft.com/office/powerpoint/2010/main" val="3974102273"/>
      </p:ext>
    </p:extLst>
  </p:cSld>
  <p:clrMapOvr>
    <a:masterClrMapping/>
  </p:clrMapOvr>
  <p:transition spd="slow">
    <p:wheel spokes="1"/>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395537" y="1268760"/>
            <a:ext cx="6764030" cy="4031873"/>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رعایت نوبت</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 مشارکت،ابراز احساسات، همکاری،تماس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چشمی، آغاز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مکالمه، با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جرات بودن،عذر خواهی کردن،سؤال کردن، در مورد خود به دیگران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گفتن،منصفانه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بازی کردن،بی اعتنایی در صورت لزوم،سؤال در مورد علاقه و خواست دیگران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گوش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دان به دیگران کمک گرفتن از دیگران،قوانین بازی را رعایت کردن،رد کردن تقاضای دیگر دوستان برای انجام رفتار های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نامناسب مختصر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حرف زدن</a:t>
            </a: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    </a:t>
            </a: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3" name="Rectangle 2"/>
          <p:cNvSpPr/>
          <p:nvPr/>
        </p:nvSpPr>
        <p:spPr>
          <a:xfrm>
            <a:off x="981273" y="404664"/>
            <a:ext cx="6178294" cy="604781"/>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نمونه هایی از رفتارهای اجتماعی مثبت</a:t>
            </a:r>
          </a:p>
        </p:txBody>
      </p:sp>
      <p:sp>
        <p:nvSpPr>
          <p:cNvPr id="6" name="Rectangle 5"/>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Tree>
    <p:extLst>
      <p:ext uri="{BB962C8B-B14F-4D97-AF65-F5344CB8AC3E}">
        <p14:creationId xmlns:p14="http://schemas.microsoft.com/office/powerpoint/2010/main" val="3533670812"/>
      </p:ext>
    </p:extLst>
  </p:cSld>
  <p:clrMapOvr>
    <a:masterClrMapping/>
  </p:clrMapOvr>
  <p:transition spd="slow">
    <p:wheel spokes="1"/>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323528" y="1052736"/>
            <a:ext cx="6948264" cy="6555641"/>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1" i="0" u="none" strike="noStrike" kern="1200" cap="none" spc="0" normalizeH="0" baseline="0" noProof="0" dirty="0">
                <a:ln w="12700">
                  <a:solidFill>
                    <a:srgbClr val="DFDCB7">
                      <a:satMod val="155000"/>
                    </a:srgbClr>
                  </a:solidFill>
                  <a:prstDash val="solid"/>
                </a:ln>
                <a:solidFill>
                  <a:srgbClr val="675E47">
                    <a:tint val="85000"/>
                    <a:satMod val="155000"/>
                  </a:srgbClr>
                </a:solidFill>
                <a:effectLst>
                  <a:outerShdw blurRad="41275" dist="20320" dir="1800000" algn="tl" rotWithShape="0">
                    <a:srgbClr val="000000">
                      <a:alpha val="40000"/>
                    </a:srgbClr>
                  </a:outerShdw>
                </a:effectLst>
                <a:uLnTx/>
                <a:uFillTx/>
                <a:latin typeface="Rockwell"/>
                <a:ea typeface="+mn-ea"/>
                <a:cs typeface="B Kamran" pitchFamily="2" charset="-78"/>
              </a:rPr>
              <a:t>مرحله </a:t>
            </a:r>
            <a:r>
              <a:rPr kumimoji="0" lang="fa-IR" sz="2800" b="1" i="0" u="none" strike="noStrike" kern="1200" cap="none" spc="0" normalizeH="0" baseline="0" noProof="0" dirty="0" smtClean="0">
                <a:ln w="12700">
                  <a:solidFill>
                    <a:srgbClr val="DFDCB7">
                      <a:satMod val="155000"/>
                    </a:srgbClr>
                  </a:solidFill>
                  <a:prstDash val="solid"/>
                </a:ln>
                <a:solidFill>
                  <a:srgbClr val="675E47">
                    <a:tint val="85000"/>
                    <a:satMod val="155000"/>
                  </a:srgbClr>
                </a:solidFill>
                <a:effectLst>
                  <a:outerShdw blurRad="41275" dist="20320" dir="1800000" algn="tl" rotWithShape="0">
                    <a:srgbClr val="000000">
                      <a:alpha val="40000"/>
                    </a:srgbClr>
                  </a:outerShdw>
                </a:effectLst>
                <a:uLnTx/>
                <a:uFillTx/>
                <a:latin typeface="Rockwell"/>
                <a:ea typeface="+mn-ea"/>
                <a:cs typeface="B Kamran" pitchFamily="2" charset="-78"/>
              </a:rPr>
              <a:t>1:</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تعیین </a:t>
            </a: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رفتارهای مطلوب و نامطلوب اجتماعی است. البته قبل از آن ابتدا برای تصمیم گیری در مورد اینکه کدام رفتارها رابا فرزندمان  تمرین کنیم، باید ابتدا چندین روز به مشاهده رفتار های فرزندمان در محیط های با ساختار کم و زیاد بپردازیم. </a:t>
            </a:r>
            <a:endPar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1" i="0" u="none" strike="noStrike" kern="1200" cap="none" spc="0" normalizeH="0" baseline="0" noProof="0" dirty="0">
                <a:ln w="12700">
                  <a:solidFill>
                    <a:srgbClr val="DFDCB7">
                      <a:satMod val="155000"/>
                    </a:srgbClr>
                  </a:solidFill>
                  <a:prstDash val="solid"/>
                </a:ln>
                <a:solidFill>
                  <a:srgbClr val="675E47">
                    <a:tint val="85000"/>
                    <a:satMod val="155000"/>
                  </a:srgbClr>
                </a:solidFill>
                <a:effectLst>
                  <a:outerShdw blurRad="41275" dist="20320" dir="1800000" algn="tl" rotWithShape="0">
                    <a:srgbClr val="000000">
                      <a:alpha val="40000"/>
                    </a:srgbClr>
                  </a:outerShdw>
                </a:effectLst>
                <a:uLnTx/>
                <a:uFillTx/>
                <a:latin typeface="Rockwell"/>
                <a:ea typeface="+mn-ea"/>
                <a:cs typeface="B Kamran" pitchFamily="2" charset="-78"/>
              </a:rPr>
              <a:t>مرحله 2:</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به فرزندتان کمک کنید تا </a:t>
            </a: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مشکلات </a:t>
            </a: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رفتاری اجتماعی را بفهمد ورفتار های اجتماعی هدف را برگزیند.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در باره مشکلات رفتاری اجتماعی فرزندتان با او صحبت کنید.</a:t>
            </a: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لیست رفتارهای اجتماعی مثبت را همراه با فرزندتان مرور کنید. در باره نتیجه مشاهداتتان از رفتارهای کودک با او صحبت کنید.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با همراهی کودک رفتار های اجتماعی هدف را انتخاب کنید.</a:t>
            </a: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3" name="Rectangle 2"/>
          <p:cNvSpPr/>
          <p:nvPr/>
        </p:nvSpPr>
        <p:spPr>
          <a:xfrm>
            <a:off x="1561574" y="260648"/>
            <a:ext cx="5710218" cy="604781"/>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مراحل آموزش  رفتار های اجتماعی </a:t>
            </a:r>
          </a:p>
        </p:txBody>
      </p:sp>
      <p:sp>
        <p:nvSpPr>
          <p:cNvPr id="6" name="Rectangle 5"/>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Tree>
    <p:extLst>
      <p:ext uri="{BB962C8B-B14F-4D97-AF65-F5344CB8AC3E}">
        <p14:creationId xmlns:p14="http://schemas.microsoft.com/office/powerpoint/2010/main" val="2886218867"/>
      </p:ext>
    </p:extLst>
  </p:cSld>
  <p:clrMapOvr>
    <a:masterClrMapping/>
  </p:clrMapOvr>
  <p:transition spd="slow">
    <p:wheel spokes="1"/>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323528" y="1052736"/>
            <a:ext cx="6948264" cy="5262979"/>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1" i="0" u="none" strike="noStrike" kern="1200" cap="none" spc="0" normalizeH="0" baseline="0" noProof="0" dirty="0" smtClean="0">
                <a:ln w="12700">
                  <a:solidFill>
                    <a:srgbClr val="DFDCB7">
                      <a:satMod val="155000"/>
                    </a:srgbClr>
                  </a:solidFill>
                  <a:prstDash val="solid"/>
                </a:ln>
                <a:solidFill>
                  <a:srgbClr val="675E47">
                    <a:tint val="85000"/>
                    <a:satMod val="155000"/>
                  </a:srgbClr>
                </a:solidFill>
                <a:effectLst>
                  <a:outerShdw blurRad="41275" dist="20320" dir="1800000" algn="tl" rotWithShape="0">
                    <a:srgbClr val="000000">
                      <a:alpha val="40000"/>
                    </a:srgbClr>
                  </a:outerShdw>
                </a:effectLst>
                <a:uLnTx/>
                <a:uFillTx/>
                <a:latin typeface="Rockwell"/>
                <a:ea typeface="+mn-ea"/>
                <a:cs typeface="B Kamran" pitchFamily="2" charset="-78"/>
              </a:rPr>
              <a:t>مرحله </a:t>
            </a:r>
            <a:r>
              <a:rPr kumimoji="0" lang="fa-IR" sz="2800" b="1" i="0" u="none" strike="noStrike" kern="1200" cap="none" spc="0" normalizeH="0" baseline="0" noProof="0" dirty="0">
                <a:ln w="12700">
                  <a:solidFill>
                    <a:srgbClr val="DFDCB7">
                      <a:satMod val="155000"/>
                    </a:srgbClr>
                  </a:solidFill>
                  <a:prstDash val="solid"/>
                </a:ln>
                <a:solidFill>
                  <a:srgbClr val="675E47">
                    <a:tint val="85000"/>
                    <a:satMod val="155000"/>
                  </a:srgbClr>
                </a:solidFill>
                <a:effectLst>
                  <a:outerShdw blurRad="41275" dist="20320" dir="1800000" algn="tl" rotWithShape="0">
                    <a:srgbClr val="000000">
                      <a:alpha val="40000"/>
                    </a:srgbClr>
                  </a:outerShdw>
                </a:effectLst>
                <a:uLnTx/>
                <a:uFillTx/>
                <a:latin typeface="Rockwell"/>
                <a:ea typeface="+mn-ea"/>
                <a:cs typeface="B Kamran" pitchFamily="2" charset="-78"/>
              </a:rPr>
              <a:t>3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مهارت های اجتماعی </a:t>
            </a: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هدف </a:t>
            </a: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را برای فرزندتان توضیح دهید.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سپس عملا برایش نمایش دهید.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سپس سعی کنید از ایفای نقش استفاده کنید. مثال: دادن یا ندادن اسباب </a:t>
            </a: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بازی به </a:t>
            </a: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دیگران</a:t>
            </a: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1" i="0" u="none" strike="noStrike" kern="1200" cap="none" spc="0" normalizeH="0" baseline="0" noProof="0" dirty="0">
                <a:ln w="12700">
                  <a:solidFill>
                    <a:srgbClr val="DFDCB7">
                      <a:satMod val="155000"/>
                    </a:srgbClr>
                  </a:solidFill>
                  <a:prstDash val="solid"/>
                </a:ln>
                <a:solidFill>
                  <a:srgbClr val="675E47">
                    <a:tint val="85000"/>
                    <a:satMod val="155000"/>
                  </a:srgbClr>
                </a:solidFill>
                <a:effectLst>
                  <a:outerShdw blurRad="41275" dist="20320" dir="1800000" algn="tl" rotWithShape="0">
                    <a:srgbClr val="000000">
                      <a:alpha val="40000"/>
                    </a:srgbClr>
                  </a:outerShdw>
                </a:effectLst>
                <a:uLnTx/>
                <a:uFillTx/>
                <a:latin typeface="Rockwell"/>
                <a:ea typeface="+mn-ea"/>
                <a:cs typeface="B Kamran" pitchFamily="2" charset="-78"/>
              </a:rPr>
              <a:t>مرحله 4: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رفتارهای اجتماعی مطلوب را در موقعیت </a:t>
            </a: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های واقعی </a:t>
            </a: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زندگی تشویق کنید. قبل از وارد شدن به یک موقعیت اجتماعی در باره نحوه ی به کارگیری مهارت های اجتماعی آموخته شده </a:t>
            </a:r>
            <a:r>
              <a:rPr kumimoji="0" lang="fa-IR" sz="28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 فرزندتان </a:t>
            </a:r>
            <a:r>
              <a:rPr kumimoji="0" lang="fa-IR"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را راهنمایی کنید.</a:t>
            </a: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5" name="Rectangle 4"/>
          <p:cNvSpPr/>
          <p:nvPr/>
        </p:nvSpPr>
        <p:spPr>
          <a:xfrm>
            <a:off x="1561574" y="260648"/>
            <a:ext cx="5710218" cy="604781"/>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مراحل آموزش  رفتار های اجتماعی </a:t>
            </a:r>
          </a:p>
        </p:txBody>
      </p:sp>
      <p:sp>
        <p:nvSpPr>
          <p:cNvPr id="7" name="Rectangle 6"/>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Tree>
    <p:extLst>
      <p:ext uri="{BB962C8B-B14F-4D97-AF65-F5344CB8AC3E}">
        <p14:creationId xmlns:p14="http://schemas.microsoft.com/office/powerpoint/2010/main" val="2592913361"/>
      </p:ext>
    </p:extLst>
  </p:cSld>
  <p:clrMapOvr>
    <a:masterClrMapping/>
  </p:clrMapOvr>
  <p:transition spd="slow">
    <p:wheel spokes="1"/>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395536" y="1196752"/>
            <a:ext cx="6876256" cy="4154984"/>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رفتارهایی نظیر: مصرف مواد،روابط جنسی،فرار از مدرسه،تخریب اموال </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عمومی، ارتکاب </a:t>
            </a: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جرم و... با تأثیر منفی دوستان رابطه دارد. به همین دلیل آموزش مهارت نه گفتن برای فرزندان بسیار اهمیت دارد.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اگر با شما همکاری نکرد باید ابتدا به تعامل مثبت فکر کنید یا به قوانین فکر کنید</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گام اول: اهمیت نه گفتن و قاطعیت را برای کودک خود با مثال توضیح دهید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گام دوم: مصادیق و موارد قاطعیت را بیان کیند (رد قاطعانه، بیان قاطعانه، دریافت قاطعانه)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گام سوم: مراحل قاطعیت را تشریح کنید (همدلی، بیان دلیل، بیان موضع، همکاری. در صورت لزوم قاطعیت پیش رونده)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گام چهارم: در محیط منزل و مکان ها امن به ایفای نقش بپردازید و تقویت کنید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گام پنجم: مهارت را به موقعیت های واقعی گسترش دهید و پاداش دهید.</a:t>
            </a: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3" name="Rectangle 2"/>
          <p:cNvSpPr/>
          <p:nvPr/>
        </p:nvSpPr>
        <p:spPr>
          <a:xfrm>
            <a:off x="3392633" y="404664"/>
            <a:ext cx="3853940" cy="604781"/>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آموزش  مهارت نه گفتن</a:t>
            </a:r>
          </a:p>
        </p:txBody>
      </p:sp>
      <p:sp>
        <p:nvSpPr>
          <p:cNvPr id="6" name="Rectangle 5"/>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Tree>
    <p:extLst>
      <p:ext uri="{BB962C8B-B14F-4D97-AF65-F5344CB8AC3E}">
        <p14:creationId xmlns:p14="http://schemas.microsoft.com/office/powerpoint/2010/main" val="318887238"/>
      </p:ext>
    </p:extLst>
  </p:cSld>
  <p:clrMapOvr>
    <a:masterClrMapping/>
  </p:clrMapOvr>
  <p:transition spd="slow">
    <p:wheel spokes="1"/>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Rectangle 1"/>
          <p:cNvSpPr/>
          <p:nvPr/>
        </p:nvSpPr>
        <p:spPr>
          <a:xfrm>
            <a:off x="251520" y="1124744"/>
            <a:ext cx="7049493" cy="5509200"/>
          </a:xfrm>
          <a:prstGeom prst="rect">
            <a:avLst/>
          </a:prstGeom>
        </p:spPr>
        <p:txBody>
          <a:bodyPr wrap="square">
            <a:spAutoFit/>
          </a:bodyPr>
          <a:lstStyle/>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رفتار اجتماعی رابه خواهر/ برادر ها یاد دهید.</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برای تمرین مهارت های اجتماعی موقعیت های خاصی را فراهم کنید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و در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آنها فرزندتان را برای انجام رفتارهای مثبت اجتماعی تشویق کنید.</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فرزندتان را در گروههای ویژه ثبت نام کنید.</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همسالان امدادگر را پیدا کنید: تشکیل گروههای امدادگر</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با مسئولین مدرسه همکاری کنید.</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با سایر والدین همکاری کنید.</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صبور باشید: چون آموزش مهارت ها نیاز به صرف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وقت، حوصله،تکرار </a:t>
            </a: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و تمرین دارد.</a:t>
            </a: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3" name="Rectangle 2"/>
          <p:cNvSpPr/>
          <p:nvPr/>
        </p:nvSpPr>
        <p:spPr>
          <a:xfrm>
            <a:off x="438237" y="332656"/>
            <a:ext cx="6862776" cy="604781"/>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سایر نکات مربوط به آموزش رفتار اجتماعی</a:t>
            </a:r>
          </a:p>
        </p:txBody>
      </p:sp>
      <p:sp>
        <p:nvSpPr>
          <p:cNvPr id="6" name="Rectangle 5"/>
          <p:cNvSpPr/>
          <p:nvPr/>
        </p:nvSpPr>
        <p:spPr>
          <a:xfrm rot="16200000">
            <a:off x="5286470" y="2867097"/>
            <a:ext cx="6187912" cy="83099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8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اجتماعی کودکان</a:t>
            </a:r>
          </a:p>
        </p:txBody>
      </p:sp>
    </p:spTree>
    <p:extLst>
      <p:ext uri="{BB962C8B-B14F-4D97-AF65-F5344CB8AC3E}">
        <p14:creationId xmlns:p14="http://schemas.microsoft.com/office/powerpoint/2010/main" val="2806379834"/>
      </p:ext>
    </p:extLst>
  </p:cSld>
  <p:clrMapOvr>
    <a:masterClrMapping/>
  </p:clrMapOvr>
  <p:transition spd="slow">
    <p:wheel spokes="1"/>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3000" b="-23000"/>
          </a:stretch>
        </a:blipFill>
        <a:effectLst/>
      </p:bgPr>
    </p:bg>
    <p:spTree>
      <p:nvGrpSpPr>
        <p:cNvPr id="1" name=""/>
        <p:cNvGrpSpPr/>
        <p:nvPr/>
      </p:nvGrpSpPr>
      <p:grpSpPr>
        <a:xfrm>
          <a:off x="0" y="0"/>
          <a:ext cx="0" cy="0"/>
          <a:chOff x="0" y="0"/>
          <a:chExt cx="0" cy="0"/>
        </a:xfrm>
      </p:grpSpPr>
      <p:sp>
        <p:nvSpPr>
          <p:cNvPr id="3" name="Rectangle 2"/>
          <p:cNvSpPr/>
          <p:nvPr/>
        </p:nvSpPr>
        <p:spPr>
          <a:xfrm>
            <a:off x="467544" y="404664"/>
            <a:ext cx="7020272" cy="1089529"/>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مراحل آموزش حل مساله به کودکان</a:t>
            </a: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endParaRPr>
          </a:p>
          <a:p>
            <a:pPr marL="0" marR="0" lvl="0" indent="0" algn="r" defTabSz="914400" rtl="1" eaLnBrk="1" fontAlgn="auto" latinLnBrk="0" hangingPunct="1">
              <a:lnSpc>
                <a:spcPct val="90000"/>
              </a:lnSpc>
              <a:spcBef>
                <a:spcPts val="0"/>
              </a:spcBef>
              <a:spcAft>
                <a:spcPts val="0"/>
              </a:spcAft>
              <a:buClrTx/>
              <a:buSzTx/>
              <a:buFontTx/>
              <a:buNone/>
              <a:tabLst/>
              <a:defRPr/>
            </a:pP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endParaRPr>
          </a:p>
        </p:txBody>
      </p:sp>
      <p:sp>
        <p:nvSpPr>
          <p:cNvPr id="2" name="Rectangle 1"/>
          <p:cNvSpPr/>
          <p:nvPr/>
        </p:nvSpPr>
        <p:spPr>
          <a:xfrm>
            <a:off x="179512" y="1052736"/>
            <a:ext cx="7164288" cy="6001643"/>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اول : آموزش مراحل مسئله گشایی:</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1-طرح مشکل بدون سرزنش،یا مقصر ساختن </a:t>
            </a: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یکدیگر</a:t>
            </a:r>
            <a:endPar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2- پیدا کردن تمامی راه حل های ممکن</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3- انتخاب بهترین و ناسب ترین  راه حل</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4- اجرای راه حل </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5- ارزیابی نتایج </a:t>
            </a:r>
            <a:endPar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مرحله2:</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تمرین  مهارت ها در خانه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3:</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استفاده از مهارت در مو قعیت های واقعی زندگی</a:t>
            </a: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4" name="Rectangle 3"/>
          <p:cNvSpPr/>
          <p:nvPr/>
        </p:nvSpPr>
        <p:spPr>
          <a:xfrm rot="16200000">
            <a:off x="5364963" y="2982123"/>
            <a:ext cx="5952270" cy="769441"/>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4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حل مسأله کودکان</a:t>
            </a:r>
          </a:p>
        </p:txBody>
      </p:sp>
      <p:sp>
        <p:nvSpPr>
          <p:cNvPr id="5" name="Rectangle 4">
            <a:hlinkClick r:id="rId3" action="ppaction://hlinkfile"/>
          </p:cNvPr>
          <p:cNvSpPr/>
          <p:nvPr/>
        </p:nvSpPr>
        <p:spPr>
          <a:xfrm>
            <a:off x="323528" y="5301208"/>
            <a:ext cx="2079415" cy="584775"/>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solidFill>
                  <a:srgbClr val="FFFFFF"/>
                </a:solidFill>
                <a:effectLst/>
                <a:uLnTx/>
                <a:uFillTx/>
                <a:latin typeface="Calibri"/>
                <a:ea typeface="+mn-ea"/>
                <a:cs typeface="B Nazanin" pitchFamily="2" charset="-78"/>
              </a:rPr>
              <a:t>پخش کاربرگ</a:t>
            </a:r>
            <a:endParaRPr kumimoji="0" lang="fa-IR" sz="3200" b="0" i="0" u="none" strike="noStrike" kern="0" cap="none" spc="0" normalizeH="0" baseline="0" noProof="0" dirty="0" smtClean="0">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452722538"/>
      </p:ext>
    </p:extLst>
  </p:cSld>
  <p:clrMapOvr>
    <a:masterClrMapping/>
  </p:clrMapOvr>
  <p:transition spd="slow">
    <p:wheel spokes="1"/>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 name="Rectangle 2"/>
          <p:cNvSpPr/>
          <p:nvPr/>
        </p:nvSpPr>
        <p:spPr>
          <a:xfrm>
            <a:off x="467544" y="404664"/>
            <a:ext cx="7020272" cy="1089529"/>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مراحل آموزش </a:t>
            </a:r>
            <a:r>
              <a:rPr kumimoji="0" lang="fa-IR" sz="3600" b="0" i="0" u="none" strike="noStrike" kern="1200" cap="none" spc="0" normalizeH="0" baseline="0" noProof="0" dirty="0" smtClean="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مهارت تغییر افکار به </a:t>
            </a: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کودکان</a:t>
            </a: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endParaRPr>
          </a:p>
          <a:p>
            <a:pPr marL="0" marR="0" lvl="0" indent="0" algn="r" defTabSz="914400" rtl="1" eaLnBrk="1" fontAlgn="auto" latinLnBrk="0" hangingPunct="1">
              <a:lnSpc>
                <a:spcPct val="90000"/>
              </a:lnSpc>
              <a:spcBef>
                <a:spcPts val="0"/>
              </a:spcBef>
              <a:spcAft>
                <a:spcPts val="0"/>
              </a:spcAft>
              <a:buClrTx/>
              <a:buSzTx/>
              <a:buFontTx/>
              <a:buNone/>
              <a:tabLst/>
              <a:defRPr/>
            </a:pP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endParaRPr>
          </a:p>
        </p:txBody>
      </p:sp>
      <p:sp>
        <p:nvSpPr>
          <p:cNvPr id="2" name="Rectangle 1"/>
          <p:cNvSpPr/>
          <p:nvPr/>
        </p:nvSpPr>
        <p:spPr>
          <a:xfrm>
            <a:off x="179512" y="1052736"/>
            <a:ext cx="7164288" cy="5509200"/>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اول : </a:t>
            </a:r>
            <a:endPar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457200" marR="0" lvl="0" indent="-457200" algn="just"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بررسی کنید آیا فرزندان آمادگی دارد یا خیر</a:t>
            </a:r>
            <a:endPar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مرحله2:</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افکار مثبت و منفی را به او آموزش دهید</a:t>
            </a:r>
            <a:endPar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3:</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برای استفاده از افکار مثبت برای فرزندتان الگو باشید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۴:</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از آموزش ها و الگوهای رسمی استفاده کنید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۵:</a:t>
            </a: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r>
              <a:rPr kumimoji="0" lang="fa-IR" sz="32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از آموزش ها و الگوهای غیررسمی استفاده کنید</a:t>
            </a: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457200" marR="0" lvl="0" indent="-457200" algn="just" defTabSz="914400" rtl="1" eaLnBrk="1" fontAlgn="auto" latinLnBrk="0" hangingPunct="1">
              <a:lnSpc>
                <a:spcPct val="100000"/>
              </a:lnSpc>
              <a:spcBef>
                <a:spcPts val="0"/>
              </a:spcBef>
              <a:spcAft>
                <a:spcPts val="0"/>
              </a:spcAft>
              <a:buClrTx/>
              <a:buSzTx/>
              <a:buFont typeface="Arial" pitchFamily="34" charset="0"/>
              <a:buChar char="•"/>
              <a:tabLst/>
              <a:defRPr/>
            </a:pPr>
            <a:endParaRPr kumimoji="0" lang="en-US" sz="32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4" name="Rectangle 3"/>
          <p:cNvSpPr/>
          <p:nvPr/>
        </p:nvSpPr>
        <p:spPr>
          <a:xfrm rot="16200000">
            <a:off x="6066279" y="2982123"/>
            <a:ext cx="4549643" cy="769441"/>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400" b="1" i="0" u="none" strike="noStrike" kern="1200" cap="none" spc="0" normalizeH="0" baseline="0" noProof="0" dirty="0">
                <a:ln>
                  <a:noFill/>
                </a:ln>
                <a:solidFill>
                  <a:srgbClr val="2F2B20"/>
                </a:solidFill>
                <a:effectLst/>
                <a:uLnTx/>
                <a:uFillTx/>
                <a:latin typeface="Rockwell"/>
                <a:ea typeface="+mn-ea"/>
                <a:cs typeface="B Nazanin" pitchFamily="2" charset="-78"/>
              </a:rPr>
              <a:t>مهارت های </a:t>
            </a:r>
            <a:r>
              <a:rPr kumimoji="0" lang="fa-IR" sz="4400" b="1" i="0" u="none" strike="noStrike" kern="1200" cap="none" spc="0" normalizeH="0" baseline="0" noProof="0" dirty="0" smtClean="0">
                <a:ln>
                  <a:noFill/>
                </a:ln>
                <a:solidFill>
                  <a:srgbClr val="2F2B20"/>
                </a:solidFill>
                <a:effectLst/>
                <a:uLnTx/>
                <a:uFillTx/>
                <a:latin typeface="Rockwell"/>
                <a:ea typeface="+mn-ea"/>
                <a:cs typeface="B Nazanin" pitchFamily="2" charset="-78"/>
              </a:rPr>
              <a:t>تغییر افکار</a:t>
            </a:r>
            <a:endParaRPr kumimoji="0" lang="fa-IR" sz="4400" b="1" i="0" u="none" strike="noStrike" kern="1200" cap="none" spc="0" normalizeH="0" baseline="0" noProof="0" dirty="0">
              <a:ln>
                <a:noFill/>
              </a:ln>
              <a:solidFill>
                <a:srgbClr val="2F2B20"/>
              </a:solidFill>
              <a:effectLst/>
              <a:uLnTx/>
              <a:uFillTx/>
              <a:latin typeface="Rockwell"/>
              <a:ea typeface="+mn-ea"/>
              <a:cs typeface="B Nazanin" pitchFamily="2" charset="-78"/>
            </a:endParaRPr>
          </a:p>
        </p:txBody>
      </p:sp>
      <p:sp>
        <p:nvSpPr>
          <p:cNvPr id="5" name="Rectangle 4">
            <a:hlinkClick r:id="rId3" action="ppaction://hlinkfile"/>
          </p:cNvPr>
          <p:cNvSpPr/>
          <p:nvPr/>
        </p:nvSpPr>
        <p:spPr>
          <a:xfrm>
            <a:off x="160093" y="5877272"/>
            <a:ext cx="2079415" cy="584775"/>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solidFill>
                  <a:srgbClr val="FFFFFF"/>
                </a:solidFill>
                <a:effectLst/>
                <a:uLnTx/>
                <a:uFillTx/>
                <a:latin typeface="Calibri"/>
                <a:ea typeface="+mn-ea"/>
                <a:cs typeface="B Nazanin" pitchFamily="2" charset="-78"/>
              </a:rPr>
              <a:t>پخش کاربرگ</a:t>
            </a:r>
            <a:endParaRPr kumimoji="0" lang="fa-IR" sz="3200" b="0" i="0" u="none" strike="noStrike" kern="0" cap="none" spc="0" normalizeH="0" baseline="0" noProof="0" dirty="0" smtClean="0">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280995209"/>
      </p:ext>
    </p:extLst>
  </p:cSld>
  <p:clrMapOvr>
    <a:masterClrMapping/>
  </p:clrMapOvr>
  <p:transition spd="slow">
    <p:wheel spokes="1"/>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2" name="Rectangle 1"/>
          <p:cNvSpPr/>
          <p:nvPr/>
        </p:nvSpPr>
        <p:spPr>
          <a:xfrm>
            <a:off x="251520" y="945456"/>
            <a:ext cx="7092280" cy="5632311"/>
          </a:xfrm>
          <a:prstGeom prst="rect">
            <a:avLst/>
          </a:prstGeom>
        </p:spPr>
        <p:txBody>
          <a:bodyPr wrap="square">
            <a:spAutoFit/>
          </a:bodyPr>
          <a:lstStyle/>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اگر کودک شما در موقعیت های مختلف مثل خانه،مدرسه، محیط دوستان و... دچار </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عصبانیت، استرس و غم </a:t>
            </a: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می شود،باید کنترل </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هیجانات </a:t>
            </a: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را به او آموزش دهید. ولی اگر در محدوده خانه </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است نافرمانی </a:t>
            </a: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تلقی می شود.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1:</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مشخص کنید که آیا فرزند شما آماده یادگیری نحوه ی مقابله با </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هیجانات منفی </a:t>
            </a: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می باشد یا نه؟</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2</a:t>
            </a:r>
            <a:r>
              <a:rPr kumimoji="0" lang="fa-IR" sz="2400" b="0" i="0" u="none" strike="noStrike" kern="1200" cap="none" spc="0" normalizeH="0" baseline="0" noProof="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a:t>
            </a:r>
            <a:endPar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خودآگاهی هیجانی را آموزش دهید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3:</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با کمک همدیگر مجموعه روش های </a:t>
            </a:r>
            <a:r>
              <a:rPr kumimoji="0" lang="fa-IR" sz="2400" b="0" i="0" u="none" strike="noStrike" kern="1200" cap="none" spc="0" normalizeH="0" baseline="0" noProof="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کاهش </a:t>
            </a:r>
            <a:r>
              <a:rPr kumimoji="0" lang="fa-IR" sz="2400" b="0" i="0" u="none" strike="noStrike" kern="1200" cap="none" spc="0" normalizeH="0" baseline="0" noProof="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هیجانات منفی را </a:t>
            </a: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یادداشت کنید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4:</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روش ها را تمرین کنید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مرحله 5:</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rPr>
              <a:t>روش ها را در موقعیت های واقعی عملی کنید و تحسین نمائید</a:t>
            </a:r>
            <a:endParaRPr kumimoji="0" lang="en-US"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fa-IR" sz="2400" b="0" i="0" u="none" strike="noStrike" kern="1200" cap="none" spc="0" normalizeH="0" baseline="0" noProof="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uLnTx/>
              <a:uFillTx/>
              <a:latin typeface="Rockwell"/>
              <a:ea typeface="+mn-ea"/>
              <a:cs typeface="B Kamran" pitchFamily="2" charset="-78"/>
            </a:endParaRPr>
          </a:p>
        </p:txBody>
      </p:sp>
      <p:sp>
        <p:nvSpPr>
          <p:cNvPr id="6" name="Rectangle 5"/>
          <p:cNvSpPr/>
          <p:nvPr/>
        </p:nvSpPr>
        <p:spPr>
          <a:xfrm>
            <a:off x="435270" y="188640"/>
            <a:ext cx="7020272" cy="1089529"/>
          </a:xfrm>
          <a:prstGeom prst="rect">
            <a:avLst/>
          </a:prstGeom>
        </p:spPr>
        <p:txBody>
          <a:bodyPr wrap="square">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مراحل آموزش </a:t>
            </a:r>
            <a:r>
              <a:rPr kumimoji="0" lang="fa-IR" sz="3600" b="0" i="0" u="none" strike="noStrike" kern="1200" cap="none" spc="0" normalizeH="0" baseline="0" noProof="0" dirty="0" smtClean="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مقابله با هیجانات منفی به </a:t>
            </a:r>
            <a:r>
              <a:rPr kumimoji="0" lang="fa-IR"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rPr>
              <a:t>کودکان</a:t>
            </a: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endParaRPr>
          </a:p>
          <a:p>
            <a:pPr marL="0" marR="0" lvl="0" indent="0" algn="r" defTabSz="914400" rtl="1" eaLnBrk="1" fontAlgn="auto" latinLnBrk="0" hangingPunct="1">
              <a:lnSpc>
                <a:spcPct val="90000"/>
              </a:lnSpc>
              <a:spcBef>
                <a:spcPts val="0"/>
              </a:spcBef>
              <a:spcAft>
                <a:spcPts val="0"/>
              </a:spcAft>
              <a:buClrTx/>
              <a:buSzTx/>
              <a:buFontTx/>
              <a:buNone/>
              <a:tabLst/>
              <a:defRPr/>
            </a:pPr>
            <a:endParaRPr kumimoji="0" lang="en-US" sz="3600" b="0" i="0" u="none" strike="noStrike" kern="1200" cap="none" spc="0" normalizeH="0" baseline="0" noProof="0" dirty="0">
              <a:ln w="18415" cmpd="sng">
                <a:solidFill>
                  <a:srgbClr val="FFFFFF"/>
                </a:solidFill>
                <a:prstDash val="solid"/>
              </a:ln>
              <a:solidFill>
                <a:srgbClr val="FFFFFF"/>
              </a:solidFill>
              <a:effectLst>
                <a:glow rad="101600">
                  <a:srgbClr val="C89F5D">
                    <a:satMod val="175000"/>
                    <a:alpha val="40000"/>
                  </a:srgbClr>
                </a:glow>
                <a:outerShdw blurRad="63500" dir="3600000" algn="tl" rotWithShape="0">
                  <a:srgbClr val="000000">
                    <a:alpha val="70000"/>
                  </a:srgbClr>
                </a:outerShdw>
              </a:effectLst>
              <a:uLnTx/>
              <a:uFillTx/>
              <a:latin typeface="Rockwell"/>
              <a:ea typeface="+mn-ea"/>
              <a:cs typeface="B Nazanin" pitchFamily="2" charset="-78"/>
            </a:endParaRPr>
          </a:p>
        </p:txBody>
      </p:sp>
      <p:sp>
        <p:nvSpPr>
          <p:cNvPr id="3" name="Rectangle 2"/>
          <p:cNvSpPr/>
          <p:nvPr/>
        </p:nvSpPr>
        <p:spPr>
          <a:xfrm rot="16200000">
            <a:off x="5124383" y="3087513"/>
            <a:ext cx="6577443" cy="769441"/>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4400" b="1" i="0" u="none" strike="noStrike" kern="1200" cap="none" spc="0" normalizeH="0" baseline="0" noProof="0" dirty="0">
                <a:ln>
                  <a:noFill/>
                </a:ln>
                <a:solidFill>
                  <a:srgbClr val="2F2B20"/>
                </a:solidFill>
                <a:effectLst/>
                <a:uLnTx/>
                <a:uFillTx/>
                <a:latin typeface="Rockwell"/>
                <a:ea typeface="+mn-ea"/>
                <a:cs typeface="B Nazanin" pitchFamily="2" charset="-78"/>
              </a:rPr>
              <a:t>توانایی در مقابله با هیجانات منفی</a:t>
            </a:r>
          </a:p>
        </p:txBody>
      </p:sp>
      <p:sp>
        <p:nvSpPr>
          <p:cNvPr id="5" name="Rectangle 4">
            <a:hlinkClick r:id="rId3" action="ppaction://hlinkfile"/>
          </p:cNvPr>
          <p:cNvSpPr/>
          <p:nvPr/>
        </p:nvSpPr>
        <p:spPr>
          <a:xfrm>
            <a:off x="214450" y="5085184"/>
            <a:ext cx="2308645" cy="584775"/>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solidFill>
                  <a:prstClr val="black"/>
                </a:solidFill>
                <a:effectLst/>
                <a:uLnTx/>
                <a:uFillTx/>
                <a:latin typeface="Calibri"/>
                <a:ea typeface="+mn-ea"/>
                <a:cs typeface="B Nazanin" pitchFamily="2" charset="-78"/>
              </a:rPr>
              <a:t>پخش کاربرگ ۱</a:t>
            </a:r>
            <a:endParaRPr kumimoji="0" lang="fa-IR" sz="3200" b="0" i="0" u="none" strike="noStrike" kern="0" cap="none" spc="0" normalizeH="0" baseline="0" noProof="0" dirty="0" smtClean="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1037946431"/>
      </p:ext>
    </p:extLst>
  </p:cSld>
  <p:clrMapOvr>
    <a:masterClrMapping/>
  </p:clrMapOvr>
  <p:transition spd="slow">
    <p:wheel spokes="1"/>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Rectangle 1"/>
          <p:cNvSpPr/>
          <p:nvPr/>
        </p:nvSpPr>
        <p:spPr>
          <a:xfrm>
            <a:off x="499353" y="936106"/>
            <a:ext cx="4570483" cy="1200329"/>
          </a:xfrm>
          <a:prstGeom prst="rect">
            <a:avLst/>
          </a:prstGeom>
        </p:spPr>
        <p:txBody>
          <a:bodyPr wrap="none">
            <a:spAutoFit/>
          </a:bodyPr>
          <a:lstStyle/>
          <a:p>
            <a:r>
              <a:rPr lang="fa-IR" sz="7200" dirty="0" smtClean="0">
                <a:ln w="18415" cmpd="sng">
                  <a:solidFill>
                    <a:srgbClr val="FFFFFF"/>
                  </a:solidFill>
                  <a:prstDash val="solid"/>
                </a:ln>
                <a:solidFill>
                  <a:srgbClr val="FFFFFF"/>
                </a:solidFill>
                <a:effectLst>
                  <a:glow rad="228600">
                    <a:srgbClr val="C89F5D">
                      <a:satMod val="175000"/>
                      <a:alpha val="40000"/>
                    </a:srgbClr>
                  </a:glow>
                  <a:outerShdw blurRad="63500" dir="3600000" algn="tl" rotWithShape="0">
                    <a:srgbClr val="000000">
                      <a:alpha val="70000"/>
                    </a:srgbClr>
                  </a:outerShdw>
                </a:effectLst>
                <a:cs typeface="B Koodak" pitchFamily="2" charset="-78"/>
              </a:rPr>
              <a:t>تمرین گروهی</a:t>
            </a:r>
            <a:endParaRPr lang="fa-IR" sz="7200" dirty="0">
              <a:ln w="18415" cmpd="sng">
                <a:solidFill>
                  <a:srgbClr val="FFFFFF"/>
                </a:solidFill>
                <a:prstDash val="solid"/>
              </a:ln>
              <a:solidFill>
                <a:srgbClr val="FFFFFF"/>
              </a:solidFill>
              <a:effectLst>
                <a:glow rad="228600">
                  <a:srgbClr val="C89F5D">
                    <a:satMod val="175000"/>
                    <a:alpha val="40000"/>
                  </a:srgbClr>
                </a:glow>
                <a:outerShdw blurRad="63500" dir="3600000" algn="tl" rotWithShape="0">
                  <a:srgbClr val="000000">
                    <a:alpha val="70000"/>
                  </a:srgbClr>
                </a:outerShdw>
              </a:effectLst>
              <a:cs typeface="B Koodak" pitchFamily="2" charset="-78"/>
            </a:endParaRPr>
          </a:p>
        </p:txBody>
      </p:sp>
      <p:sp>
        <p:nvSpPr>
          <p:cNvPr id="4" name="Rectangle 3">
            <a:hlinkClick r:id="rId3" action="ppaction://hlinkfile"/>
          </p:cNvPr>
          <p:cNvSpPr/>
          <p:nvPr/>
        </p:nvSpPr>
        <p:spPr>
          <a:xfrm>
            <a:off x="513394" y="2443777"/>
            <a:ext cx="3491880" cy="2677656"/>
          </a:xfrm>
          <a:prstGeom prst="rect">
            <a:avLst/>
          </a:prstGeom>
        </p:spPr>
        <p:txBody>
          <a:bodyPr wrap="square">
            <a:spAutoFit/>
          </a:bodyPr>
          <a:lstStyle/>
          <a:p>
            <a:pPr>
              <a:defRPr/>
            </a:pPr>
            <a:r>
              <a:rPr lang="fa-IR" sz="2400" b="1" kern="0" dirty="0" smtClean="0">
                <a:solidFill>
                  <a:prstClr val="black"/>
                </a:solidFill>
                <a:cs typeface="B Nazanin" pitchFamily="2" charset="-78"/>
              </a:rPr>
              <a:t>برای یک مراجع موارد زیر را انجام دهید</a:t>
            </a:r>
          </a:p>
          <a:p>
            <a:pPr marL="457200" indent="-457200">
              <a:buAutoNum type="arabicPeriod"/>
              <a:defRPr/>
            </a:pPr>
            <a:r>
              <a:rPr lang="fa-IR" sz="2400" b="1" kern="0" dirty="0" smtClean="0">
                <a:solidFill>
                  <a:prstClr val="black"/>
                </a:solidFill>
                <a:cs typeface="B Nazanin" pitchFamily="2" charset="-78"/>
              </a:rPr>
              <a:t>نشانه های تشخیصی را شرح دهید</a:t>
            </a:r>
          </a:p>
          <a:p>
            <a:pPr marL="457200" indent="-457200">
              <a:buAutoNum type="arabicPeriod"/>
              <a:defRPr/>
            </a:pPr>
            <a:r>
              <a:rPr lang="fa-IR" sz="2400" b="1" kern="0" dirty="0" smtClean="0">
                <a:solidFill>
                  <a:prstClr val="black"/>
                </a:solidFill>
                <a:cs typeface="B Nazanin" pitchFamily="2" charset="-78"/>
              </a:rPr>
              <a:t>پروتکل درمانی را برای چند جلسه بصورت گام به گام تشریح کنید</a:t>
            </a:r>
            <a:endParaRPr lang="fa-IR" sz="2400" kern="0" dirty="0" smtClean="0">
              <a:solidFill>
                <a:sysClr val="windowText" lastClr="000000"/>
              </a:solidFill>
            </a:endParaRPr>
          </a:p>
        </p:txBody>
      </p:sp>
      <p:sp>
        <p:nvSpPr>
          <p:cNvPr id="5" name="Rectangle 4">
            <a:hlinkClick r:id="rId4" action="ppaction://hlinkfile"/>
          </p:cNvPr>
          <p:cNvSpPr/>
          <p:nvPr/>
        </p:nvSpPr>
        <p:spPr>
          <a:xfrm>
            <a:off x="499353" y="5428775"/>
            <a:ext cx="928460" cy="461665"/>
          </a:xfrm>
          <a:prstGeom prst="rect">
            <a:avLst/>
          </a:prstGeom>
        </p:spPr>
        <p:txBody>
          <a:bodyPr wrap="none">
            <a:spAutoFit/>
          </a:bodyPr>
          <a:lstStyle/>
          <a:p>
            <a:pPr>
              <a:defRPr/>
            </a:pPr>
            <a:r>
              <a:rPr lang="fa-IR" sz="2400" b="1" kern="0" dirty="0" smtClean="0">
                <a:solidFill>
                  <a:prstClr val="black"/>
                </a:solidFill>
                <a:cs typeface="B Nazanin" pitchFamily="2" charset="-78"/>
              </a:rPr>
              <a:t>موزیک</a:t>
            </a:r>
            <a:endParaRPr lang="fa-IR" sz="2400" kern="0" dirty="0" smtClean="0">
              <a:solidFill>
                <a:sysClr val="windowText" lastClr="000000"/>
              </a:solidFill>
            </a:endParaRPr>
          </a:p>
        </p:txBody>
      </p:sp>
    </p:spTree>
    <p:extLst>
      <p:ext uri="{BB962C8B-B14F-4D97-AF65-F5344CB8AC3E}">
        <p14:creationId xmlns:p14="http://schemas.microsoft.com/office/powerpoint/2010/main" val="1885930871"/>
      </p:ext>
    </p:extLst>
  </p:cSld>
  <p:clrMapOvr>
    <a:masterClrMapping/>
  </p:clrMapOvr>
  <p:transition spd="slow">
    <p:randomBar dir="vert"/>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79512" y="2498685"/>
            <a:ext cx="8635796" cy="2862322"/>
          </a:xfrm>
          <a:prstGeom prst="rect">
            <a:avLst/>
          </a:prstGeom>
        </p:spPr>
        <p:txBody>
          <a:bodyPr vert="horz" wrap="square" lIns="91440" tIns="45720" rIns="91440" bIns="45720" rtlCol="1" anchor="ctr">
            <a:spAutoFit/>
          </a:bodyPr>
          <a:lstStyle/>
          <a:p>
            <a:pPr>
              <a:spcBef>
                <a:spcPct val="0"/>
              </a:spcBef>
            </a:pP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دو درمان </a:t>
            </a:r>
            <a:r>
              <a:rPr lang="fa-IR" sz="3600" dirty="0" smtClean="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شایع برای اختلالات اضطرابی کودکان </a:t>
            </a: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براساس رویکرد </a:t>
            </a:r>
            <a:r>
              <a:rPr lang="fa-IR" sz="3600" dirty="0" smtClean="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شناختی-رفتاری</a:t>
            </a:r>
          </a:p>
          <a:p>
            <a:pPr>
              <a:spcBef>
                <a:spcPct val="0"/>
              </a:spcBef>
            </a:pPr>
            <a:endPar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endParaRPr>
          </a:p>
          <a:p>
            <a:pPr marL="571500" indent="-571500">
              <a:spcBef>
                <a:spcPct val="0"/>
              </a:spcBef>
              <a:buFont typeface="Wingdings" panose="05000000000000000000" pitchFamily="2" charset="2"/>
              <a:buChar char="v"/>
            </a:pP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برنامه گربه سازگار </a:t>
            </a:r>
            <a:r>
              <a:rPr lang="en-US"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coping cat </a:t>
            </a:r>
            <a:r>
              <a:rPr lang="en-US" sz="3600" dirty="0" smtClean="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program</a:t>
            </a:r>
            <a:endPar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endParaRPr>
          </a:p>
          <a:p>
            <a:pPr marL="571500" indent="-571500">
              <a:spcBef>
                <a:spcPct val="0"/>
              </a:spcBef>
              <a:buFont typeface="Wingdings" panose="05000000000000000000" pitchFamily="2" charset="2"/>
              <a:buChar char="v"/>
            </a:pP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برنامه دوستان برای زندگی </a:t>
            </a:r>
            <a:r>
              <a:rPr lang="en-US"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Friends foe </a:t>
            </a:r>
            <a:r>
              <a:rPr lang="en-US" sz="3600" dirty="0" smtClean="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life</a:t>
            </a:r>
            <a:endPar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endParaRPr>
          </a:p>
        </p:txBody>
      </p:sp>
    </p:spTree>
    <p:extLst>
      <p:ext uri="{BB962C8B-B14F-4D97-AF65-F5344CB8AC3E}">
        <p14:creationId xmlns:p14="http://schemas.microsoft.com/office/powerpoint/2010/main" val="30926024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57382" y="2492896"/>
            <a:ext cx="8640960" cy="3711785"/>
          </a:xfrm>
          <a:prstGeom prst="rect">
            <a:avLst/>
          </a:prstGeom>
        </p:spPr>
        <p:txBody>
          <a:bodyPr vert="horz" wrap="square" lIns="91440" tIns="45720" rIns="91440" bIns="45720" rtlCol="1">
            <a:spAutoFit/>
          </a:bodyPr>
          <a:lstStyle/>
          <a:p>
            <a:pPr algn="just">
              <a:spcBef>
                <a:spcPct val="20000"/>
              </a:spcBef>
              <a:buFont typeface="Arial" pitchFamily="34" charset="0"/>
              <a:buNone/>
            </a:pP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اولین برنامه گام به گام منسجمی که براساس رویکرد شناختی-رفتاری جهت کاهش اضطراب جدایی، اضطراب فراگیر و اضطراب اجتماعی کودکان و نوجوانان تدوین شده است درمان شناختی رفتاری مبتنی بر برنامه </a:t>
            </a:r>
            <a:r>
              <a:rPr lang="en-US"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coping cat  </a:t>
            </a: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بود. این برنامه که در سال 1994 توسط فیلیپ کندال طراحی شده استیک برنامه 16 جلسه یک ساعته است و در دو </a:t>
            </a:r>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بخش</a:t>
            </a:r>
          </a:p>
          <a:p>
            <a:pPr marL="571500" indent="-571500" algn="just">
              <a:spcBef>
                <a:spcPct val="20000"/>
              </a:spcBef>
              <a:buFont typeface="Arial" panose="020B0604020202020204" pitchFamily="34" charset="0"/>
              <a:buChar char="•"/>
            </a:pPr>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a:t>
            </a: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مهارتهای روانشناختی (شناسایی احساس ترس اضطراب و واکنش بدنی، اصلاح خودگویی های اضطرابی، حل مساله، ارزیابی عملکرد و پاداش به خود) </a:t>
            </a:r>
            <a:endPar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marL="571500" indent="-571500" algn="just">
              <a:spcBef>
                <a:spcPct val="20000"/>
              </a:spcBef>
              <a:buFont typeface="Arial" panose="020B0604020202020204" pitchFamily="34" charset="0"/>
              <a:buChar char="•"/>
            </a:pPr>
            <a:r>
              <a:rPr lang="fa-IR" sz="28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و </a:t>
            </a: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تمرین مواجهه سلسله مراتبی با موقعیت های اضطراب زا با کمک این مهارتها به کودکان مضطرب آموزش میدهد. </a:t>
            </a:r>
          </a:p>
        </p:txBody>
      </p:sp>
      <p:sp>
        <p:nvSpPr>
          <p:cNvPr id="3" name="Rectangle 2"/>
          <p:cNvSpPr/>
          <p:nvPr/>
        </p:nvSpPr>
        <p:spPr>
          <a:xfrm>
            <a:off x="4221550" y="620688"/>
            <a:ext cx="4593758" cy="646331"/>
          </a:xfrm>
          <a:prstGeom prst="rect">
            <a:avLst/>
          </a:prstGeom>
        </p:spPr>
        <p:txBody>
          <a:bodyPr vert="horz" wrap="none" lIns="91440" tIns="45720" rIns="91440" bIns="45720" rtlCol="1" anchor="ctr">
            <a:spAutoFit/>
          </a:bodyPr>
          <a:lstStyle/>
          <a:p>
            <a:pPr>
              <a:spcBef>
                <a:spcPct val="0"/>
              </a:spcBef>
            </a:pP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آشنایی با برنامه </a:t>
            </a:r>
            <a:r>
              <a:rPr lang="en-US"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coping cat</a:t>
            </a:r>
          </a:p>
        </p:txBody>
      </p:sp>
      <p:sp>
        <p:nvSpPr>
          <p:cNvPr id="5" name="Rectangle 4">
            <a:hlinkClick r:id="rId3" action="ppaction://hlinkfile"/>
          </p:cNvPr>
          <p:cNvSpPr/>
          <p:nvPr/>
        </p:nvSpPr>
        <p:spPr>
          <a:xfrm>
            <a:off x="520950" y="5960150"/>
            <a:ext cx="1606530" cy="461665"/>
          </a:xfrm>
          <a:prstGeom prst="rect">
            <a:avLst/>
          </a:prstGeom>
        </p:spPr>
        <p:txBody>
          <a:bodyPr wrap="none">
            <a:spAutoFit/>
          </a:bodyPr>
          <a:lstStyle/>
          <a:p>
            <a:pPr>
              <a:defRPr/>
            </a:pPr>
            <a:r>
              <a:rPr lang="fa-IR" sz="2400" b="1" kern="0" dirty="0" smtClean="0">
                <a:solidFill>
                  <a:prstClr val="black"/>
                </a:solidFill>
                <a:cs typeface="B Nazanin" pitchFamily="2" charset="-78"/>
              </a:rPr>
              <a:t>پخش کاربرگ</a:t>
            </a:r>
            <a:endParaRPr lang="fa-IR" sz="2400" kern="0" dirty="0" smtClean="0">
              <a:solidFill>
                <a:sysClr val="windowText" lastClr="000000"/>
              </a:solidFill>
            </a:endParaRPr>
          </a:p>
        </p:txBody>
      </p:sp>
    </p:spTree>
    <p:extLst>
      <p:ext uri="{BB962C8B-B14F-4D97-AF65-F5344CB8AC3E}">
        <p14:creationId xmlns:p14="http://schemas.microsoft.com/office/powerpoint/2010/main" val="2712106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Content Placeholder 3" descr="slide_30.jpg"/>
          <p:cNvPicPr>
            <a:picLocks noGrp="1" noChangeAspect="1"/>
          </p:cNvPicPr>
          <p:nvPr>
            <p:ph idx="1"/>
          </p:nvPr>
        </p:nvPicPr>
        <p:blipFill>
          <a:blip r:embed="rId3" cstate="print"/>
          <a:stretch>
            <a:fillRect/>
          </a:stretch>
        </p:blipFill>
        <p:spPr>
          <a:xfrm>
            <a:off x="649042" y="2132856"/>
            <a:ext cx="7145016" cy="4135079"/>
          </a:xfrm>
        </p:spPr>
      </p:pic>
      <p:sp>
        <p:nvSpPr>
          <p:cNvPr id="5" name="Rectangle 4"/>
          <p:cNvSpPr/>
          <p:nvPr/>
        </p:nvSpPr>
        <p:spPr>
          <a:xfrm>
            <a:off x="4221550" y="620688"/>
            <a:ext cx="4593758" cy="646331"/>
          </a:xfrm>
          <a:prstGeom prst="rect">
            <a:avLst/>
          </a:prstGeom>
        </p:spPr>
        <p:txBody>
          <a:bodyPr vert="horz" wrap="none" lIns="91440" tIns="45720" rIns="91440" bIns="45720" rtlCol="1" anchor="ctr">
            <a:spAutoFit/>
          </a:bodyPr>
          <a:lstStyle/>
          <a:p>
            <a:pPr>
              <a:spcBef>
                <a:spcPct val="0"/>
              </a:spcBef>
            </a:pP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آشنایی با برنامه </a:t>
            </a:r>
            <a:r>
              <a:rPr lang="en-US"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coping cat</a:t>
            </a:r>
          </a:p>
        </p:txBody>
      </p:sp>
      <p:sp>
        <p:nvSpPr>
          <p:cNvPr id="7" name="Rectangle 6">
            <a:hlinkClick r:id="rId4" action="ppaction://hlinkfile"/>
          </p:cNvPr>
          <p:cNvSpPr/>
          <p:nvPr/>
        </p:nvSpPr>
        <p:spPr>
          <a:xfrm>
            <a:off x="179512" y="5550052"/>
            <a:ext cx="1947969" cy="461665"/>
          </a:xfrm>
          <a:prstGeom prst="rect">
            <a:avLst/>
          </a:prstGeom>
        </p:spPr>
        <p:txBody>
          <a:bodyPr wrap="none">
            <a:spAutoFit/>
          </a:bodyPr>
          <a:lstStyle/>
          <a:p>
            <a:pPr>
              <a:defRPr/>
            </a:pPr>
            <a:r>
              <a:rPr lang="fa-IR" sz="2400" b="1" kern="0" dirty="0" smtClean="0">
                <a:solidFill>
                  <a:prstClr val="black"/>
                </a:solidFill>
                <a:cs typeface="B Nazanin" pitchFamily="2" charset="-78"/>
              </a:rPr>
              <a:t>کلیپ معرفی </a:t>
            </a:r>
            <a:r>
              <a:rPr lang="en-US" sz="2400" b="1" kern="0" dirty="0" smtClean="0">
                <a:solidFill>
                  <a:prstClr val="black"/>
                </a:solidFill>
                <a:cs typeface="B Nazanin" pitchFamily="2" charset="-78"/>
              </a:rPr>
              <a:t>cat</a:t>
            </a:r>
            <a:endParaRPr lang="fa-IR" sz="2400" kern="0" dirty="0" smtClean="0">
              <a:solidFill>
                <a:sysClr val="windowText" lastClr="000000"/>
              </a:solidFill>
            </a:endParaRPr>
          </a:p>
        </p:txBody>
      </p:sp>
    </p:spTree>
    <p:extLst>
      <p:ext uri="{BB962C8B-B14F-4D97-AF65-F5344CB8AC3E}">
        <p14:creationId xmlns:p14="http://schemas.microsoft.com/office/powerpoint/2010/main" val="2921070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6876256" y="764704"/>
            <a:ext cx="1656223" cy="646331"/>
          </a:xfrm>
        </p:spPr>
        <p:txBody>
          <a:bodyPr wrap="none">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اول</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611560" y="1844824"/>
            <a:ext cx="7632848" cy="2948499"/>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-برقراری ارتباط</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-پرسیدن سوالاتی جهت شناخت کودک</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-توضیح ساختار درمان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--بیان اصل رازداری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تکلیف</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35383485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6948264" y="548680"/>
            <a:ext cx="1718739"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دوم</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0" y="1922801"/>
            <a:ext cx="8820472" cy="5176802"/>
          </a:xfrm>
        </p:spPr>
        <p:txBody>
          <a:bodyPr vert="horz" wrap="square" lIns="91440" tIns="45720" rIns="91440" bIns="45720" rtlCol="1">
            <a:spAutoFit/>
          </a:bodyPr>
          <a:lstStyle/>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-مرور تکلیف جلسه قبل</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--تعریف خاطره لذت بخش</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-شناسایی احساس و حالات بدنی</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مثال موقیت اضطراب آور توسط درمانگر، قهرمانان خیالی، کودک</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-انجام بازی حدس بزن</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-لغتنامه احساسات</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-جدا کردن اضطراب از کودک</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-معرفی احساس سنج</a:t>
            </a:r>
          </a:p>
          <a:p>
            <a:pPr algn="r"/>
            <a:r>
              <a:rPr lang="fa-IR"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تکلیف</a:t>
            </a:r>
          </a:p>
          <a:p>
            <a:pPr algn="r"/>
            <a:endParaRPr lang="en-US" sz="2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33502723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1398228648_fce-11-1.jpg"/>
          <p:cNvPicPr>
            <a:picLocks noGrp="1" noChangeAspect="1"/>
          </p:cNvPicPr>
          <p:nvPr>
            <p:ph sz="half" idx="1"/>
          </p:nvPr>
        </p:nvPicPr>
        <p:blipFill>
          <a:blip r:embed="rId2" cstate="print"/>
          <a:stretch>
            <a:fillRect/>
          </a:stretch>
        </p:blipFill>
        <p:spPr>
          <a:xfrm>
            <a:off x="323528" y="1944687"/>
            <a:ext cx="3133656" cy="4576181"/>
          </a:xfrm>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794" y="2989519"/>
            <a:ext cx="4608438" cy="3868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txBox="1">
            <a:spLocks/>
          </p:cNvSpPr>
          <p:nvPr/>
        </p:nvSpPr>
        <p:spPr>
          <a:xfrm>
            <a:off x="6948264" y="548680"/>
            <a:ext cx="1718739" cy="646331"/>
          </a:xfrm>
          <a:prstGeom prst="rect">
            <a:avLst/>
          </a:prstGeom>
        </p:spPr>
        <p:txBody>
          <a:bodyPr vert="horz" wrap="none" lIns="91440" tIns="45720" rIns="91440" bIns="45720" rtlCol="1" anchor="ctr">
            <a:sp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fa-IR" sz="3600" smtClean="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ea typeface="+mn-ea"/>
                <a:cs typeface="B Koodak" pitchFamily="2" charset="-78"/>
              </a:rPr>
              <a:t>جلسه دوم</a:t>
            </a:r>
            <a:endParaRPr lang="en-US"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ea typeface="+mn-ea"/>
              <a:cs typeface="B Koodak" pitchFamily="2" charset="-78"/>
            </a:endParaRPr>
          </a:p>
        </p:txBody>
      </p:sp>
    </p:spTree>
    <p:extLst>
      <p:ext uri="{BB962C8B-B14F-4D97-AF65-F5344CB8AC3E}">
        <p14:creationId xmlns:p14="http://schemas.microsoft.com/office/powerpoint/2010/main" val="4035891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6800749" y="621559"/>
            <a:ext cx="1803699"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سوم</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755576" y="2564904"/>
            <a:ext cx="7920880" cy="2948499"/>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-مشخص کردن واکنشهای جسمی به اضطراب</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-بیان احساس</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-اجرای موقعیت اضطراب آور</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مرحله اول </a:t>
            </a: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برنامه</a:t>
            </a:r>
            <a:r>
              <a:rPr lang="en-US"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fear</a:t>
            </a: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تکلیف</a:t>
            </a:r>
          </a:p>
        </p:txBody>
      </p:sp>
    </p:spTree>
    <p:extLst>
      <p:ext uri="{BB962C8B-B14F-4D97-AF65-F5344CB8AC3E}">
        <p14:creationId xmlns:p14="http://schemas.microsoft.com/office/powerpoint/2010/main" val="18119834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ubtitle 2"/>
          <p:cNvSpPr>
            <a:spLocks noGrp="1"/>
          </p:cNvSpPr>
          <p:nvPr>
            <p:ph type="subTitle" idx="1"/>
          </p:nvPr>
        </p:nvSpPr>
        <p:spPr>
          <a:xfrm>
            <a:off x="539552" y="1484784"/>
            <a:ext cx="8208912" cy="4130361"/>
          </a:xfrm>
        </p:spPr>
        <p:txBody>
          <a:bodyPr vert="horz" wrap="square" lIns="91440" tIns="45720" rIns="91440" bIns="45720" rtlCol="1">
            <a:spAutoFit/>
          </a:bodyPr>
          <a:lstStyle/>
          <a:p>
            <a:pPr algn="r"/>
            <a:endPar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-توضیح مراحل درمان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-شنیدن نظرات خانواده</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-کسب اطلاعات راجع به کودک و موقعیتهای اضطراب آور</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-مشخص کردن انتظارات والدین از درمان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تقویت افتراقی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-توجه به نقاط قوت کودک</a:t>
            </a:r>
          </a:p>
        </p:txBody>
      </p:sp>
      <p:sp>
        <p:nvSpPr>
          <p:cNvPr id="2" name="Rectangle 1"/>
          <p:cNvSpPr/>
          <p:nvPr/>
        </p:nvSpPr>
        <p:spPr>
          <a:xfrm>
            <a:off x="4289236" y="836712"/>
            <a:ext cx="4249881" cy="646331"/>
          </a:xfrm>
          <a:prstGeom prst="rect">
            <a:avLst/>
          </a:prstGeom>
        </p:spPr>
        <p:txBody>
          <a:bodyPr vert="horz" wrap="none" lIns="91440" tIns="45720" rIns="91440" bIns="45720" rtlCol="1" anchor="ctr">
            <a:spAutoFit/>
          </a:bodyPr>
          <a:lstStyle/>
          <a:p>
            <a:pPr>
              <a:spcBef>
                <a:spcPct val="0"/>
              </a:spcBef>
            </a:pPr>
            <a:r>
              <a:rPr lang="fa-IR"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cs typeface="B Koodak" pitchFamily="2" charset="-78"/>
              </a:rPr>
              <a:t>جلسه چهارم: جلسه والدین</a:t>
            </a:r>
          </a:p>
        </p:txBody>
      </p:sp>
    </p:spTree>
    <p:extLst>
      <p:ext uri="{BB962C8B-B14F-4D97-AF65-F5344CB8AC3E}">
        <p14:creationId xmlns:p14="http://schemas.microsoft.com/office/powerpoint/2010/main" val="8345449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717171" y="522972"/>
            <a:ext cx="4969629"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پنجم: آرام سازی عضلانی</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5" name="Subtitle 2"/>
          <p:cNvSpPr txBox="1">
            <a:spLocks/>
          </p:cNvSpPr>
          <p:nvPr/>
        </p:nvSpPr>
        <p:spPr>
          <a:xfrm>
            <a:off x="1133948" y="988808"/>
            <a:ext cx="7992888" cy="3539430"/>
          </a:xfrm>
          <a:prstGeom prst="rect">
            <a:avLst/>
          </a:prstGeom>
        </p:spPr>
        <p:txBody>
          <a:bodyPr wrap="square">
            <a:spAutoFit/>
          </a:bodyPr>
          <a:lstStyle>
            <a:defPPr>
              <a:defRPr lang="fa-IR"/>
            </a:defPPr>
            <a:lvl1pPr marL="457200" indent="-457200">
              <a:buFont typeface="Arial" pitchFamily="34" charset="0"/>
              <a:buChar char="•"/>
              <a:defRPr sz="320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defRPr>
            </a:lvl1pPr>
          </a:lstStyle>
          <a:p>
            <a:endParaRPr lang="fa-IR" dirty="0"/>
          </a:p>
          <a:p>
            <a:endParaRPr lang="fa-IR" dirty="0"/>
          </a:p>
          <a:p>
            <a:r>
              <a:rPr lang="fa-IR" dirty="0"/>
              <a:t>-مرور تکلیف جلسه قبل و دادن جایزه</a:t>
            </a:r>
          </a:p>
          <a:p>
            <a:r>
              <a:rPr lang="fa-IR" dirty="0"/>
              <a:t>-توضیح جلسه ملاقات با والدین</a:t>
            </a:r>
          </a:p>
          <a:p>
            <a:r>
              <a:rPr lang="fa-IR" dirty="0"/>
              <a:t>-مقایسه حالات بدنی در دو حالت آرامش و اضطرابی</a:t>
            </a:r>
          </a:p>
          <a:p>
            <a:r>
              <a:rPr lang="fa-IR" dirty="0"/>
              <a:t>-آموزش آرام سازی</a:t>
            </a:r>
          </a:p>
          <a:p>
            <a:r>
              <a:rPr lang="fa-IR" dirty="0"/>
              <a:t>-آموزش تنفس عمیق</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3573016"/>
            <a:ext cx="5274220" cy="2901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62503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417" y="3501008"/>
            <a:ext cx="2232248" cy="3105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607694" y="585554"/>
            <a:ext cx="4924746"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ششم:اصلاح خودگویی ها</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971600" y="1979043"/>
            <a:ext cx="7848872" cy="3539430"/>
          </a:xfrm>
        </p:spPr>
        <p:txBody>
          <a:bodyPr wrap="square">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مرحله دوم درمان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-تعریف خودگویی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-خودگویی در شرایط اضطرابی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-تمایز قائل شدن بین خودگویی مقابله ای و خودگویی اضطرابی</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fear</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-معرفی مرحله سوم درمان</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بادکنک فکر</a:t>
            </a:r>
          </a:p>
        </p:txBody>
      </p:sp>
    </p:spTree>
    <p:extLst>
      <p:ext uri="{BB962C8B-B14F-4D97-AF65-F5344CB8AC3E}">
        <p14:creationId xmlns:p14="http://schemas.microsoft.com/office/powerpoint/2010/main" val="28096614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99592" y="1944687"/>
            <a:ext cx="7848872" cy="3539430"/>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از طریق تصاویر</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-ایفای نقش</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-به چالش کشیدن افکار</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تله های فکری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-درست کردن کارت تله های فکری و کارت سازگاری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تکلیف</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3573016"/>
            <a:ext cx="2267198" cy="3069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ctrTitle"/>
          </p:nvPr>
        </p:nvSpPr>
        <p:spPr>
          <a:xfrm>
            <a:off x="3607694" y="585554"/>
            <a:ext cx="4924746"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ششم:اصلاح خودگویی ها</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Tree>
    <p:extLst>
      <p:ext uri="{BB962C8B-B14F-4D97-AF65-F5344CB8AC3E}">
        <p14:creationId xmlns:p14="http://schemas.microsoft.com/office/powerpoint/2010/main" val="5444313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146050" y="1909162"/>
            <a:ext cx="7776864" cy="830997"/>
          </a:xfrm>
        </p:spPr>
        <p:txBody>
          <a:bodyPr vert="horz" wrap="square" lIns="91440" tIns="45720" rIns="91440" bIns="45720" rtlCol="1">
            <a:spAutoFit/>
          </a:bodyPr>
          <a:lstStyle/>
          <a:p>
            <a:pPr>
              <a:spcBef>
                <a:spcPct val="20000"/>
              </a:spcBef>
              <a:buFont typeface="Arial" pitchFamily="34" charset="0"/>
            </a:pPr>
            <a:r>
              <a:rPr lang="fa-IR" sz="4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latin typeface="+mn-lt"/>
                <a:ea typeface="+mn-ea"/>
                <a:cs typeface="B Kamran" pitchFamily="2" charset="-78"/>
              </a:rPr>
              <a:t>تله های فکری</a:t>
            </a:r>
            <a:endParaRPr lang="en-US" sz="48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latin typeface="+mn-lt"/>
              <a:ea typeface="+mn-ea"/>
              <a:cs typeface="B Kamran" pitchFamily="2" charset="-78"/>
            </a:endParaRPr>
          </a:p>
        </p:txBody>
      </p:sp>
      <p:sp>
        <p:nvSpPr>
          <p:cNvPr id="3" name="Subtitle 2"/>
          <p:cNvSpPr>
            <a:spLocks noGrp="1"/>
          </p:cNvSpPr>
          <p:nvPr>
            <p:ph type="subTitle" idx="1"/>
          </p:nvPr>
        </p:nvSpPr>
        <p:spPr>
          <a:xfrm>
            <a:off x="683568" y="2636912"/>
            <a:ext cx="7992888" cy="3539430"/>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-راه رفتن با چشم بند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-تکرار کننده</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-مصیبت پنداری یا منفی بافی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-اجتناب کننده</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-فکرخوانی یا پیش بینی کردن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-باید ها و نبایدها</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
        <p:nvSpPr>
          <p:cNvPr id="4" name="Title 1"/>
          <p:cNvSpPr txBox="1">
            <a:spLocks/>
          </p:cNvSpPr>
          <p:nvPr/>
        </p:nvSpPr>
        <p:spPr>
          <a:xfrm>
            <a:off x="3607694" y="585554"/>
            <a:ext cx="4924746" cy="646331"/>
          </a:xfrm>
          <a:prstGeom prst="rect">
            <a:avLst/>
          </a:prstGeom>
        </p:spPr>
        <p:txBody>
          <a:bodyPr vert="horz" wrap="none" lIns="91440" tIns="45720" rIns="91440" bIns="45720" rtlCol="1" anchor="ctr">
            <a:sp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fa-IR" sz="3600" smtClean="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ea typeface="+mn-ea"/>
                <a:cs typeface="B Koodak" pitchFamily="2" charset="-78"/>
              </a:rPr>
              <a:t>جلسه ششم:اصلاح خودگویی ها</a:t>
            </a:r>
            <a:endParaRPr lang="en-US" sz="3600" dirty="0">
              <a:ln w="18415" cmpd="sng">
                <a:solidFill>
                  <a:srgbClr val="FFFFFF"/>
                </a:solidFill>
                <a:prstDash val="solid"/>
              </a:ln>
              <a:solidFill>
                <a:srgbClr val="FFFFFF"/>
              </a:solidFill>
              <a:effectLst>
                <a:glow rad="228600">
                  <a:srgbClr val="4BACC6">
                    <a:satMod val="175000"/>
                    <a:alpha val="40000"/>
                  </a:srgbClr>
                </a:glow>
                <a:outerShdw blurRad="63500" dir="3600000" algn="tl" rotWithShape="0">
                  <a:srgbClr val="000000">
                    <a:alpha val="70000"/>
                  </a:srgbClr>
                </a:outerShdw>
              </a:effectLst>
              <a:ea typeface="+mn-ea"/>
              <a:cs typeface="B Koodak" pitchFamily="2" charset="-78"/>
            </a:endParaRPr>
          </a:p>
        </p:txBody>
      </p:sp>
    </p:spTree>
    <p:extLst>
      <p:ext uri="{BB962C8B-B14F-4D97-AF65-F5344CB8AC3E}">
        <p14:creationId xmlns:p14="http://schemas.microsoft.com/office/powerpoint/2010/main" val="10445043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2555776" y="764704"/>
            <a:ext cx="6014787"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هفتم: آموزش مهارت حل مسئله</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576350" y="2060848"/>
            <a:ext cx="7992888" cy="4031873"/>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-بررسی تکلیف جلسه قبل</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جدول موقعیت- فکر- احساس- رفتار</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-دنبال کردن گام سوم</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-آموزش مهارت حل مسئله</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-تمرین این مهارت در موقعیت هایی که اضطراب فرد به ترتیب کم- متوسط و زیاد است</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ارائه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تکلیف</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38450347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561953" y="657563"/>
            <a:ext cx="3894015"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هشتم:پاداش دهی</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684362" y="2204864"/>
            <a:ext cx="7776864" cy="3539430"/>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-آغاز گام چهارم درمان و توضیح مفهوم پاداش</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-ایجاد ارتباط بین تشویق کردن و تغییر احساسات</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-توضیح پاداشهای اجتماعی و فوری بودن پاداشها</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-تهیه لیست پاداشها</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-چالش با باور کمال گرایی در ارائه تشویق</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-ارائه موقعیت های مختلف توسط درمانگر و چالش با خطاهای شناختی</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11692100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814847" y="729571"/>
            <a:ext cx="3857145"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نهم: جلسه والدین</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684362" y="2204864"/>
            <a:ext cx="7776864" cy="2357568"/>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-توضیح مرحله دوم درمان به والدین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-تاکید بر تمرین مهارتها و مواجهه تدریجی با موقعیتهای اضطراب آور</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-توضیح منطق روشهای مواجهه و خوگیری</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-کسب اطلاعات اضافی درباره کودک</a:t>
            </a:r>
            <a:endPar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p:txBody>
      </p:sp>
    </p:spTree>
    <p:extLst>
      <p:ext uri="{BB962C8B-B14F-4D97-AF65-F5344CB8AC3E}">
        <p14:creationId xmlns:p14="http://schemas.microsoft.com/office/powerpoint/2010/main" val="26180315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C:\Users\computer shahr\Desktop\my-coping-step-plan-for-implementing-the-fun-friends-progra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060848"/>
            <a:ext cx="2808312" cy="397713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91092" y="477543"/>
            <a:ext cx="7813356"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دهم تا پانزدهم:تمرین ذهنی و عملی مواجهه</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107504" y="2636912"/>
            <a:ext cx="8604448" cy="3539430"/>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-تهیه کارت</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-آماده سازی برای مواجهه</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-مواجهه ذهنی توسط درمانگر  </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-مواجهه ذهنی توسط کودک</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-آماده سازی کودک برای مواجهه واقعی از طریق ایفای نقش با کمک درمانگر</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-آماده سازی برای مواجهه واقعی بدون کمک درمانگر</a:t>
            </a:r>
          </a:p>
        </p:txBody>
      </p:sp>
    </p:spTree>
    <p:extLst>
      <p:ext uri="{BB962C8B-B14F-4D97-AF65-F5344CB8AC3E}">
        <p14:creationId xmlns:p14="http://schemas.microsoft.com/office/powerpoint/2010/main" val="7987383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897711" y="477543"/>
            <a:ext cx="4706737"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شانزدهم: مرور جلسات</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827584" y="2348880"/>
            <a:ext cx="7848872" cy="1766637"/>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-مرور 4 گام اصلی</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-بیان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مثال های متعدد </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-تهیه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روزنامه دیواری از خلاصه جلسات</a:t>
            </a:r>
          </a:p>
        </p:txBody>
      </p:sp>
    </p:spTree>
    <p:extLst>
      <p:ext uri="{BB962C8B-B14F-4D97-AF65-F5344CB8AC3E}">
        <p14:creationId xmlns:p14="http://schemas.microsoft.com/office/powerpoint/2010/main" val="30952123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897711" y="477543"/>
            <a:ext cx="4706737" cy="646331"/>
          </a:xfrm>
        </p:spPr>
        <p:txBody>
          <a:bodyPr vert="horz" wrap="none" lIns="91440" tIns="45720" rIns="91440" bIns="45720" rtlCol="1" anchor="ctr">
            <a:spAutoFit/>
          </a:bodyPr>
          <a:lstStyle/>
          <a:p>
            <a:pPr algn="r"/>
            <a:r>
              <a:rPr lang="fa-IR"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جلسه شانزدهم: مرور جلسات</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827584" y="2348880"/>
            <a:ext cx="7848872" cy="1766637"/>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-مرور 4 گام اصلی</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-بیان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مثال های متعدد </a:t>
            </a:r>
          </a:p>
          <a:p>
            <a:pPr algn="r"/>
            <a:r>
              <a:rPr lang="fa-IR"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-تهیه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روزنامه دیواری از خلاصه جلسات</a:t>
            </a:r>
          </a:p>
        </p:txBody>
      </p:sp>
      <p:sp>
        <p:nvSpPr>
          <p:cNvPr id="5" name="Rectangle 4">
            <a:hlinkClick r:id="rId3" action="ppaction://hlinkfile"/>
          </p:cNvPr>
          <p:cNvSpPr/>
          <p:nvPr/>
        </p:nvSpPr>
        <p:spPr>
          <a:xfrm>
            <a:off x="179512" y="5157192"/>
            <a:ext cx="3155031"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effectLst/>
                <a:uLnTx/>
                <a:uFillTx/>
                <a:cs typeface="B Nazanin" pitchFamily="2" charset="-78"/>
              </a:rPr>
              <a:t>کتاب کار گربه سازگار</a:t>
            </a:r>
            <a:endParaRPr kumimoji="0" lang="fa-IR" sz="3200" b="0" i="0" u="none" strike="noStrike" kern="0" cap="none" spc="0" normalizeH="0" baseline="0" noProof="0" dirty="0" smtClean="0">
              <a:ln>
                <a:noFill/>
              </a:ln>
              <a:effectLst/>
              <a:uLnTx/>
              <a:uFillTx/>
            </a:endParaRPr>
          </a:p>
        </p:txBody>
      </p:sp>
      <p:sp>
        <p:nvSpPr>
          <p:cNvPr id="6" name="Rectangle 5">
            <a:hlinkClick r:id="rId4" action="ppaction://hlinkfile"/>
          </p:cNvPr>
          <p:cNvSpPr/>
          <p:nvPr/>
        </p:nvSpPr>
        <p:spPr>
          <a:xfrm>
            <a:off x="827584" y="5877272"/>
            <a:ext cx="1999266" cy="584775"/>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a-IR" sz="3200" b="1" i="0" u="none" strike="noStrike" kern="0" cap="none" spc="0" normalizeH="0" baseline="0" noProof="0" dirty="0" smtClean="0">
                <a:ln>
                  <a:noFill/>
                </a:ln>
                <a:effectLst/>
                <a:uLnTx/>
                <a:uFillTx/>
                <a:cs typeface="B Nazanin" pitchFamily="2" charset="-78"/>
              </a:rPr>
              <a:t>پروتکل کامل</a:t>
            </a:r>
            <a:endParaRPr kumimoji="0" lang="fa-IR" sz="3200" b="0" i="0" u="none" strike="noStrike" kern="0" cap="none" spc="0" normalizeH="0" baseline="0" noProof="0" dirty="0" smtClean="0">
              <a:ln>
                <a:noFill/>
              </a:ln>
              <a:effectLst/>
              <a:uLnTx/>
              <a:uFillTx/>
            </a:endParaRPr>
          </a:p>
        </p:txBody>
      </p:sp>
    </p:spTree>
    <p:extLst>
      <p:ext uri="{BB962C8B-B14F-4D97-AF65-F5344CB8AC3E}">
        <p14:creationId xmlns:p14="http://schemas.microsoft.com/office/powerpoint/2010/main" val="427934244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419872" y="476672"/>
            <a:ext cx="5543185"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آشنایی با برنامه </a:t>
            </a:r>
            <a:r>
              <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Friends foe life </a:t>
            </a:r>
          </a:p>
        </p:txBody>
      </p:sp>
      <p:sp>
        <p:nvSpPr>
          <p:cNvPr id="3" name="Subtitle 2"/>
          <p:cNvSpPr>
            <a:spLocks noGrp="1"/>
          </p:cNvSpPr>
          <p:nvPr>
            <p:ph type="subTitle" idx="1"/>
          </p:nvPr>
        </p:nvSpPr>
        <p:spPr>
          <a:xfrm>
            <a:off x="827584" y="2348880"/>
            <a:ext cx="7848872" cy="3243965"/>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برنامه دوستان برای زندگی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Friends foe life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توسط رابرت </a:t>
            </a:r>
            <a:r>
              <a:rPr lang="en-US" dirty="0" err="1">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Robett</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 سال 1998، 2004 و 2005</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کودک مولفه اساسی درمان است و از برنامه کوالای سازگار که اقتباسی از برنامه کندال  در استرالیا است گرفته شده است. بعدها تاکید بر درمان گروهی بود.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شامل 10 جلسه به همراه 2 جلسه پیگیری</a:t>
            </a:r>
          </a:p>
        </p:txBody>
      </p:sp>
      <p:sp>
        <p:nvSpPr>
          <p:cNvPr id="5" name="Rectangle 4">
            <a:hlinkClick r:id="rId3" action="ppaction://hlinkfile"/>
          </p:cNvPr>
          <p:cNvSpPr/>
          <p:nvPr/>
        </p:nvSpPr>
        <p:spPr>
          <a:xfrm>
            <a:off x="520950" y="5960150"/>
            <a:ext cx="1606530" cy="461665"/>
          </a:xfrm>
          <a:prstGeom prst="rect">
            <a:avLst/>
          </a:prstGeom>
        </p:spPr>
        <p:txBody>
          <a:bodyPr wrap="none">
            <a:spAutoFit/>
          </a:bodyPr>
          <a:lstStyle/>
          <a:p>
            <a:pPr>
              <a:defRPr/>
            </a:pPr>
            <a:r>
              <a:rPr lang="fa-IR" sz="2400" b="1" kern="0" dirty="0" smtClean="0">
                <a:solidFill>
                  <a:prstClr val="black"/>
                </a:solidFill>
                <a:cs typeface="B Nazanin" pitchFamily="2" charset="-78"/>
              </a:rPr>
              <a:t>پخش کاربرگ</a:t>
            </a:r>
            <a:endParaRPr lang="fa-IR" sz="2400" kern="0" dirty="0" smtClean="0">
              <a:solidFill>
                <a:sysClr val="windowText" lastClr="000000"/>
              </a:solidFill>
            </a:endParaRPr>
          </a:p>
        </p:txBody>
      </p:sp>
    </p:spTree>
    <p:extLst>
      <p:ext uri="{BB962C8B-B14F-4D97-AF65-F5344CB8AC3E}">
        <p14:creationId xmlns:p14="http://schemas.microsoft.com/office/powerpoint/2010/main" val="9294603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419872" y="476672"/>
            <a:ext cx="5543185"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آشنایی با برنامه </a:t>
            </a:r>
            <a:r>
              <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Friends foe life </a:t>
            </a:r>
          </a:p>
        </p:txBody>
      </p:sp>
      <p:sp>
        <p:nvSpPr>
          <p:cNvPr id="3" name="Subtitle 2"/>
          <p:cNvSpPr>
            <a:spLocks noGrp="1"/>
          </p:cNvSpPr>
          <p:nvPr>
            <p:ph type="subTitle" idx="1"/>
          </p:nvPr>
        </p:nvSpPr>
        <p:spPr>
          <a:xfrm>
            <a:off x="971600" y="1918857"/>
            <a:ext cx="7848872" cy="4721292"/>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خلاصه سر واژه دوستان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FRIENDS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است</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Feelings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احساسات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F</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Remember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آرمیدگی را به خاطر بیاور (آرامش داشته باش)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R</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I do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من میتوانم انجام دهم (تلاش خودم را میکنم)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I</a:t>
            </a:r>
          </a:p>
          <a:p>
            <a:pPr algn="r"/>
            <a:r>
              <a:rPr lang="en-US" dirty="0" err="1">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Explor</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راه حل ها را کشف کن و برنامه کنار آمدن را دنبال کن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E</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Now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حالا به خودت پاداش بده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N</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 Don’t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تمرین را فراموش نکن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D</a:t>
            </a:r>
          </a:p>
          <a:p>
            <a:pPr algn="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Smile </a:t>
            </a: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لبخند بزن و در زندگی آرامش داشته باش </a:t>
            </a:r>
            <a:r>
              <a:rPr lang="en-US"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S</a:t>
            </a:r>
          </a:p>
        </p:txBody>
      </p:sp>
    </p:spTree>
    <p:extLst>
      <p:ext uri="{BB962C8B-B14F-4D97-AF65-F5344CB8AC3E}">
        <p14:creationId xmlns:p14="http://schemas.microsoft.com/office/powerpoint/2010/main" val="40751432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419872" y="476672"/>
            <a:ext cx="5543185"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آشنایی با برنامه </a:t>
            </a:r>
            <a:r>
              <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Friends foe life </a:t>
            </a:r>
          </a:p>
        </p:txBody>
      </p:sp>
      <p:sp>
        <p:nvSpPr>
          <p:cNvPr id="3" name="Subtitle 2"/>
          <p:cNvSpPr>
            <a:spLocks noGrp="1"/>
          </p:cNvSpPr>
          <p:nvPr>
            <p:ph type="subTitle" idx="1"/>
          </p:nvPr>
        </p:nvSpPr>
        <p:spPr>
          <a:xfrm>
            <a:off x="0" y="1918857"/>
            <a:ext cx="8820472" cy="4130361"/>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شش مولفه اساسی این درمان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	الگوی روانی-آموزشی مورد نیاز احساسات</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2.	آگاهی از اهمیت فعالیت های جسمانی هنگام اضطراب</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3.	بازسازی شناختی و خودگویی مثبت</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4.	مهارت حل مساله و تمرین مهارت برای مواجه با ترس</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5.	اهمیت و ضرورت پاداش به خود برای تلاش</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6.	پشگیری از بازگشت علائم اضطراب و به کارگیری روشهای اموخته شده</a:t>
            </a:r>
          </a:p>
        </p:txBody>
      </p:sp>
    </p:spTree>
    <p:extLst>
      <p:ext uri="{BB962C8B-B14F-4D97-AF65-F5344CB8AC3E}">
        <p14:creationId xmlns:p14="http://schemas.microsoft.com/office/powerpoint/2010/main" val="11405666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419872" y="476672"/>
            <a:ext cx="5543185"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آشنایی با برنامه </a:t>
            </a:r>
            <a:r>
              <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Friends foe life </a:t>
            </a:r>
          </a:p>
        </p:txBody>
      </p:sp>
      <p:sp>
        <p:nvSpPr>
          <p:cNvPr id="3" name="Subtitle 2"/>
          <p:cNvSpPr>
            <a:spLocks noGrp="1"/>
          </p:cNvSpPr>
          <p:nvPr>
            <p:ph type="subTitle" idx="1"/>
          </p:nvPr>
        </p:nvSpPr>
        <p:spPr>
          <a:xfrm>
            <a:off x="0" y="1844824"/>
            <a:ext cx="8820472" cy="4745915"/>
          </a:xfrm>
        </p:spPr>
        <p:txBody>
          <a:bodyPr vert="horz" wrap="square" lIns="91440" tIns="45720" rIns="91440" bIns="45720" rtlCol="1">
            <a:spAutoFit/>
          </a:bodyPr>
          <a:lstStyle/>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برنامه دوستان برای زندگی: آموزش خانواده</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دو جلسه ساختارمند برای والدین در نظر گرفته شده است. در هر جلسه ابتدا مهارتهای که برای درمان کودک به کار گرفته شده توضیح داده میشود سپس راهبردهای ارائه میشود که والدین چگونه میتوانند به کودک یاری برسانند همچنین والدین تشویق میشوند تا تمرین ها را در منزل همراه با فرزند خود انجام دهند.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والدین می آموزند: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	به کودک در شناسایی احساسات کمک کنند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2.	احساسات کودک را بپذیرند و انعکاس دهند و آن را بهنجار بدانند.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3.	برنامه آرمیدگی را بصورت منظم در خانه انجام دهند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4.	زمان های آرامش را در خانه تعیین و برنامه های را ترتیب دهند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5.	بر روی رابطه مثبت و وقت گذارندن با کودک متمرکز شوند.</a:t>
            </a:r>
          </a:p>
          <a:p>
            <a:pPr algn="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6.	در محیط خانه بر تفکرات سبز و یاریگر متمرکز شوند</a:t>
            </a:r>
          </a:p>
        </p:txBody>
      </p:sp>
    </p:spTree>
    <p:extLst>
      <p:ext uri="{BB962C8B-B14F-4D97-AF65-F5344CB8AC3E}">
        <p14:creationId xmlns:p14="http://schemas.microsoft.com/office/powerpoint/2010/main" val="35268740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419872" y="476672"/>
            <a:ext cx="5543185"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آشنایی با برنامه </a:t>
            </a:r>
            <a:r>
              <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Friends foe life </a:t>
            </a:r>
          </a:p>
        </p:txBody>
      </p:sp>
      <p:sp>
        <p:nvSpPr>
          <p:cNvPr id="3" name="Subtitle 2"/>
          <p:cNvSpPr>
            <a:spLocks noGrp="1"/>
          </p:cNvSpPr>
          <p:nvPr>
            <p:ph type="subTitle" idx="1"/>
          </p:nvPr>
        </p:nvSpPr>
        <p:spPr>
          <a:xfrm>
            <a:off x="0" y="1918857"/>
            <a:ext cx="8820472" cy="5115246"/>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7.	تفکرات مثبت فرزندشان را تشویق کنند.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8.	والدین الگوی مناسبی برای کاربرد تفکرات مثبت باشند.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9.	به فرزند در جهت تهیه برنامه گام های سازگاری کمک نند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10.	اگودهی مناسب و ترغیب سازی را در هنگام حرکت کودک به سمت گام های سازگار ارائه دهند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11.	فرزند را در طی کردن گام های سازگاری با گوش دادن به نگرانی هایش حمایت کنند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12.	فضای اجتماعی و حمایتی از دوستان را برای فرزند خود فراهم کنند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13.	فرایند اجرا مهارت را دائماً مورد بازنگری قرار دهند</a:t>
            </a:r>
          </a:p>
        </p:txBody>
      </p:sp>
    </p:spTree>
    <p:extLst>
      <p:ext uri="{BB962C8B-B14F-4D97-AF65-F5344CB8AC3E}">
        <p14:creationId xmlns:p14="http://schemas.microsoft.com/office/powerpoint/2010/main" val="42215348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3419872" y="476672"/>
            <a:ext cx="5543185"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آشنایی با برنامه </a:t>
            </a:r>
            <a:r>
              <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Friends foe life </a:t>
            </a:r>
          </a:p>
        </p:txBody>
      </p:sp>
      <p:sp>
        <p:nvSpPr>
          <p:cNvPr id="3" name="Subtitle 2"/>
          <p:cNvSpPr>
            <a:spLocks noGrp="1"/>
          </p:cNvSpPr>
          <p:nvPr>
            <p:ph type="subTitle" idx="1"/>
          </p:nvPr>
        </p:nvSpPr>
        <p:spPr>
          <a:xfrm>
            <a:off x="0" y="1918857"/>
            <a:ext cx="8820472" cy="3539430"/>
          </a:xfrm>
        </p:spPr>
        <p:txBody>
          <a:bodyPr vert="horz" wrap="square" lIns="91440" tIns="45720" rIns="91440" bIns="45720" rtlCol="1">
            <a:spAutoFit/>
          </a:bodyPr>
          <a:lstStyle/>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و همچنین</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14.	هر دو والد برنامه ها را هماهنگ اجرا می کنند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15.	محدودیت ها و انتظارات واقع بینانه از او داشته باشند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16.	اگر کودک رفتار نامناسب انجام داد بصورت مناسب تنبیه کنند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17.	همیشه آرام باشند</a:t>
            </a:r>
          </a:p>
          <a:p>
            <a:pPr algn="r"/>
            <a:r>
              <a:rPr lang="fa-IR"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18.	بر رابطه خود با فرزندشان متمرکز شوند</a:t>
            </a:r>
          </a:p>
        </p:txBody>
      </p:sp>
    </p:spTree>
    <p:extLst>
      <p:ext uri="{BB962C8B-B14F-4D97-AF65-F5344CB8AC3E}">
        <p14:creationId xmlns:p14="http://schemas.microsoft.com/office/powerpoint/2010/main" val="6021498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319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3528" y="548680"/>
            <a:ext cx="7772400" cy="1470025"/>
          </a:xfrm>
        </p:spPr>
        <p:txBody>
          <a:bodyPr>
            <a:normAutofit fontScale="90000"/>
          </a:bodyPr>
          <a:lstStyle/>
          <a:p>
            <a:r>
              <a:rPr lang="fa-IR" sz="89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مداخلات والدینی</a:t>
            </a:r>
            <a:r>
              <a:rPr lang="fa-IR" sz="73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
            </a:r>
            <a:br>
              <a:rPr lang="fa-IR" sz="73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br>
            <a:r>
              <a:rPr lang="fa-IR" sz="5300"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والدین چه باید بکنند</a:t>
            </a:r>
            <a:r>
              <a:rPr lang="fa-IR"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t/>
            </a:r>
            <a:br>
              <a:rPr lang="fa-IR" dirty="0" smtClean="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rPr>
            </a:br>
            <a:endParaRPr lang="fa-IR" dirty="0">
              <a:ln w="18415" cmpd="sng">
                <a:solidFill>
                  <a:srgbClr val="FFFFFF"/>
                </a:solidFill>
                <a:prstDash val="solid"/>
              </a:ln>
              <a:solidFill>
                <a:srgbClr val="FFFFFF"/>
              </a:solidFill>
              <a:effectLst>
                <a:glow rad="139700">
                  <a:schemeClr val="accent4">
                    <a:satMod val="175000"/>
                    <a:alpha val="40000"/>
                  </a:schemeClr>
                </a:glow>
                <a:outerShdw blurRad="63500" dir="3600000" algn="tl" rotWithShape="0">
                  <a:srgbClr val="000000">
                    <a:alpha val="70000"/>
                  </a:srgbClr>
                </a:outerShdw>
              </a:effectLst>
              <a:cs typeface="B Tabassom" pitchFamily="2" charset="-78"/>
            </a:endParaRPr>
          </a:p>
        </p:txBody>
      </p:sp>
      <p:sp>
        <p:nvSpPr>
          <p:cNvPr id="3" name="Rectangle 2">
            <a:hlinkClick r:id="rId3" action="ppaction://hlinkfile"/>
          </p:cNvPr>
          <p:cNvSpPr/>
          <p:nvPr/>
        </p:nvSpPr>
        <p:spPr>
          <a:xfrm>
            <a:off x="2699792" y="2348880"/>
            <a:ext cx="2361545" cy="461665"/>
          </a:xfrm>
          <a:prstGeom prst="rect">
            <a:avLst/>
          </a:prstGeom>
        </p:spPr>
        <p:txBody>
          <a:bodyPr wrap="none">
            <a:spAutoFit/>
          </a:bodyPr>
          <a:lstStyle/>
          <a:p>
            <a:pPr>
              <a:defRPr/>
            </a:pPr>
            <a:r>
              <a:rPr lang="fa-IR" sz="2400" b="1" kern="0" dirty="0" smtClean="0">
                <a:solidFill>
                  <a:prstClr val="black"/>
                </a:solidFill>
                <a:cs typeface="B Nazanin" pitchFamily="2" charset="-78"/>
              </a:rPr>
              <a:t>پخش کاربرگ والدین</a:t>
            </a:r>
            <a:endParaRPr lang="fa-IR" sz="2400" kern="0" dirty="0" smtClean="0">
              <a:solidFill>
                <a:sysClr val="windowText" lastClr="000000"/>
              </a:solidFill>
            </a:endParaRPr>
          </a:p>
        </p:txBody>
      </p:sp>
    </p:spTree>
    <p:extLst>
      <p:ext uri="{BB962C8B-B14F-4D97-AF65-F5344CB8AC3E}">
        <p14:creationId xmlns:p14="http://schemas.microsoft.com/office/powerpoint/2010/main" val="2125354341"/>
      </p:ext>
    </p:extLst>
  </p:cSld>
  <p:clrMapOvr>
    <a:masterClrMapping/>
  </p:clrMapOvr>
  <p:transition spd="slow">
    <p:randomBar dir="vert"/>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157380" y="326012"/>
            <a:ext cx="4793300"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 درمان اضطراب والدین باید</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237712" y="2060848"/>
            <a:ext cx="8712968" cy="4450449"/>
          </a:xfrm>
        </p:spPr>
        <p:txBody>
          <a:bodyPr vert="horz" wrap="square" lIns="91440" tIns="45720" rIns="91440" bIns="45720" rtlCol="1">
            <a:spAutoFit/>
          </a:bodyPr>
          <a:lstStyle/>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 صورتی که والدین خود مبتلا به مشکلات اضطرابی هستند تکنیک های درمانی را ارائه دهید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به والدین در شناسایی وکنترل افکار ناکارآمد کمک کنید</a:t>
            </a:r>
          </a:p>
          <a:p>
            <a:pPr marL="457200" indent="-457200" algn="r">
              <a:buFontTx/>
              <a:buChar char="-"/>
            </a:pPr>
            <a:r>
              <a:rPr lang="fa-IR" sz="2400" dirty="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دلایل اضطراب کودک را شناسایی و تا حد ممکن تغییر دهند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والدین رفتارهای تنبیه ای و مسائلی که باعث تشدید مشکل میشود شناسایی و حذف کنند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 تغییر کودک صبور باشند و منتظر افزایش موقتی اضطراب باشند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رفتارهای اجتنابی، ایمنی بخش، اطمینان طلبی و تکرار را کاهش دهند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والدین مراقب کسب توجه منفی و نفع ثانوی در کودک باشند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چسبندگی را کم کنند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الگوهای تعاملی و روابط مناسبی را با کودک داشته باشند (بهبود تعامل والد-کودک)</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جهت رفع اضطراب به کودک فشار نیاورند</a:t>
            </a:r>
          </a:p>
        </p:txBody>
      </p:sp>
      <p:sp>
        <p:nvSpPr>
          <p:cNvPr id="6" name="Rectangle 5">
            <a:hlinkClick r:id="rId3" action="ppaction://hlinkfile"/>
          </p:cNvPr>
          <p:cNvSpPr/>
          <p:nvPr/>
        </p:nvSpPr>
        <p:spPr>
          <a:xfrm>
            <a:off x="1209137" y="2492896"/>
            <a:ext cx="2948243" cy="461665"/>
          </a:xfrm>
          <a:prstGeom prst="rect">
            <a:avLst/>
          </a:prstGeom>
        </p:spPr>
        <p:txBody>
          <a:bodyPr wrap="none">
            <a:spAutoFit/>
          </a:bodyPr>
          <a:lstStyle/>
          <a:p>
            <a:pPr>
              <a:defRPr/>
            </a:pPr>
            <a:r>
              <a:rPr lang="fa-IR" sz="2400" b="1" kern="0" dirty="0" smtClean="0">
                <a:solidFill>
                  <a:prstClr val="black"/>
                </a:solidFill>
                <a:cs typeface="B Nazanin" pitchFamily="2" charset="-78"/>
              </a:rPr>
              <a:t>پخش کاربرگ افکار والدین</a:t>
            </a:r>
            <a:endParaRPr lang="fa-IR" sz="2400" kern="0" dirty="0" smtClean="0">
              <a:solidFill>
                <a:sysClr val="windowText" lastClr="000000"/>
              </a:solidFill>
            </a:endParaRPr>
          </a:p>
        </p:txBody>
      </p:sp>
    </p:spTree>
    <p:extLst>
      <p:ext uri="{BB962C8B-B14F-4D97-AF65-F5344CB8AC3E}">
        <p14:creationId xmlns:p14="http://schemas.microsoft.com/office/powerpoint/2010/main" val="24758173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ircle(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ircle(in)">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circle(in)">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circle(in)">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circle(in)">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circle(in)">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4157380" y="326012"/>
            <a:ext cx="4793300" cy="646331"/>
          </a:xfrm>
        </p:spPr>
        <p:txBody>
          <a:bodyPr vert="horz" wrap="none" lIns="91440" tIns="45720" rIns="91440" bIns="45720" rtlCol="1" anchor="ctr">
            <a:spAutoFit/>
          </a:bodyPr>
          <a:lstStyle/>
          <a:p>
            <a:pPr algn="r"/>
            <a:r>
              <a:rPr lang="fa-IR" sz="36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در درمان اضطراب والدین باید</a:t>
            </a:r>
            <a:endParaRPr lang="en-US" sz="36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
        <p:nvSpPr>
          <p:cNvPr id="3" name="Subtitle 2"/>
          <p:cNvSpPr>
            <a:spLocks noGrp="1"/>
          </p:cNvSpPr>
          <p:nvPr>
            <p:ph type="subTitle" idx="1"/>
          </p:nvPr>
        </p:nvSpPr>
        <p:spPr>
          <a:xfrm>
            <a:off x="208594" y="1681198"/>
            <a:ext cx="8712968" cy="4450449"/>
          </a:xfrm>
        </p:spPr>
        <p:txBody>
          <a:bodyPr vert="horz" wrap="square" lIns="91440" tIns="45720" rIns="91440" bIns="45720" rtlCol="1">
            <a:spAutoFit/>
          </a:bodyPr>
          <a:lstStyle/>
          <a:p>
            <a:pPr algn="r"/>
            <a:endPar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endParaRP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مراقب پیام های هیجانی (کلامی و بدنی) خود در برخورد با فرزند باشند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الگوی مناسبی برای مقابله با اضطراب باشند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از حمایت بیش از حد و کنترل زیاد پرهیز کنند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شرایط باثبات و هماهنگی و جو امنی در خانه فراهم کنند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مهارتهای تنظیم هیجانی را به والدین اموزش دهید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بدرفتاری را از مشکلات اضطرابی جدا کنند و برخورد مناسبی کنند (فرزندپروری قاطعانه)</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درمان و تغییر در رفتار کودک را با قاطعیت پیگیری کنند و تحسین کنند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از قصد متناقض و برنامه زمان بندی نیز میتوانید استفاده کنید و تایم تخلیه هیجانی استفاده کنند</a:t>
            </a:r>
          </a:p>
          <a:p>
            <a:pPr marL="457200" indent="-457200" algn="r">
              <a:buFontTx/>
              <a:buChar char="-"/>
            </a:pPr>
            <a:r>
              <a:rPr lang="fa-IR" sz="2400" dirty="0" smtClean="0">
                <a:ln w="18415" cmpd="sng">
                  <a:solidFill>
                    <a:srgbClr val="FFFFFF"/>
                  </a:solidFill>
                  <a:prstDash val="solid"/>
                </a:ln>
                <a:solidFill>
                  <a:srgbClr val="FFFFFF"/>
                </a:solidFill>
                <a:effectLst>
                  <a:glow rad="101600">
                    <a:srgbClr val="0070C0">
                      <a:alpha val="60000"/>
                    </a:srgbClr>
                  </a:glow>
                  <a:outerShdw blurRad="63500" dir="3600000" algn="tl" rotWithShape="0">
                    <a:srgbClr val="000000">
                      <a:alpha val="70000"/>
                    </a:srgbClr>
                  </a:outerShdw>
                </a:effectLst>
                <a:cs typeface="B Kamran" pitchFamily="2" charset="-78"/>
              </a:rPr>
              <a:t>در صورت لزوم از دارو نیز میتوانید استفاده کنید</a:t>
            </a:r>
          </a:p>
        </p:txBody>
      </p:sp>
    </p:spTree>
    <p:extLst>
      <p:ext uri="{BB962C8B-B14F-4D97-AF65-F5344CB8AC3E}">
        <p14:creationId xmlns:p14="http://schemas.microsoft.com/office/powerpoint/2010/main" val="5598990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 y="0"/>
            <a:ext cx="9437688" cy="194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2595329" y="3284984"/>
            <a:ext cx="3954929" cy="1015663"/>
          </a:xfrm>
        </p:spPr>
        <p:txBody>
          <a:bodyPr vert="horz" wrap="none" lIns="91440" tIns="45720" rIns="91440" bIns="45720" rtlCol="1" anchor="ctr">
            <a:spAutoFit/>
          </a:bodyPr>
          <a:lstStyle/>
          <a:p>
            <a:pPr algn="r"/>
            <a:r>
              <a:rPr lang="fa-IR" sz="6000" dirty="0" smtClean="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rPr>
              <a:t>پرسش و پاسخ</a:t>
            </a:r>
            <a:endParaRPr lang="en-US" sz="6000" dirty="0">
              <a:ln w="18415" cmpd="sng">
                <a:solidFill>
                  <a:srgbClr val="FFFFFF"/>
                </a:solidFill>
                <a:prstDash val="solid"/>
              </a:ln>
              <a:solidFill>
                <a:srgbClr val="FFFFFF"/>
              </a:solidFill>
              <a:effectLst>
                <a:glow rad="228600">
                  <a:schemeClr val="accent5">
                    <a:satMod val="175000"/>
                    <a:alpha val="40000"/>
                  </a:schemeClr>
                </a:glow>
                <a:outerShdw blurRad="63500" dir="3600000" algn="tl" rotWithShape="0">
                  <a:srgbClr val="000000">
                    <a:alpha val="70000"/>
                  </a:srgbClr>
                </a:outerShdw>
              </a:effectLst>
              <a:latin typeface="+mn-lt"/>
              <a:ea typeface="+mn-ea"/>
              <a:cs typeface="B Koodak" pitchFamily="2" charset="-78"/>
            </a:endParaRPr>
          </a:p>
        </p:txBody>
      </p:sp>
    </p:spTree>
    <p:extLst>
      <p:ext uri="{BB962C8B-B14F-4D97-AF65-F5344CB8AC3E}">
        <p14:creationId xmlns:p14="http://schemas.microsoft.com/office/powerpoint/2010/main" val="31428686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2030" y="670791"/>
            <a:ext cx="5719836" cy="1154162"/>
          </a:xfrm>
          <a:prstGeom prst="rect">
            <a:avLst/>
          </a:prstGeom>
        </p:spPr>
        <p:txBody>
          <a:bodyPr wrap="none">
            <a:spAutoFit/>
          </a:bodyPr>
          <a:lstStyle/>
          <a:p>
            <a:pPr algn="just">
              <a:lnSpc>
                <a:spcPct val="115000"/>
              </a:lnSpc>
              <a:spcAft>
                <a:spcPts val="1000"/>
              </a:spcAft>
            </a:pPr>
            <a:r>
              <a:rPr lang="fa-IR" sz="60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منابع برای مطالعات بیشتر</a:t>
            </a:r>
            <a:endParaRPr lang="en-US" sz="48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7305" y="1374953"/>
            <a:ext cx="1334250" cy="177900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7305" y="1524953"/>
            <a:ext cx="1334250" cy="1779000"/>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7305" y="1674953"/>
            <a:ext cx="1334250" cy="1779000"/>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97305" y="1824953"/>
            <a:ext cx="1334250" cy="1779000"/>
          </a:xfrm>
          <a:prstGeom prst="rect">
            <a:avLst/>
          </a:prstGeom>
        </p:spPr>
      </p:pic>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47305" y="1974953"/>
            <a:ext cx="1334250" cy="1779000"/>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97305" y="2124953"/>
            <a:ext cx="1334250" cy="1779000"/>
          </a:xfrm>
          <a:prstGeom prst="rect">
            <a:avLst/>
          </a:prstGeom>
        </p:spPr>
      </p:pic>
      <p:pic>
        <p:nvPicPr>
          <p:cNvPr id="11" name="Picture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47305" y="2274953"/>
            <a:ext cx="1334250" cy="1779000"/>
          </a:xfrm>
          <a:prstGeom prst="rect">
            <a:avLst/>
          </a:prstGeom>
        </p:spPr>
      </p:pic>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97305" y="2424953"/>
            <a:ext cx="1334250" cy="1779000"/>
          </a:xfrm>
          <a:prstGeom prst="rect">
            <a:avLst/>
          </a:prstGeom>
        </p:spPr>
      </p:pic>
      <p:pic>
        <p:nvPicPr>
          <p:cNvPr id="13" name="Picture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047305" y="2574953"/>
            <a:ext cx="1334250" cy="1779000"/>
          </a:xfrm>
          <a:prstGeom prst="rect">
            <a:avLst/>
          </a:prstGeom>
        </p:spPr>
      </p:pic>
      <p:pic>
        <p:nvPicPr>
          <p:cNvPr id="14" name="Picture 1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197305" y="2724953"/>
            <a:ext cx="1334250" cy="1779000"/>
          </a:xfrm>
          <a:prstGeom prst="rect">
            <a:avLst/>
          </a:prstGeom>
        </p:spPr>
      </p:pic>
      <p:pic>
        <p:nvPicPr>
          <p:cNvPr id="15" name="Picture 1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347305" y="2874953"/>
            <a:ext cx="1334250" cy="1779000"/>
          </a:xfrm>
          <a:prstGeom prst="rect">
            <a:avLst/>
          </a:prstGeom>
        </p:spPr>
      </p:pic>
      <p:pic>
        <p:nvPicPr>
          <p:cNvPr id="16" name="Picture 1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497305" y="3024953"/>
            <a:ext cx="1334250" cy="1779000"/>
          </a:xfrm>
          <a:prstGeom prst="rect">
            <a:avLst/>
          </a:prstGeom>
        </p:spPr>
      </p:pic>
      <p:pic>
        <p:nvPicPr>
          <p:cNvPr id="17" name="Picture 16"/>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647305" y="3174953"/>
            <a:ext cx="1334250" cy="1779000"/>
          </a:xfrm>
          <a:prstGeom prst="rect">
            <a:avLst/>
          </a:prstGeom>
        </p:spPr>
      </p:pic>
      <p:pic>
        <p:nvPicPr>
          <p:cNvPr id="18" name="Picture 17"/>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797305" y="3324953"/>
            <a:ext cx="1334250" cy="1779000"/>
          </a:xfrm>
          <a:prstGeom prst="rect">
            <a:avLst/>
          </a:prstGeom>
        </p:spPr>
      </p:pic>
      <p:pic>
        <p:nvPicPr>
          <p:cNvPr id="19" name="Picture 18"/>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947305" y="3474953"/>
            <a:ext cx="1334250" cy="1779000"/>
          </a:xfrm>
          <a:prstGeom prst="rect">
            <a:avLst/>
          </a:prstGeom>
        </p:spPr>
      </p:pic>
      <p:pic>
        <p:nvPicPr>
          <p:cNvPr id="20" name="Picture 19"/>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097305" y="3624953"/>
            <a:ext cx="1334250" cy="1779000"/>
          </a:xfrm>
          <a:prstGeom prst="rect">
            <a:avLst/>
          </a:prstGeom>
        </p:spPr>
      </p:pic>
      <p:pic>
        <p:nvPicPr>
          <p:cNvPr id="21" name="Picture 20"/>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247305" y="3774953"/>
            <a:ext cx="1334250" cy="1779000"/>
          </a:xfrm>
          <a:prstGeom prst="rect">
            <a:avLst/>
          </a:prstGeom>
        </p:spPr>
      </p:pic>
      <p:pic>
        <p:nvPicPr>
          <p:cNvPr id="22" name="Picture 21"/>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397305" y="3924953"/>
            <a:ext cx="1334250" cy="1779000"/>
          </a:xfrm>
          <a:prstGeom prst="rect">
            <a:avLst/>
          </a:prstGeom>
        </p:spPr>
      </p:pic>
      <p:pic>
        <p:nvPicPr>
          <p:cNvPr id="23" name="Picture 22"/>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3547305" y="4074953"/>
            <a:ext cx="1334250" cy="1779000"/>
          </a:xfrm>
          <a:prstGeom prst="rect">
            <a:avLst/>
          </a:prstGeom>
        </p:spPr>
      </p:pic>
      <p:pic>
        <p:nvPicPr>
          <p:cNvPr id="24" name="Picture 23"/>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697305" y="4224953"/>
            <a:ext cx="1334250" cy="1779000"/>
          </a:xfrm>
          <a:prstGeom prst="rect">
            <a:avLst/>
          </a:prstGeom>
        </p:spPr>
      </p:pic>
      <p:pic>
        <p:nvPicPr>
          <p:cNvPr id="25" name="Picture 24"/>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847305" y="4374953"/>
            <a:ext cx="1334250" cy="1779000"/>
          </a:xfrm>
          <a:prstGeom prst="rect">
            <a:avLst/>
          </a:prstGeom>
        </p:spPr>
      </p:pic>
      <p:pic>
        <p:nvPicPr>
          <p:cNvPr id="3" name="Picture 2"/>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4281555" y="4653953"/>
            <a:ext cx="1334250" cy="1779000"/>
          </a:xfrm>
          <a:prstGeom prst="rect">
            <a:avLst/>
          </a:prstGeom>
        </p:spPr>
      </p:pic>
      <p:pic>
        <p:nvPicPr>
          <p:cNvPr id="4" name="Picture 3"/>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4694803" y="4794466"/>
            <a:ext cx="1334250" cy="1779000"/>
          </a:xfrm>
          <a:prstGeom prst="rect">
            <a:avLst/>
          </a:prstGeom>
        </p:spPr>
      </p:pic>
    </p:spTree>
    <p:extLst>
      <p:ext uri="{BB962C8B-B14F-4D97-AF65-F5344CB8AC3E}">
        <p14:creationId xmlns:p14="http://schemas.microsoft.com/office/powerpoint/2010/main" val="5162252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250"/>
                                        <p:tgtEl>
                                          <p:spTgt spid="4"/>
                                        </p:tgtEl>
                                      </p:cBhvr>
                                    </p:animEffect>
                                  </p:childTnLst>
                                </p:cTn>
                              </p:par>
                            </p:childTnLst>
                          </p:cTn>
                        </p:par>
                        <p:par>
                          <p:cTn id="8" fill="hold">
                            <p:stCondLst>
                              <p:cond delay="25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250"/>
                                        <p:tgtEl>
                                          <p:spTgt spid="3"/>
                                        </p:tgtEl>
                                      </p:cBhvr>
                                    </p:animEffect>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down)">
                                      <p:cBhvr>
                                        <p:cTn id="15" dur="250"/>
                                        <p:tgtEl>
                                          <p:spTgt spid="25"/>
                                        </p:tgtEl>
                                      </p:cBhvr>
                                    </p:animEffect>
                                  </p:childTnLst>
                                </p:cTn>
                              </p:par>
                            </p:childTnLst>
                          </p:cTn>
                        </p:par>
                        <p:par>
                          <p:cTn id="16" fill="hold">
                            <p:stCondLst>
                              <p:cond delay="750"/>
                            </p:stCondLst>
                            <p:childTnLst>
                              <p:par>
                                <p:cTn id="17" presetID="22" presetClass="entr" presetSubtype="4"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down)">
                                      <p:cBhvr>
                                        <p:cTn id="19" dur="250"/>
                                        <p:tgtEl>
                                          <p:spTgt spid="24"/>
                                        </p:tgtEl>
                                      </p:cBhvr>
                                    </p:animEffect>
                                  </p:childTnLst>
                                </p:cTn>
                              </p:par>
                            </p:childTnLst>
                          </p:cTn>
                        </p:par>
                        <p:par>
                          <p:cTn id="20" fill="hold">
                            <p:stCondLst>
                              <p:cond delay="1000"/>
                            </p:stCondLst>
                            <p:childTnLst>
                              <p:par>
                                <p:cTn id="21" presetID="22" presetClass="entr" presetSubtype="4" fill="hold" nodeType="after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250"/>
                                        <p:tgtEl>
                                          <p:spTgt spid="23"/>
                                        </p:tgtEl>
                                      </p:cBhvr>
                                    </p:animEffect>
                                  </p:childTnLst>
                                </p:cTn>
                              </p:par>
                            </p:childTnLst>
                          </p:cTn>
                        </p:par>
                        <p:par>
                          <p:cTn id="24" fill="hold">
                            <p:stCondLst>
                              <p:cond delay="1250"/>
                            </p:stCondLst>
                            <p:childTnLst>
                              <p:par>
                                <p:cTn id="25" presetID="22" presetClass="entr" presetSubtype="4"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250"/>
                                        <p:tgtEl>
                                          <p:spTgt spid="22"/>
                                        </p:tgtEl>
                                      </p:cBhvr>
                                    </p:animEffect>
                                  </p:childTnLst>
                                </p:cTn>
                              </p:par>
                            </p:childTnLst>
                          </p:cTn>
                        </p:par>
                        <p:par>
                          <p:cTn id="28" fill="hold">
                            <p:stCondLst>
                              <p:cond delay="1500"/>
                            </p:stCondLst>
                            <p:childTnLst>
                              <p:par>
                                <p:cTn id="29" presetID="22" presetClass="entr" presetSubtype="4"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250"/>
                                        <p:tgtEl>
                                          <p:spTgt spid="21"/>
                                        </p:tgtEl>
                                      </p:cBhvr>
                                    </p:animEffect>
                                  </p:childTnLst>
                                </p:cTn>
                              </p:par>
                            </p:childTnLst>
                          </p:cTn>
                        </p:par>
                        <p:par>
                          <p:cTn id="32" fill="hold">
                            <p:stCondLst>
                              <p:cond delay="1750"/>
                            </p:stCondLst>
                            <p:childTnLst>
                              <p:par>
                                <p:cTn id="33" presetID="2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down)">
                                      <p:cBhvr>
                                        <p:cTn id="35" dur="250"/>
                                        <p:tgtEl>
                                          <p:spTgt spid="20"/>
                                        </p:tgtEl>
                                      </p:cBhvr>
                                    </p:animEffect>
                                  </p:childTnLst>
                                </p:cTn>
                              </p:par>
                            </p:childTnLst>
                          </p:cTn>
                        </p:par>
                        <p:par>
                          <p:cTn id="36" fill="hold">
                            <p:stCondLst>
                              <p:cond delay="2000"/>
                            </p:stCondLst>
                            <p:childTnLst>
                              <p:par>
                                <p:cTn id="37" presetID="22" presetClass="entr" presetSubtype="4"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250"/>
                                        <p:tgtEl>
                                          <p:spTgt spid="19"/>
                                        </p:tgtEl>
                                      </p:cBhvr>
                                    </p:animEffect>
                                  </p:childTnLst>
                                </p:cTn>
                              </p:par>
                            </p:childTnLst>
                          </p:cTn>
                        </p:par>
                        <p:par>
                          <p:cTn id="40" fill="hold">
                            <p:stCondLst>
                              <p:cond delay="2250"/>
                            </p:stCondLst>
                            <p:childTnLst>
                              <p:par>
                                <p:cTn id="41" presetID="22" presetClass="entr" presetSubtype="4"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250"/>
                                        <p:tgtEl>
                                          <p:spTgt spid="18"/>
                                        </p:tgtEl>
                                      </p:cBhvr>
                                    </p:animEffect>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down)">
                                      <p:cBhvr>
                                        <p:cTn id="47" dur="250"/>
                                        <p:tgtEl>
                                          <p:spTgt spid="17"/>
                                        </p:tgtEl>
                                      </p:cBhvr>
                                    </p:animEffect>
                                  </p:childTnLst>
                                </p:cTn>
                              </p:par>
                            </p:childTnLst>
                          </p:cTn>
                        </p:par>
                        <p:par>
                          <p:cTn id="48" fill="hold">
                            <p:stCondLst>
                              <p:cond delay="2750"/>
                            </p:stCondLst>
                            <p:childTnLst>
                              <p:par>
                                <p:cTn id="49" presetID="22" presetClass="entr" presetSubtype="4"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down)">
                                      <p:cBhvr>
                                        <p:cTn id="51" dur="250"/>
                                        <p:tgtEl>
                                          <p:spTgt spid="16"/>
                                        </p:tgtEl>
                                      </p:cBhvr>
                                    </p:animEffect>
                                  </p:childTnLst>
                                </p:cTn>
                              </p:par>
                            </p:childTnLst>
                          </p:cTn>
                        </p:par>
                        <p:par>
                          <p:cTn id="52" fill="hold">
                            <p:stCondLst>
                              <p:cond delay="3000"/>
                            </p:stCondLst>
                            <p:childTnLst>
                              <p:par>
                                <p:cTn id="53" presetID="22" presetClass="entr" presetSubtype="4"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down)">
                                      <p:cBhvr>
                                        <p:cTn id="55" dur="250"/>
                                        <p:tgtEl>
                                          <p:spTgt spid="15"/>
                                        </p:tgtEl>
                                      </p:cBhvr>
                                    </p:animEffect>
                                  </p:childTnLst>
                                </p:cTn>
                              </p:par>
                            </p:childTnLst>
                          </p:cTn>
                        </p:par>
                        <p:par>
                          <p:cTn id="56" fill="hold">
                            <p:stCondLst>
                              <p:cond delay="3250"/>
                            </p:stCondLst>
                            <p:childTnLst>
                              <p:par>
                                <p:cTn id="57" presetID="22" presetClass="entr" presetSubtype="4"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down)">
                                      <p:cBhvr>
                                        <p:cTn id="59" dur="250"/>
                                        <p:tgtEl>
                                          <p:spTgt spid="14"/>
                                        </p:tgtEl>
                                      </p:cBhvr>
                                    </p:animEffect>
                                  </p:childTnLst>
                                </p:cTn>
                              </p:par>
                            </p:childTnLst>
                          </p:cTn>
                        </p:par>
                        <p:par>
                          <p:cTn id="60" fill="hold">
                            <p:stCondLst>
                              <p:cond delay="3500"/>
                            </p:stCondLst>
                            <p:childTnLst>
                              <p:par>
                                <p:cTn id="61" presetID="22" presetClass="entr" presetSubtype="4" fill="hold"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down)">
                                      <p:cBhvr>
                                        <p:cTn id="63" dur="250"/>
                                        <p:tgtEl>
                                          <p:spTgt spid="13"/>
                                        </p:tgtEl>
                                      </p:cBhvr>
                                    </p:animEffect>
                                  </p:childTnLst>
                                </p:cTn>
                              </p:par>
                            </p:childTnLst>
                          </p:cTn>
                        </p:par>
                        <p:par>
                          <p:cTn id="64" fill="hold">
                            <p:stCondLst>
                              <p:cond delay="3750"/>
                            </p:stCondLst>
                            <p:childTnLst>
                              <p:par>
                                <p:cTn id="65" presetID="22" presetClass="entr" presetSubtype="4" fill="hold"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wipe(down)">
                                      <p:cBhvr>
                                        <p:cTn id="67" dur="250"/>
                                        <p:tgtEl>
                                          <p:spTgt spid="12"/>
                                        </p:tgtEl>
                                      </p:cBhvr>
                                    </p:animEffect>
                                  </p:childTnLst>
                                </p:cTn>
                              </p:par>
                            </p:childTnLst>
                          </p:cTn>
                        </p:par>
                        <p:par>
                          <p:cTn id="68" fill="hold">
                            <p:stCondLst>
                              <p:cond delay="4000"/>
                            </p:stCondLst>
                            <p:childTnLst>
                              <p:par>
                                <p:cTn id="69" presetID="22" presetClass="entr" presetSubtype="4" fill="hold" nodeType="after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wipe(down)">
                                      <p:cBhvr>
                                        <p:cTn id="71" dur="250"/>
                                        <p:tgtEl>
                                          <p:spTgt spid="11"/>
                                        </p:tgtEl>
                                      </p:cBhvr>
                                    </p:animEffect>
                                  </p:childTnLst>
                                </p:cTn>
                              </p:par>
                            </p:childTnLst>
                          </p:cTn>
                        </p:par>
                        <p:par>
                          <p:cTn id="72" fill="hold">
                            <p:stCondLst>
                              <p:cond delay="4250"/>
                            </p:stCondLst>
                            <p:childTnLst>
                              <p:par>
                                <p:cTn id="73" presetID="22" presetClass="entr" presetSubtype="4" fill="hold" nodeType="after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down)">
                                      <p:cBhvr>
                                        <p:cTn id="75" dur="250"/>
                                        <p:tgtEl>
                                          <p:spTgt spid="10"/>
                                        </p:tgtEl>
                                      </p:cBhvr>
                                    </p:animEffect>
                                  </p:childTnLst>
                                </p:cTn>
                              </p:par>
                            </p:childTnLst>
                          </p:cTn>
                        </p:par>
                        <p:par>
                          <p:cTn id="76" fill="hold">
                            <p:stCondLst>
                              <p:cond delay="4500"/>
                            </p:stCondLst>
                            <p:childTnLst>
                              <p:par>
                                <p:cTn id="77" presetID="22" presetClass="entr" presetSubtype="4" fill="hold" nodeType="after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wipe(down)">
                                      <p:cBhvr>
                                        <p:cTn id="79" dur="250"/>
                                        <p:tgtEl>
                                          <p:spTgt spid="9"/>
                                        </p:tgtEl>
                                      </p:cBhvr>
                                    </p:animEffect>
                                  </p:childTnLst>
                                </p:cTn>
                              </p:par>
                            </p:childTnLst>
                          </p:cTn>
                        </p:par>
                        <p:par>
                          <p:cTn id="80" fill="hold">
                            <p:stCondLst>
                              <p:cond delay="4750"/>
                            </p:stCondLst>
                            <p:childTnLst>
                              <p:par>
                                <p:cTn id="81" presetID="22" presetClass="entr" presetSubtype="4" fill="hold" nodeType="after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wipe(down)">
                                      <p:cBhvr>
                                        <p:cTn id="83" dur="250"/>
                                        <p:tgtEl>
                                          <p:spTgt spid="8"/>
                                        </p:tgtEl>
                                      </p:cBhvr>
                                    </p:animEffect>
                                  </p:childTnLst>
                                </p:cTn>
                              </p:par>
                            </p:childTnLst>
                          </p:cTn>
                        </p:par>
                        <p:par>
                          <p:cTn id="84" fill="hold">
                            <p:stCondLst>
                              <p:cond delay="5000"/>
                            </p:stCondLst>
                            <p:childTnLst>
                              <p:par>
                                <p:cTn id="85" presetID="22" presetClass="entr" presetSubtype="4" fill="hold" nodeType="after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down)">
                                      <p:cBhvr>
                                        <p:cTn id="87" dur="250"/>
                                        <p:tgtEl>
                                          <p:spTgt spid="7"/>
                                        </p:tgtEl>
                                      </p:cBhvr>
                                    </p:animEffect>
                                  </p:childTnLst>
                                </p:cTn>
                              </p:par>
                            </p:childTnLst>
                          </p:cTn>
                        </p:par>
                        <p:par>
                          <p:cTn id="88" fill="hold">
                            <p:stCondLst>
                              <p:cond delay="5250"/>
                            </p:stCondLst>
                            <p:childTnLst>
                              <p:par>
                                <p:cTn id="89" presetID="22" presetClass="entr" presetSubtype="4" fill="hold" nodeType="after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wipe(down)">
                                      <p:cBhvr>
                                        <p:cTn id="91" dur="250"/>
                                        <p:tgtEl>
                                          <p:spTgt spid="6"/>
                                        </p:tgtEl>
                                      </p:cBhvr>
                                    </p:animEffect>
                                  </p:childTnLst>
                                </p:cTn>
                              </p:par>
                            </p:childTnLst>
                          </p:cTn>
                        </p:par>
                        <p:par>
                          <p:cTn id="92" fill="hold">
                            <p:stCondLst>
                              <p:cond delay="5500"/>
                            </p:stCondLst>
                            <p:childTnLst>
                              <p:par>
                                <p:cTn id="93" presetID="22" presetClass="entr" presetSubtype="4" fill="hold" nodeType="afterEffect">
                                  <p:stCondLst>
                                    <p:cond delay="0"/>
                                  </p:stCondLst>
                                  <p:childTnLst>
                                    <p:set>
                                      <p:cBhvr>
                                        <p:cTn id="94" dur="1" fill="hold">
                                          <p:stCondLst>
                                            <p:cond delay="0"/>
                                          </p:stCondLst>
                                        </p:cTn>
                                        <p:tgtEl>
                                          <p:spTgt spid="5"/>
                                        </p:tgtEl>
                                        <p:attrNameLst>
                                          <p:attrName>style.visibility</p:attrName>
                                        </p:attrNameLst>
                                      </p:cBhvr>
                                      <p:to>
                                        <p:strVal val="visible"/>
                                      </p:to>
                                    </p:set>
                                    <p:animEffect transition="in" filter="wipe(down)">
                                      <p:cBhvr>
                                        <p:cTn id="95"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416" y="260647"/>
            <a:ext cx="8784976" cy="446276"/>
          </a:xfrm>
          <a:prstGeom prst="rect">
            <a:avLst/>
          </a:prstGeom>
        </p:spPr>
        <p:txBody>
          <a:bodyPr wrap="square">
            <a:spAutoFit/>
          </a:bodyPr>
          <a:lstStyle/>
          <a:p>
            <a:pPr algn="ctr">
              <a:lnSpc>
                <a:spcPct val="115000"/>
              </a:lnSpc>
              <a:spcAft>
                <a:spcPts val="1000"/>
              </a:spcAft>
            </a:pPr>
            <a:r>
              <a:rPr lang="fa-IR" sz="20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Zar"/>
              </a:rPr>
              <a:t>منابعی برای شناخت و درمان اختلالات و مشکلات رفتاری شایع دوران کودکی و نوجوانی</a:t>
            </a:r>
            <a:endParaRPr lang="en-US" sz="16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Times New Roman"/>
            </a:endParaRPr>
          </a:p>
        </p:txBody>
      </p:sp>
      <p:sp>
        <p:nvSpPr>
          <p:cNvPr id="3" name="Rectangle 2"/>
          <p:cNvSpPr/>
          <p:nvPr/>
        </p:nvSpPr>
        <p:spPr>
          <a:xfrm>
            <a:off x="1619672" y="908720"/>
            <a:ext cx="7366440" cy="5463034"/>
          </a:xfrm>
          <a:prstGeom prst="rect">
            <a:avLst/>
          </a:prstGeom>
        </p:spPr>
        <p:txBody>
          <a:bodyPr wrap="square">
            <a:spAutoFit/>
          </a:bodyPr>
          <a:lstStyle/>
          <a:p>
            <a:pPr algn="just">
              <a:lnSpc>
                <a:spcPct val="150000"/>
              </a:lnSpc>
              <a:spcAft>
                <a:spcPts val="1000"/>
              </a:spcAft>
            </a:pPr>
            <a:r>
              <a:rPr lang="fa-IR"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سنجش و درمان مشکلات دوران کودکی. کارولین اس شرودر  و بتی ان گوردون. ترجمه مهرداد فیروزبخت. نشر دانژه.</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اختلالات روانی کودکان: رویکردی رفتاری به نظریه-پژوهش و درمان. آلن اُ راس. ترجمه امیرهوشنگ مهریار. نشر رشد.</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طرح ها و الگوهای خانواده درمانی و آموزش والدین: راهنمای جامع حل مشکلات رفتاری در کودکان و نوجوانان. آناهیتا خدابخشی کولایی. نشر جنگل.</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روان درمانی کودکان: راهنمای گام به گام درمان مشکلات روانی کودکان. آرتور ای جانگسما و همکاران. ترجمه سید علی کیمیایی و احمد امیدوار. نشر رشد</a:t>
            </a: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63" y="1042472"/>
            <a:ext cx="1167594" cy="1556792"/>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078" y="2389244"/>
            <a:ext cx="1167594" cy="1556792"/>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796789"/>
            <a:ext cx="1167594" cy="1556792"/>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73078" y="4964658"/>
            <a:ext cx="1167594" cy="1556792"/>
          </a:xfrm>
          <a:prstGeom prst="rect">
            <a:avLst/>
          </a:prstGeom>
        </p:spPr>
      </p:pic>
    </p:spTree>
    <p:extLst>
      <p:ext uri="{BB962C8B-B14F-4D97-AF65-F5344CB8AC3E}">
        <p14:creationId xmlns:p14="http://schemas.microsoft.com/office/powerpoint/2010/main" val="8022318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500"/>
                                        <p:tgtEl>
                                          <p:spTgt spid="5"/>
                                        </p:tgtEl>
                                      </p:cBhvr>
                                    </p:animEffect>
                                  </p:childTnLst>
                                </p:cTn>
                              </p:par>
                            </p:childTnLst>
                          </p:cTn>
                        </p:par>
                        <p:par>
                          <p:cTn id="8" fill="hold">
                            <p:stCondLst>
                              <p:cond delay="2500"/>
                            </p:stCondLst>
                            <p:childTnLst>
                              <p:par>
                                <p:cTn id="9" presetID="6"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ircle(in)">
                                      <p:cBhvr>
                                        <p:cTn id="11" dur="2500"/>
                                        <p:tgtEl>
                                          <p:spTgt spid="4"/>
                                        </p:tgtEl>
                                      </p:cBhvr>
                                    </p:animEffect>
                                  </p:childTnLst>
                                </p:cTn>
                              </p:par>
                            </p:childTnLst>
                          </p:cTn>
                        </p:par>
                        <p:par>
                          <p:cTn id="12" fill="hold">
                            <p:stCondLst>
                              <p:cond delay="5000"/>
                            </p:stCondLst>
                            <p:childTnLst>
                              <p:par>
                                <p:cTn id="13" presetID="6" presetClass="entr" presetSubtype="16"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ircle(in)">
                                      <p:cBhvr>
                                        <p:cTn id="15" dur="2500"/>
                                        <p:tgtEl>
                                          <p:spTgt spid="7"/>
                                        </p:tgtEl>
                                      </p:cBhvr>
                                    </p:animEffect>
                                  </p:childTnLst>
                                </p:cTn>
                              </p:par>
                            </p:childTnLst>
                          </p:cTn>
                        </p:par>
                        <p:par>
                          <p:cTn id="16" fill="hold">
                            <p:stCondLst>
                              <p:cond delay="7500"/>
                            </p:stCondLst>
                            <p:childTnLst>
                              <p:par>
                                <p:cTn id="17" presetID="6" presetClass="entr" presetSubtype="16"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416" y="260647"/>
            <a:ext cx="8784976" cy="446276"/>
          </a:xfrm>
          <a:prstGeom prst="rect">
            <a:avLst/>
          </a:prstGeom>
        </p:spPr>
        <p:txBody>
          <a:bodyPr wrap="square">
            <a:spAutoFit/>
          </a:bodyPr>
          <a:lstStyle/>
          <a:p>
            <a:pPr algn="ctr">
              <a:lnSpc>
                <a:spcPct val="115000"/>
              </a:lnSpc>
              <a:spcAft>
                <a:spcPts val="1000"/>
              </a:spcAft>
            </a:pPr>
            <a:r>
              <a:rPr lang="fa-IR" sz="20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Zar"/>
              </a:rPr>
              <a:t>منابعی برای شناخت و درمان اختلالات </a:t>
            </a:r>
            <a:r>
              <a:rPr lang="fa-IR" sz="20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Zar"/>
              </a:rPr>
              <a:t>اضطرابی کودکان</a:t>
            </a:r>
            <a:endParaRPr lang="en-US" sz="16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Times New Roman"/>
            </a:endParaRPr>
          </a:p>
        </p:txBody>
      </p:sp>
      <p:sp>
        <p:nvSpPr>
          <p:cNvPr id="3" name="Rectangle 2"/>
          <p:cNvSpPr/>
          <p:nvPr/>
        </p:nvSpPr>
        <p:spPr>
          <a:xfrm>
            <a:off x="1979712" y="908720"/>
            <a:ext cx="7006400" cy="5037276"/>
          </a:xfrm>
          <a:prstGeom prst="rect">
            <a:avLst/>
          </a:prstGeom>
        </p:spPr>
        <p:txBody>
          <a:bodyPr wrap="square">
            <a:spAutoFit/>
          </a:bodyPr>
          <a:lstStyle/>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درمان شناختی رفتاری برای کودکان و خانواده ها، کرامزف ترجمه ، نشر دانشگاه علوم بهزیستی</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درمان شناختی رفتاری برای اضطراب کودکان، کندال، ترجمه زهرا شهریور. نشر ارجمند</a:t>
            </a:r>
          </a:p>
          <a:p>
            <a:pPr algn="just">
              <a:lnSpc>
                <a:spcPct val="150000"/>
              </a:lnSpc>
              <a:spcAft>
                <a:spcPts val="1000"/>
              </a:spcAft>
            </a:pPr>
            <a:endParaRPr lang="en-US"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کتاب کار درمان اضطراب کودکان. کندال. ترجمه افشاری. انتشارات جهاد دانشگاهی</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کلیدهای مقابله با اضطراب کودکان. ماتاسیس. ترجمه فرنود. نشر صابرین</a:t>
            </a:r>
          </a:p>
        </p:txBody>
      </p:sp>
      <p:pic>
        <p:nvPicPr>
          <p:cNvPr id="8195" name="Picture 3" descr="C:\Users\computer shahr\Desktop\9343013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413" y="3704357"/>
            <a:ext cx="1333500" cy="1889125"/>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C:\Users\computer shahr\Desktop\1164520256236401501621741611478224711514124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819" y="5025219"/>
            <a:ext cx="1264093" cy="14747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486" y="1878920"/>
            <a:ext cx="1500758" cy="2176099"/>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119" y="602693"/>
            <a:ext cx="1208733" cy="2148859"/>
          </a:xfrm>
          <a:prstGeom prst="rect">
            <a:avLst/>
          </a:prstGeom>
        </p:spPr>
      </p:pic>
    </p:spTree>
    <p:extLst>
      <p:ext uri="{BB962C8B-B14F-4D97-AF65-F5344CB8AC3E}">
        <p14:creationId xmlns:p14="http://schemas.microsoft.com/office/powerpoint/2010/main" val="38495934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416" y="260647"/>
            <a:ext cx="8784976" cy="446276"/>
          </a:xfrm>
          <a:prstGeom prst="rect">
            <a:avLst/>
          </a:prstGeom>
        </p:spPr>
        <p:txBody>
          <a:bodyPr wrap="square">
            <a:spAutoFit/>
          </a:bodyPr>
          <a:lstStyle/>
          <a:p>
            <a:pPr algn="ctr">
              <a:lnSpc>
                <a:spcPct val="115000"/>
              </a:lnSpc>
              <a:spcAft>
                <a:spcPts val="1000"/>
              </a:spcAft>
            </a:pPr>
            <a:r>
              <a:rPr lang="fa-IR" sz="20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Zar"/>
              </a:rPr>
              <a:t>منابعی برای شناخت و درمان اختلالات </a:t>
            </a:r>
            <a:r>
              <a:rPr lang="fa-IR" sz="20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B Zar"/>
              </a:rPr>
              <a:t>اضطرابی کودکان</a:t>
            </a:r>
            <a:endParaRPr lang="en-US" sz="16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a:cs typeface="Times New Roman"/>
            </a:endParaRPr>
          </a:p>
        </p:txBody>
      </p:sp>
      <p:sp>
        <p:nvSpPr>
          <p:cNvPr id="3" name="Rectangle 2"/>
          <p:cNvSpPr/>
          <p:nvPr/>
        </p:nvSpPr>
        <p:spPr>
          <a:xfrm>
            <a:off x="1979712" y="908720"/>
            <a:ext cx="7006400" cy="5165517"/>
          </a:xfrm>
          <a:prstGeom prst="rect">
            <a:avLst/>
          </a:prstGeom>
        </p:spPr>
        <p:txBody>
          <a:bodyPr wrap="square">
            <a:spAutoFit/>
          </a:bodyPr>
          <a:lstStyle/>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کمک به کودکان مبتلا به وسواس و اضطراب براساس دلبستگی، ساندرلند، ترجمه بهرامی، نشر ارجمند</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علی و خانه لرزان، ساندرلند، ترجمه بهرامی، نشر ارجمند</a:t>
            </a:r>
          </a:p>
          <a:p>
            <a:pPr algn="just">
              <a:lnSpc>
                <a:spcPct val="150000"/>
              </a:lnSpc>
              <a:spcAft>
                <a:spcPts val="1000"/>
              </a:spcAft>
            </a:pPr>
            <a:endPar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endParaRPr lang="en-US"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کمک به کودک مضطرب راهنمای درمانگران، لینهام، ترجمه رستمی ، نشر ارجمند</a:t>
            </a:r>
            <a:endParaRPr lang="en-US" sz="2400" dirty="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Times New Roman"/>
            </a:endParaRPr>
          </a:p>
          <a:p>
            <a:pPr algn="just">
              <a:lnSpc>
                <a:spcPct val="150000"/>
              </a:lnSpc>
              <a:spcAft>
                <a:spcPts val="1000"/>
              </a:spcAft>
            </a:pPr>
            <a:r>
              <a:rPr lang="fa-IR" sz="2400" dirty="0" smtClean="0">
                <a:ln w="18415" cmpd="sng">
                  <a:solidFill>
                    <a:srgbClr val="FFFFFF"/>
                  </a:solidFill>
                  <a:prstDash val="solid"/>
                </a:ln>
                <a:solidFill>
                  <a:srgbClr val="FFFFFF"/>
                </a:solidFill>
                <a:effectLst>
                  <a:glow rad="228600">
                    <a:srgbClr val="4F81BD">
                      <a:satMod val="175000"/>
                      <a:alpha val="40000"/>
                    </a:srgbClr>
                  </a:glow>
                  <a:outerShdw blurRad="63500" dir="3600000" algn="tl" rotWithShape="0">
                    <a:srgbClr val="000000">
                      <a:alpha val="70000"/>
                    </a:srgbClr>
                  </a:outerShdw>
                </a:effectLst>
                <a:ea typeface="Calibri"/>
                <a:cs typeface="B Zar"/>
              </a:rPr>
              <a:t>کمک به کودک مضطرب کتاب کار، لینهام، ترجمه رستمی، نشر ارجمند</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15" y="483785"/>
            <a:ext cx="1666875" cy="2352675"/>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4656" y="1916832"/>
            <a:ext cx="1190625" cy="161925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7242" y="5131887"/>
            <a:ext cx="1212726" cy="172611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60" y="3327734"/>
            <a:ext cx="1356742" cy="2012501"/>
          </a:xfrm>
          <a:prstGeom prst="rect">
            <a:avLst/>
          </a:prstGeom>
        </p:spPr>
      </p:pic>
    </p:spTree>
    <p:extLst>
      <p:ext uri="{BB962C8B-B14F-4D97-AF65-F5344CB8AC3E}">
        <p14:creationId xmlns:p14="http://schemas.microsoft.com/office/powerpoint/2010/main" val="29529815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ChangeArrowheads="1"/>
          </p:cNvSpPr>
          <p:nvPr/>
        </p:nvSpPr>
        <p:spPr bwMode="auto">
          <a:xfrm>
            <a:off x="34680" y="333375"/>
            <a:ext cx="88825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fontAlgn="base">
              <a:spcBef>
                <a:spcPct val="0"/>
              </a:spcBef>
              <a:spcAft>
                <a:spcPct val="0"/>
              </a:spcAft>
              <a:buFontTx/>
              <a:buNone/>
            </a:pPr>
            <a:r>
              <a:rPr lang="fa-IR" altLang="en-US" sz="2400" b="1" dirty="0">
                <a:solidFill>
                  <a:srgbClr val="000000"/>
                </a:solidFill>
                <a:ea typeface="2  Davat"/>
                <a:cs typeface="2  Davat"/>
              </a:rPr>
              <a:t>نقاط قوت و </a:t>
            </a:r>
            <a:r>
              <a:rPr lang="fa-IR" altLang="en-US" sz="2400" b="1" dirty="0" smtClean="0">
                <a:solidFill>
                  <a:srgbClr val="000000"/>
                </a:solidFill>
                <a:ea typeface="2  Davat"/>
                <a:cs typeface="2  Davat"/>
              </a:rPr>
              <a:t>ضعف این کارگاه را در حین اجرا </a:t>
            </a:r>
            <a:r>
              <a:rPr lang="fa-IR" altLang="en-US" sz="2400" b="1" dirty="0">
                <a:solidFill>
                  <a:srgbClr val="000000"/>
                </a:solidFill>
                <a:ea typeface="2  Davat"/>
                <a:cs typeface="2  Davat"/>
              </a:rPr>
              <a:t>بنویسید در: برگه انتقادات و پیشنهادات	</a:t>
            </a:r>
          </a:p>
        </p:txBody>
      </p:sp>
      <p:graphicFrame>
        <p:nvGraphicFramePr>
          <p:cNvPr id="5" name="Table 4"/>
          <p:cNvGraphicFramePr>
            <a:graphicFrameLocks noGrp="1"/>
          </p:cNvGraphicFramePr>
          <p:nvPr>
            <p:extLst/>
          </p:nvPr>
        </p:nvGraphicFramePr>
        <p:xfrm>
          <a:off x="395535" y="1006608"/>
          <a:ext cx="8208912" cy="5704684"/>
        </p:xfrm>
        <a:graphic>
          <a:graphicData uri="http://schemas.openxmlformats.org/drawingml/2006/table">
            <a:tbl>
              <a:tblPr rtl="1" firstRow="1" bandRow="1">
                <a:tableStyleId>{8A107856-5554-42FB-B03E-39F5DBC370BA}</a:tableStyleId>
              </a:tblPr>
              <a:tblGrid>
                <a:gridCol w="2052228">
                  <a:extLst>
                    <a:ext uri="{9D8B030D-6E8A-4147-A177-3AD203B41FA5}">
                      <a16:colId xmlns:a16="http://schemas.microsoft.com/office/drawing/2014/main" val="20000"/>
                    </a:ext>
                  </a:extLst>
                </a:gridCol>
                <a:gridCol w="2052228">
                  <a:extLst>
                    <a:ext uri="{9D8B030D-6E8A-4147-A177-3AD203B41FA5}">
                      <a16:colId xmlns:a16="http://schemas.microsoft.com/office/drawing/2014/main" val="20001"/>
                    </a:ext>
                  </a:extLst>
                </a:gridCol>
                <a:gridCol w="2052228">
                  <a:extLst>
                    <a:ext uri="{9D8B030D-6E8A-4147-A177-3AD203B41FA5}">
                      <a16:colId xmlns:a16="http://schemas.microsoft.com/office/drawing/2014/main" val="20002"/>
                    </a:ext>
                  </a:extLst>
                </a:gridCol>
                <a:gridCol w="2052228">
                  <a:extLst>
                    <a:ext uri="{9D8B030D-6E8A-4147-A177-3AD203B41FA5}">
                      <a16:colId xmlns:a16="http://schemas.microsoft.com/office/drawing/2014/main" val="20003"/>
                    </a:ext>
                  </a:extLst>
                </a:gridCol>
              </a:tblGrid>
              <a:tr h="1270264">
                <a:tc>
                  <a:txBody>
                    <a:bodyPr/>
                    <a:lstStyle/>
                    <a:p>
                      <a:pPr algn="ctr" rtl="1"/>
                      <a:r>
                        <a:rPr lang="fa-IR" sz="2800" dirty="0" smtClean="0">
                          <a:cs typeface="B Lotus" pitchFamily="2" charset="-78"/>
                        </a:rPr>
                        <a:t>مدرس</a:t>
                      </a:r>
                      <a:endParaRPr lang="fa-IR" sz="2800" dirty="0">
                        <a:cs typeface="B Lotus" pitchFamily="2" charset="-78"/>
                      </a:endParaRPr>
                    </a:p>
                  </a:txBody>
                  <a:tcPr marL="91464" marR="91464" marT="45714" marB="45714"/>
                </a:tc>
                <a:tc>
                  <a:txBody>
                    <a:bodyPr/>
                    <a:lstStyle/>
                    <a:p>
                      <a:pPr algn="ctr" rtl="1"/>
                      <a:r>
                        <a:rPr lang="fa-IR" sz="2800" dirty="0" smtClean="0">
                          <a:cs typeface="B Lotus" pitchFamily="2" charset="-78"/>
                        </a:rPr>
                        <a:t>محتوی آموزشی</a:t>
                      </a:r>
                      <a:endParaRPr lang="fa-IR" sz="2800" dirty="0">
                        <a:cs typeface="B Lotus" pitchFamily="2" charset="-78"/>
                      </a:endParaRPr>
                    </a:p>
                  </a:txBody>
                  <a:tcPr marL="91464" marR="91464" marT="45714" marB="45714"/>
                </a:tc>
                <a:tc>
                  <a:txBody>
                    <a:bodyPr/>
                    <a:lstStyle/>
                    <a:p>
                      <a:pPr algn="ctr" rtl="1"/>
                      <a:r>
                        <a:rPr lang="fa-IR" sz="2800" dirty="0" smtClean="0">
                          <a:cs typeface="B Lotus" pitchFamily="2" charset="-78"/>
                        </a:rPr>
                        <a:t>پذیرایی و فضا</a:t>
                      </a:r>
                      <a:endParaRPr lang="fa-IR" sz="2800" dirty="0">
                        <a:cs typeface="B Lotus" pitchFamily="2" charset="-78"/>
                      </a:endParaRPr>
                    </a:p>
                  </a:txBody>
                  <a:tcPr marL="91464" marR="91464" marT="45714" marB="45714"/>
                </a:tc>
                <a:tc>
                  <a:txBody>
                    <a:bodyPr/>
                    <a:lstStyle/>
                    <a:p>
                      <a:pPr algn="ctr" rtl="1"/>
                      <a:r>
                        <a:rPr lang="fa-IR" sz="2800" dirty="0" smtClean="0">
                          <a:cs typeface="B Lotus" pitchFamily="2" charset="-78"/>
                        </a:rPr>
                        <a:t>تجهیزات آموزشی</a:t>
                      </a:r>
                      <a:endParaRPr lang="fa-IR" sz="2800" dirty="0">
                        <a:cs typeface="B Lotus" pitchFamily="2" charset="-78"/>
                      </a:endParaRPr>
                    </a:p>
                  </a:txBody>
                  <a:tcPr marL="91464" marR="91464" marT="45714" marB="45714"/>
                </a:tc>
                <a:extLst>
                  <a:ext uri="{0D108BD9-81ED-4DB2-BD59-A6C34878D82A}">
                    <a16:rowId xmlns:a16="http://schemas.microsoft.com/office/drawing/2014/main" val="10000"/>
                  </a:ext>
                </a:extLst>
              </a:tr>
              <a:tr h="4434420">
                <a:tc>
                  <a:txBody>
                    <a:bodyPr/>
                    <a:lstStyle/>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smtClean="0">
                        <a:cs typeface="B Lotus" pitchFamily="2" charset="-78"/>
                      </a:endParaRPr>
                    </a:p>
                    <a:p>
                      <a:pPr algn="ctr" rtl="1"/>
                      <a:endParaRPr lang="fa-IR" sz="2800" dirty="0">
                        <a:cs typeface="B Lotus" pitchFamily="2" charset="-78"/>
                      </a:endParaRPr>
                    </a:p>
                  </a:txBody>
                  <a:tcPr marL="91464" marR="91464" marT="45714" marB="45714"/>
                </a:tc>
                <a:tc>
                  <a:txBody>
                    <a:bodyPr/>
                    <a:lstStyle/>
                    <a:p>
                      <a:pPr algn="ctr" rtl="1"/>
                      <a:endParaRPr lang="fa-IR" sz="2800" dirty="0">
                        <a:cs typeface="B Lotus" pitchFamily="2" charset="-78"/>
                      </a:endParaRPr>
                    </a:p>
                  </a:txBody>
                  <a:tcPr marL="91464" marR="91464" marT="45714" marB="45714"/>
                </a:tc>
                <a:tc>
                  <a:txBody>
                    <a:bodyPr/>
                    <a:lstStyle/>
                    <a:p>
                      <a:pPr algn="ctr" rtl="1"/>
                      <a:endParaRPr lang="fa-IR" sz="2800" dirty="0">
                        <a:cs typeface="B Lotus" pitchFamily="2" charset="-78"/>
                      </a:endParaRPr>
                    </a:p>
                  </a:txBody>
                  <a:tcPr marL="91464" marR="91464" marT="45714" marB="45714"/>
                </a:tc>
                <a:tc>
                  <a:txBody>
                    <a:bodyPr/>
                    <a:lstStyle/>
                    <a:p>
                      <a:pPr algn="ctr" rtl="1"/>
                      <a:endParaRPr lang="fa-IR" sz="2800" dirty="0">
                        <a:cs typeface="B Lotus" pitchFamily="2" charset="-78"/>
                      </a:endParaRPr>
                    </a:p>
                  </a:txBody>
                  <a:tcPr marL="91464" marR="91464" marT="45714" marB="45714"/>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641820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2000" b="-12000"/>
          </a:stretch>
        </a:blipFill>
        <a:effectLst/>
      </p:bgPr>
    </p:bg>
    <p:spTree>
      <p:nvGrpSpPr>
        <p:cNvPr id="1" name=""/>
        <p:cNvGrpSpPr/>
        <p:nvPr/>
      </p:nvGrpSpPr>
      <p:grpSpPr>
        <a:xfrm>
          <a:off x="0" y="0"/>
          <a:ext cx="0" cy="0"/>
          <a:chOff x="0" y="0"/>
          <a:chExt cx="0" cy="0"/>
        </a:xfrm>
      </p:grpSpPr>
      <p:sp>
        <p:nvSpPr>
          <p:cNvPr id="2" name="Rectangle 1"/>
          <p:cNvSpPr/>
          <p:nvPr/>
        </p:nvSpPr>
        <p:spPr>
          <a:xfrm>
            <a:off x="3995936" y="1160749"/>
            <a:ext cx="3897052" cy="461665"/>
          </a:xfrm>
          <a:prstGeom prst="rect">
            <a:avLst/>
          </a:prstGeom>
        </p:spPr>
        <p:txBody>
          <a:bodyPr wrap="square">
            <a:spAutoFit/>
          </a:bodyPr>
          <a:lstStyle/>
          <a:p>
            <a:pPr marL="342900" indent="-342900" fontAlgn="base">
              <a:spcBef>
                <a:spcPct val="0"/>
              </a:spcBef>
              <a:spcAft>
                <a:spcPct val="0"/>
              </a:spcAft>
              <a:buFont typeface="Wingdings" pitchFamily="2" charset="2"/>
              <a:buChar char="v"/>
            </a:pPr>
            <a:r>
              <a:rPr lang="fa-IR" sz="24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charset="0"/>
                <a:cs typeface="B Zar" pitchFamily="2" charset="-78"/>
              </a:rPr>
              <a:t>مرور و جمع بندی کل کارگاه</a:t>
            </a:r>
          </a:p>
        </p:txBody>
      </p:sp>
      <p:sp>
        <p:nvSpPr>
          <p:cNvPr id="3" name="Rectangle 2"/>
          <p:cNvSpPr/>
          <p:nvPr/>
        </p:nvSpPr>
        <p:spPr>
          <a:xfrm>
            <a:off x="1871700" y="3699031"/>
            <a:ext cx="5913276" cy="461665"/>
          </a:xfrm>
          <a:prstGeom prst="rect">
            <a:avLst/>
          </a:prstGeom>
        </p:spPr>
        <p:txBody>
          <a:bodyPr wrap="square">
            <a:spAutoFit/>
          </a:bodyPr>
          <a:lstStyle/>
          <a:p>
            <a:pPr marL="342900" indent="-342900" fontAlgn="base">
              <a:spcBef>
                <a:spcPct val="0"/>
              </a:spcBef>
              <a:spcAft>
                <a:spcPct val="0"/>
              </a:spcAft>
              <a:buFont typeface="Arial" pitchFamily="34" charset="0"/>
              <a:buChar char="•"/>
            </a:pPr>
            <a:r>
              <a:rPr lang="fa-IR" sz="2400" dirty="0" smtClean="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charset="0"/>
                <a:cs typeface="B Zar" pitchFamily="2" charset="-78"/>
              </a:rPr>
              <a:t>هر شخصی که مایل است بازخورد خود را بگوید</a:t>
            </a:r>
            <a:endParaRPr lang="fa-IR" sz="2400" dirty="0">
              <a:ln w="18415" cmpd="sng">
                <a:solidFill>
                  <a:srgbClr val="FFFFFF"/>
                </a:solidFill>
                <a:prstDash val="solid"/>
              </a:ln>
              <a:solidFill>
                <a:srgbClr val="FFFFFF"/>
              </a:solidFill>
              <a:effectLst>
                <a:glow rad="228600">
                  <a:srgbClr val="8064A2">
                    <a:satMod val="175000"/>
                    <a:alpha val="40000"/>
                  </a:srgbClr>
                </a:glow>
                <a:outerShdw blurRad="63500" dir="3600000" algn="tl" rotWithShape="0">
                  <a:srgbClr val="000000">
                    <a:alpha val="70000"/>
                  </a:srgbClr>
                </a:outerShdw>
              </a:effectLst>
              <a:ea typeface="Calibri" charset="0"/>
              <a:cs typeface="B Zar" pitchFamily="2" charset="-78"/>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129</a:t>
            </a:fld>
            <a:endParaRPr lang="fa-IR">
              <a:solidFill>
                <a:prstClr val="black">
                  <a:tint val="75000"/>
                </a:prstClr>
              </a:solidFill>
            </a:endParaRPr>
          </a:p>
        </p:txBody>
      </p:sp>
    </p:spTree>
    <p:extLst>
      <p:ext uri="{BB962C8B-B14F-4D97-AF65-F5344CB8AC3E}">
        <p14:creationId xmlns:p14="http://schemas.microsoft.com/office/powerpoint/2010/main" val="40536580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877" y="1971337"/>
            <a:ext cx="6523630" cy="4415815"/>
          </a:xfrm>
          <a:prstGeom prst="rect">
            <a:avLst/>
          </a:prstGeom>
        </p:spPr>
      </p:pic>
      <p:sp>
        <p:nvSpPr>
          <p:cNvPr id="3" name="Rectangle 2"/>
          <p:cNvSpPr/>
          <p:nvPr/>
        </p:nvSpPr>
        <p:spPr>
          <a:xfrm>
            <a:off x="3294627" y="699474"/>
            <a:ext cx="2036134" cy="451855"/>
          </a:xfrm>
          <a:prstGeom prst="rect">
            <a:avLst/>
          </a:prstGeom>
        </p:spPr>
        <p:txBody>
          <a:bodyPr wrap="none">
            <a:spAutoFit/>
          </a:bodyPr>
          <a:lstStyle/>
          <a:p>
            <a:pPr algn="just">
              <a:lnSpc>
                <a:spcPct val="115000"/>
              </a:lnSpc>
            </a:pPr>
            <a:r>
              <a:rPr lang="fa-IR" sz="2100" b="1" i="1" dirty="0" smtClean="0">
                <a:solidFill>
                  <a:prstClr val="black"/>
                </a:solidFill>
                <a:latin typeface="Trebuchet MS" panose="020B0603020202020204"/>
                <a:ea typeface="Calibri"/>
                <a:cs typeface="B Aria" pitchFamily="2" charset="-78"/>
              </a:rPr>
              <a:t>تشکر از عوامل اجرایی</a:t>
            </a:r>
            <a:endParaRPr lang="en-US" sz="1500" dirty="0">
              <a:solidFill>
                <a:prstClr val="black"/>
              </a:solidFill>
              <a:latin typeface="Trebuchet MS" panose="020B0603020202020204"/>
              <a:ea typeface="Calibri"/>
              <a:cs typeface="B Aria" pitchFamily="2" charset="-78"/>
            </a:endParaRPr>
          </a:p>
        </p:txBody>
      </p:sp>
      <p:sp>
        <p:nvSpPr>
          <p:cNvPr id="4" name="Footer Placeholder 3"/>
          <p:cNvSpPr>
            <a:spLocks noGrp="1"/>
          </p:cNvSpPr>
          <p:nvPr>
            <p:ph type="ftr" sz="quarter" idx="11"/>
          </p:nvPr>
        </p:nvSpPr>
        <p:spPr/>
        <p:txBody>
          <a:bodyPr/>
          <a:lstStyle/>
          <a:p>
            <a:r>
              <a:rPr lang="fa-IR" smtClean="0">
                <a:solidFill>
                  <a:prstClr val="black">
                    <a:tint val="75000"/>
                  </a:prstClr>
                </a:solidFill>
              </a:rPr>
              <a:t>محمد ترکمان</a:t>
            </a:r>
            <a:endParaRPr lang="fa-IR">
              <a:solidFill>
                <a:prstClr val="black">
                  <a:tint val="75000"/>
                </a:prstClr>
              </a:solidFill>
            </a:endParaRPr>
          </a:p>
        </p:txBody>
      </p:sp>
      <p:sp>
        <p:nvSpPr>
          <p:cNvPr id="5" name="Slide Number Placeholder 4"/>
          <p:cNvSpPr>
            <a:spLocks noGrp="1"/>
          </p:cNvSpPr>
          <p:nvPr>
            <p:ph type="sldNum" sz="quarter" idx="12"/>
          </p:nvPr>
        </p:nvSpPr>
        <p:spPr/>
        <p:txBody>
          <a:bodyPr/>
          <a:lstStyle/>
          <a:p>
            <a:fld id="{282171D3-DBFD-432C-941C-EF7FA902E024}" type="slidenum">
              <a:rPr lang="fa-IR" smtClean="0">
                <a:solidFill>
                  <a:prstClr val="black">
                    <a:tint val="75000"/>
                  </a:prstClr>
                </a:solidFill>
              </a:rPr>
              <a:pPr/>
              <a:t>130</a:t>
            </a:fld>
            <a:endParaRPr lang="fa-IR">
              <a:solidFill>
                <a:prstClr val="black">
                  <a:tint val="75000"/>
                </a:prstClr>
              </a:solidFill>
            </a:endParaRPr>
          </a:p>
        </p:txBody>
      </p:sp>
    </p:spTree>
    <p:extLst>
      <p:ext uri="{BB962C8B-B14F-4D97-AF65-F5344CB8AC3E}">
        <p14:creationId xmlns:p14="http://schemas.microsoft.com/office/powerpoint/2010/main" val="12414048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Rectangle 1">
            <a:hlinkClick r:id="rId3" action="ppaction://hlinkpres?slideindex=1&amp;slidetitle=PowerPoint Presentation"/>
          </p:cNvPr>
          <p:cNvSpPr/>
          <p:nvPr/>
        </p:nvSpPr>
        <p:spPr>
          <a:xfrm>
            <a:off x="1565297" y="5301208"/>
            <a:ext cx="986167" cy="769441"/>
          </a:xfrm>
          <a:prstGeom prst="rect">
            <a:avLst/>
          </a:prstGeom>
        </p:spPr>
        <p:txBody>
          <a:bodyPr wrap="none">
            <a:spAutoFit/>
          </a:bodyPr>
          <a:lstStyle/>
          <a:p>
            <a:r>
              <a:rPr lang="fa-IR" sz="4400" dirty="0" smtClean="0">
                <a:ln w="18415" cmpd="sng">
                  <a:solidFill>
                    <a:srgbClr val="FFFFFF"/>
                  </a:solidFill>
                  <a:prstDash val="solid"/>
                </a:ln>
                <a:solidFill>
                  <a:srgbClr val="FFFFFF"/>
                </a:solidFill>
                <a:effectLst>
                  <a:glow rad="228600">
                    <a:srgbClr val="B0CCB0">
                      <a:satMod val="175000"/>
                      <a:alpha val="40000"/>
                    </a:srgbClr>
                  </a:glow>
                  <a:outerShdw blurRad="63500" dir="3600000" algn="tl" rotWithShape="0">
                    <a:srgbClr val="000000">
                      <a:alpha val="70000"/>
                    </a:srgbClr>
                  </a:outerShdw>
                </a:effectLst>
                <a:cs typeface="B Badr" pitchFamily="2" charset="-78"/>
              </a:rPr>
              <a:t>پایان</a:t>
            </a:r>
            <a:endParaRPr lang="fa-IR" sz="4400" dirty="0">
              <a:ln w="18415" cmpd="sng">
                <a:solidFill>
                  <a:srgbClr val="FFFFFF"/>
                </a:solidFill>
                <a:prstDash val="solid"/>
              </a:ln>
              <a:solidFill>
                <a:srgbClr val="FFFFFF"/>
              </a:solidFill>
              <a:effectLst>
                <a:glow rad="228600">
                  <a:srgbClr val="B0CCB0">
                    <a:satMod val="175000"/>
                    <a:alpha val="40000"/>
                  </a:srgbClr>
                </a:glow>
                <a:outerShdw blurRad="63500" dir="3600000" algn="tl" rotWithShape="0">
                  <a:srgbClr val="000000">
                    <a:alpha val="70000"/>
                  </a:srgbClr>
                </a:outerShdw>
              </a:effectLst>
              <a:cs typeface="B Badr" pitchFamily="2" charset="-78"/>
            </a:endParaRPr>
          </a:p>
        </p:txBody>
      </p:sp>
      <p:sp>
        <p:nvSpPr>
          <p:cNvPr id="3" name="Rectangle 2"/>
          <p:cNvSpPr/>
          <p:nvPr/>
        </p:nvSpPr>
        <p:spPr>
          <a:xfrm>
            <a:off x="285719" y="476672"/>
            <a:ext cx="8114721" cy="4647426"/>
          </a:xfrm>
          <a:prstGeom prst="rect">
            <a:avLst/>
          </a:prstGeom>
        </p:spPr>
        <p:txBody>
          <a:bodyPr wrap="none">
            <a:spAutoFit/>
          </a:bodyPr>
          <a:lstStyle/>
          <a:p>
            <a:pPr algn="ctr" fontAlgn="base">
              <a:lnSpc>
                <a:spcPct val="200000"/>
              </a:lnSpc>
              <a:spcBef>
                <a:spcPct val="0"/>
              </a:spcBef>
              <a:spcAft>
                <a:spcPct val="0"/>
              </a:spcAft>
            </a:pPr>
            <a:r>
              <a:rPr lang="fa-IR" sz="2800" dirty="0" smtClean="0">
                <a:ln w="18415" cmpd="sng">
                  <a:solidFill>
                    <a:srgbClr val="FFFFFF"/>
                  </a:solidFill>
                  <a:prstDash val="solid"/>
                </a:ln>
                <a:solidFill>
                  <a:srgbClr val="FFFFFF"/>
                </a:solidFill>
                <a:effectLst>
                  <a:glow rad="228600">
                    <a:srgbClr val="00B0F0">
                      <a:alpha val="40000"/>
                    </a:srgbClr>
                  </a:glow>
                  <a:outerShdw blurRad="63500" dir="3600000" algn="tl" rotWithShape="0">
                    <a:srgbClr val="000000">
                      <a:alpha val="70000"/>
                    </a:srgbClr>
                  </a:outerShdw>
                </a:effectLst>
                <a:cs typeface="B Nazanin" pitchFamily="2" charset="-78"/>
              </a:rPr>
              <a:t>با تشکر از حضور گرمتان</a:t>
            </a:r>
          </a:p>
          <a:p>
            <a:pPr algn="ctr" fontAlgn="base">
              <a:lnSpc>
                <a:spcPct val="200000"/>
              </a:lnSpc>
              <a:spcBef>
                <a:spcPct val="0"/>
              </a:spcBef>
              <a:spcAft>
                <a:spcPct val="0"/>
              </a:spcAft>
            </a:pPr>
            <a:r>
              <a:rPr lang="fa-IR" sz="2800" dirty="0" smtClean="0">
                <a:ln w="18415" cmpd="sng">
                  <a:solidFill>
                    <a:srgbClr val="FFFFFF"/>
                  </a:solidFill>
                  <a:prstDash val="solid"/>
                </a:ln>
                <a:solidFill>
                  <a:srgbClr val="FFFFFF"/>
                </a:solidFill>
                <a:effectLst>
                  <a:glow rad="228600">
                    <a:srgbClr val="00B0F0">
                      <a:alpha val="40000"/>
                    </a:srgbClr>
                  </a:glow>
                  <a:outerShdw blurRad="63500" dir="3600000" algn="tl" rotWithShape="0">
                    <a:srgbClr val="000000">
                      <a:alpha val="70000"/>
                    </a:srgbClr>
                  </a:outerShdw>
                </a:effectLst>
                <a:cs typeface="B Nazanin" pitchFamily="2" charset="-78"/>
              </a:rPr>
              <a:t>این تمام چیزی بود که می توانستیم ، نه تمام چیزی که میخاستیم.</a:t>
            </a:r>
          </a:p>
          <a:p>
            <a:pPr algn="ctr" fontAlgn="base">
              <a:lnSpc>
                <a:spcPct val="200000"/>
              </a:lnSpc>
              <a:spcBef>
                <a:spcPct val="0"/>
              </a:spcBef>
              <a:spcAft>
                <a:spcPct val="0"/>
              </a:spcAft>
            </a:pPr>
            <a:r>
              <a:rPr lang="fa-IR" sz="2800" dirty="0" smtClean="0">
                <a:ln w="18415" cmpd="sng">
                  <a:solidFill>
                    <a:srgbClr val="FFFFFF"/>
                  </a:solidFill>
                  <a:prstDash val="solid"/>
                </a:ln>
                <a:solidFill>
                  <a:srgbClr val="FFFFFF"/>
                </a:solidFill>
                <a:effectLst>
                  <a:glow rad="228600">
                    <a:srgbClr val="00B0F0">
                      <a:alpha val="40000"/>
                    </a:srgbClr>
                  </a:glow>
                  <a:outerShdw blurRad="63500" dir="3600000" algn="tl" rotWithShape="0">
                    <a:srgbClr val="000000">
                      <a:alpha val="70000"/>
                    </a:srgbClr>
                  </a:outerShdw>
                </a:effectLst>
                <a:cs typeface="B Nazanin" pitchFamily="2" charset="-78"/>
              </a:rPr>
              <a:t>برایتان روزهای شاد آرزومندم.</a:t>
            </a:r>
          </a:p>
          <a:p>
            <a:pPr algn="ctr" fontAlgn="base">
              <a:lnSpc>
                <a:spcPct val="200000"/>
              </a:lnSpc>
              <a:spcBef>
                <a:spcPct val="0"/>
              </a:spcBef>
              <a:spcAft>
                <a:spcPct val="0"/>
              </a:spcAft>
            </a:pPr>
            <a:r>
              <a:rPr lang="fa-IR" sz="2800" dirty="0" smtClean="0">
                <a:ln w="18415" cmpd="sng">
                  <a:solidFill>
                    <a:srgbClr val="FFFFFF"/>
                  </a:solidFill>
                  <a:prstDash val="solid"/>
                </a:ln>
                <a:solidFill>
                  <a:srgbClr val="FFFFFF"/>
                </a:solidFill>
                <a:effectLst>
                  <a:glow rad="228600">
                    <a:srgbClr val="00B0F0">
                      <a:alpha val="40000"/>
                    </a:srgbClr>
                  </a:glow>
                  <a:outerShdw blurRad="63500" dir="3600000" algn="tl" rotWithShape="0">
                    <a:srgbClr val="000000">
                      <a:alpha val="70000"/>
                    </a:srgbClr>
                  </a:outerShdw>
                </a:effectLst>
                <a:cs typeface="B Nazanin" pitchFamily="2" charset="-78"/>
              </a:rPr>
              <a:t> </a:t>
            </a:r>
          </a:p>
          <a:p>
            <a:pPr algn="ctr" fontAlgn="base">
              <a:lnSpc>
                <a:spcPct val="200000"/>
              </a:lnSpc>
              <a:spcBef>
                <a:spcPct val="0"/>
              </a:spcBef>
              <a:spcAft>
                <a:spcPct val="0"/>
              </a:spcAft>
            </a:pPr>
            <a:endParaRPr lang="fa-IR" sz="3600" dirty="0" smtClean="0">
              <a:ln w="18415" cmpd="sng">
                <a:solidFill>
                  <a:srgbClr val="FFFFFF"/>
                </a:solidFill>
                <a:prstDash val="solid"/>
              </a:ln>
              <a:solidFill>
                <a:srgbClr val="FFFFFF"/>
              </a:solidFill>
              <a:effectLst>
                <a:glow rad="228600">
                  <a:srgbClr val="00B0F0">
                    <a:alpha val="40000"/>
                  </a:srgbClr>
                </a:glow>
                <a:outerShdw blurRad="63500" dir="3600000" algn="tl" rotWithShape="0">
                  <a:srgbClr val="000000">
                    <a:alpha val="70000"/>
                  </a:srgbClr>
                </a:outerShdw>
              </a:effectLst>
              <a:latin typeface="Arial" pitchFamily="34" charset="0"/>
            </a:endParaRPr>
          </a:p>
        </p:txBody>
      </p:sp>
      <p:sp>
        <p:nvSpPr>
          <p:cNvPr id="4" name="Rectangle 3">
            <a:hlinkClick r:id="rId4" action="ppaction://hlinkfile"/>
          </p:cNvPr>
          <p:cNvSpPr/>
          <p:nvPr/>
        </p:nvSpPr>
        <p:spPr>
          <a:xfrm>
            <a:off x="668451" y="6432170"/>
            <a:ext cx="782587" cy="390363"/>
          </a:xfrm>
          <a:prstGeom prst="rect">
            <a:avLst/>
          </a:prstGeom>
        </p:spPr>
        <p:txBody>
          <a:bodyPr wrap="non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15000"/>
              </a:lnSpc>
              <a:spcAft>
                <a:spcPts val="1000"/>
              </a:spcAft>
            </a:pPr>
            <a:r>
              <a:rPr lang="fa-IR" b="1" spc="50" dirty="0" smtClean="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Calibri"/>
              </a:rPr>
              <a:t>موزیک</a:t>
            </a:r>
            <a:endParaRPr lang="en-US" b="1" spc="50" dirty="0">
              <a:ln w="11430"/>
              <a:gradFill>
                <a:gsLst>
                  <a:gs pos="25000">
                    <a:srgbClr val="C0504D">
                      <a:satMod val="155000"/>
                    </a:srgbClr>
                  </a:gs>
                  <a:gs pos="100000">
                    <a:srgbClr val="C0504D">
                      <a:shade val="45000"/>
                      <a:satMod val="165000"/>
                    </a:srgbClr>
                  </a:gs>
                </a:gsLst>
                <a:lin ang="5400000"/>
              </a:gradFill>
              <a:effectLst>
                <a:outerShdw blurRad="76200" dist="50800" dir="5400000" algn="tl" rotWithShape="0">
                  <a:srgbClr val="000000">
                    <a:alpha val="65000"/>
                  </a:srgbClr>
                </a:outerShdw>
              </a:effectLst>
              <a:ea typeface="Calibri"/>
              <a:cs typeface="Arial"/>
            </a:endParaRPr>
          </a:p>
        </p:txBody>
      </p:sp>
    </p:spTree>
    <p:extLst>
      <p:ext uri="{BB962C8B-B14F-4D97-AF65-F5344CB8AC3E}">
        <p14:creationId xmlns:p14="http://schemas.microsoft.com/office/powerpoint/2010/main" val="22327911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15.xml.rels><?xml version="1.0" encoding="UTF-8" standalone="yes"?>
<Relationships xmlns="http://schemas.openxmlformats.org/package/2006/relationships"><Relationship Id="rId1" Type="http://schemas.openxmlformats.org/officeDocument/2006/relationships/image" Target="../media/image2.jpeg"/></Relationships>
</file>

<file path=ppt/theme/_rels/theme2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9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8.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10.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11.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12.xml><?xml version="1.0" encoding="utf-8"?>
<a:theme xmlns:a="http://schemas.openxmlformats.org/drawingml/2006/main" name="5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13.xml><?xml version="1.0" encoding="utf-8"?>
<a:theme xmlns:a="http://schemas.openxmlformats.org/drawingml/2006/main" name="4_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Foundr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oundry">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Foundry">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16.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8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9.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0.xml><?xml version="1.0" encoding="utf-8"?>
<a:theme xmlns:a="http://schemas.openxmlformats.org/drawingml/2006/main" name="1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22.xml><?xml version="1.0" encoding="utf-8"?>
<a:theme xmlns:a="http://schemas.openxmlformats.org/drawingml/2006/main" name="10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name="1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3627</TotalTime>
  <Words>9964</Words>
  <Application>Microsoft Office PowerPoint</Application>
  <PresentationFormat>On-screen Show (4:3)</PresentationFormat>
  <Paragraphs>1073</Paragraphs>
  <Slides>131</Slides>
  <Notes>1</Notes>
  <HiddenSlides>0</HiddenSlides>
  <MMClips>0</MMClips>
  <ScaleCrop>false</ScaleCrop>
  <HeadingPairs>
    <vt:vector size="6" baseType="variant">
      <vt:variant>
        <vt:lpstr>Fonts Used</vt:lpstr>
      </vt:variant>
      <vt:variant>
        <vt:i4>31</vt:i4>
      </vt:variant>
      <vt:variant>
        <vt:lpstr>Theme</vt:lpstr>
      </vt:variant>
      <vt:variant>
        <vt:i4>23</vt:i4>
      </vt:variant>
      <vt:variant>
        <vt:lpstr>Slide Titles</vt:lpstr>
      </vt:variant>
      <vt:variant>
        <vt:i4>131</vt:i4>
      </vt:variant>
    </vt:vector>
  </HeadingPairs>
  <TitlesOfParts>
    <vt:vector size="185" baseType="lpstr">
      <vt:lpstr>2  Davat</vt:lpstr>
      <vt:lpstr>Andalus</vt:lpstr>
      <vt:lpstr>Aparajita</vt:lpstr>
      <vt:lpstr>Arial</vt:lpstr>
      <vt:lpstr>B Aria</vt:lpstr>
      <vt:lpstr>B Badr</vt:lpstr>
      <vt:lpstr>B Compset</vt:lpstr>
      <vt:lpstr>B Davat</vt:lpstr>
      <vt:lpstr>B Elham</vt:lpstr>
      <vt:lpstr>B Kamran</vt:lpstr>
      <vt:lpstr>B Koodak</vt:lpstr>
      <vt:lpstr>B Lotus</vt:lpstr>
      <vt:lpstr>B Nazanin</vt:lpstr>
      <vt:lpstr>B Tabassom</vt:lpstr>
      <vt:lpstr>B Titr</vt:lpstr>
      <vt:lpstr>B Traffic</vt:lpstr>
      <vt:lpstr>B Typographer</vt:lpstr>
      <vt:lpstr>B Typographer Book</vt:lpstr>
      <vt:lpstr>B Zar</vt:lpstr>
      <vt:lpstr>Calibri</vt:lpstr>
      <vt:lpstr>Calibri Light</vt:lpstr>
      <vt:lpstr>Century Gothic</vt:lpstr>
      <vt:lpstr>IranNastaliq</vt:lpstr>
      <vt:lpstr>Rockwell</vt:lpstr>
      <vt:lpstr>Tahoma</vt:lpstr>
      <vt:lpstr>Times New Roman</vt:lpstr>
      <vt:lpstr>Trebuchet MS</vt:lpstr>
      <vt:lpstr>Verdana</vt:lpstr>
      <vt:lpstr>Wingdings</vt:lpstr>
      <vt:lpstr>Wingdings 2</vt:lpstr>
      <vt:lpstr>Wingdings 3</vt:lpstr>
      <vt:lpstr>1_Office Theme</vt:lpstr>
      <vt:lpstr>4_Office Theme</vt:lpstr>
      <vt:lpstr>Default Design</vt:lpstr>
      <vt:lpstr>5_Office Theme</vt:lpstr>
      <vt:lpstr>9_Office Theme</vt:lpstr>
      <vt:lpstr>6_Office Theme</vt:lpstr>
      <vt:lpstr>Aspect</vt:lpstr>
      <vt:lpstr>2_Office Theme</vt:lpstr>
      <vt:lpstr>Facet</vt:lpstr>
      <vt:lpstr>1_Facet</vt:lpstr>
      <vt:lpstr>2_Facet</vt:lpstr>
      <vt:lpstr>5_Facet</vt:lpstr>
      <vt:lpstr>4_Facet</vt:lpstr>
      <vt:lpstr>Office Theme</vt:lpstr>
      <vt:lpstr>Foundry</vt:lpstr>
      <vt:lpstr>3_Office Theme</vt:lpstr>
      <vt:lpstr>7_Office Theme</vt:lpstr>
      <vt:lpstr>8_Office Theme</vt:lpstr>
      <vt:lpstr>11_Office Theme</vt:lpstr>
      <vt:lpstr>12_Office Theme</vt:lpstr>
      <vt:lpstr>Austin</vt:lpstr>
      <vt:lpstr>10_Office Theme</vt:lpstr>
      <vt:lpstr>14_Office Theme</vt:lpstr>
      <vt:lpstr>درمان شناختی-رفتاری اختلالات اضطرابی کودکان از تعریف تا درمان CBT for Anxiety Disorder  </vt:lpstr>
      <vt:lpstr>PowerPoint Presentation</vt:lpstr>
      <vt:lpstr>اهداف كلي اين كارگاه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نشانه های دیگر در کودکان مضطرب</vt:lpstr>
      <vt:lpstr>PowerPoint Presentation</vt:lpstr>
      <vt:lpstr>مقیاس اضطراب کودکان پیش دبستانی اسپنس</vt:lpstr>
      <vt:lpstr>اختلال اضطراب جدایی</vt:lpstr>
      <vt:lpstr>اختلال اضطراب اجتماعی </vt:lpstr>
      <vt:lpstr>اختلال اضطراب تعمیم یافته </vt:lpstr>
      <vt:lpstr>ترس از جراحات جسمانی </vt:lpstr>
      <vt:lpstr>اختلال وسواس بی اختیاری </vt:lpstr>
      <vt:lpstr>اختلال استرس پس از سانحه </vt:lpstr>
      <vt:lpstr>کاربرد مقیاس اضطراب کودکان پیش دبستانی در تشخیص و درمان</vt:lpstr>
      <vt:lpstr>PowerPoint Presentation</vt:lpstr>
      <vt:lpstr>PowerPoint Presentation</vt:lpstr>
      <vt:lpstr>PowerPoint Presentation</vt:lpstr>
      <vt:lpstr>مداخلات کودکان چگونه به کودک کمک کنیم؟ </vt:lpstr>
      <vt:lpstr>PowerPoint Presentation</vt:lpstr>
      <vt:lpstr>PowerPoint Presentation</vt:lpstr>
      <vt:lpstr>درمان اضطراب کودکان کلیات</vt:lpstr>
      <vt:lpstr>درمان اضطراب کودکان شناخت و تغییر علائم بدنی</vt:lpstr>
      <vt:lpstr>درمان اضطراب کودکان شناخت و تغییر علائم بدنی</vt:lpstr>
      <vt:lpstr>درمان اضطراب کودکان شناخت و تغییر علائم شناختی</vt:lpstr>
      <vt:lpstr>درمان اضطراب کودکان شناخت و تغییر علائم رفتاری</vt:lpstr>
      <vt:lpstr>نکته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جلسه اول</vt:lpstr>
      <vt:lpstr>جلسه دوم</vt:lpstr>
      <vt:lpstr>PowerPoint Presentation</vt:lpstr>
      <vt:lpstr>جلسه سوم</vt:lpstr>
      <vt:lpstr>PowerPoint Presentation</vt:lpstr>
      <vt:lpstr>جلسه پنجم: آرام سازی عضلانی</vt:lpstr>
      <vt:lpstr>جلسه ششم:اصلاح خودگویی ها</vt:lpstr>
      <vt:lpstr>جلسه ششم:اصلاح خودگویی ها</vt:lpstr>
      <vt:lpstr>تله های فکری</vt:lpstr>
      <vt:lpstr>جلسه هفتم: آموزش مهارت حل مسئله</vt:lpstr>
      <vt:lpstr>جلسه هشتم:پاداش دهی</vt:lpstr>
      <vt:lpstr>جلسه نهم: جلسه والدین</vt:lpstr>
      <vt:lpstr>جلسه دهم تا پانزدهم:تمرین ذهنی و عملی مواجهه</vt:lpstr>
      <vt:lpstr>جلسه شانزدهم: مرور جلسات</vt:lpstr>
      <vt:lpstr>جلسه شانزدهم: مرور جلسات</vt:lpstr>
      <vt:lpstr>آشنایی با برنامه Friends foe life </vt:lpstr>
      <vt:lpstr>آشنایی با برنامه Friends foe life </vt:lpstr>
      <vt:lpstr>آشنایی با برنامه Friends foe life </vt:lpstr>
      <vt:lpstr>آشنایی با برنامه Friends foe life </vt:lpstr>
      <vt:lpstr>آشنایی با برنامه Friends foe life </vt:lpstr>
      <vt:lpstr>آشنایی با برنامه Friends foe life </vt:lpstr>
      <vt:lpstr>PowerPoint Presentation</vt:lpstr>
      <vt:lpstr>مداخلات والدینی والدین چه باید بکنند </vt:lpstr>
      <vt:lpstr>در درمان اضطراب والدین باید</vt:lpstr>
      <vt:lpstr>در درمان اضطراب والدین باید</vt:lpstr>
      <vt:lpstr>پرسش و پاسخ</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اختلالات شایع دوران کودکی از تعریف تا درمان با تاکید بر اختلالات اضطرابی و ایذایی</dc:title>
  <dc:creator>computer shahr</dc:creator>
  <cp:lastModifiedBy>M.Torkaman</cp:lastModifiedBy>
  <cp:revision>130</cp:revision>
  <dcterms:created xsi:type="dcterms:W3CDTF">2016-02-06T19:05:51Z</dcterms:created>
  <dcterms:modified xsi:type="dcterms:W3CDTF">2018-07-09T09:38:06Z</dcterms:modified>
</cp:coreProperties>
</file>